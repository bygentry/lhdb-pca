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4DEEE"/>
    <a:srgbClr val="C31016"/>
    <a:srgbClr val="CCD2D8"/>
    <a:srgbClr val="E7EA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4660"/>
  </p:normalViewPr>
  <p:slideViewPr>
    <p:cSldViewPr snapToGrid="0">
      <p:cViewPr>
        <p:scale>
          <a:sx n="25" d="100"/>
          <a:sy n="25" d="100"/>
        </p:scale>
        <p:origin x="2202" y="-1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3/12/2026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ygentry.github.io/LHDB-PCA/Variable-Definitions.html"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844361"/>
          </a:xfrm>
          <a:prstGeom prst="rect">
            <a:avLst/>
          </a:prstGeom>
          <a:solidFill>
            <a:srgbClr val="A4DEE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F3661E49-5892-B4AA-D399-65B7959839C7}"/>
              </a:ext>
            </a:extLst>
          </p:cNvPr>
          <p:cNvPicPr>
            <a:picLocks noChangeAspect="1"/>
          </p:cNvPicPr>
          <p:nvPr/>
        </p:nvPicPr>
        <p:blipFill>
          <a:blip r:embed="rId2"/>
          <a:stretch>
            <a:fillRect/>
          </a:stretch>
        </p:blipFill>
        <p:spPr>
          <a:xfrm>
            <a:off x="5280996" y="27366629"/>
            <a:ext cx="8272140" cy="6128775"/>
          </a:xfrm>
          <a:prstGeom prst="rect">
            <a:avLst/>
          </a:prstGeom>
        </p:spPr>
      </p:pic>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0590252"/>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1905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a:t>
            </a:r>
            <a:r>
              <a:rPr lang="en-US" dirty="0" err="1">
                <a:latin typeface="Arial" panose="020B0604020202020204" pitchFamily="34" charset="0"/>
                <a:cs typeface="Arial" panose="020B0604020202020204" pitchFamily="34" charset="0"/>
              </a:rPr>
              <a:t>PanTHERIA</a:t>
            </a:r>
            <a:r>
              <a:rPr lang="en-US" dirty="0">
                <a:latin typeface="Arial" panose="020B0604020202020204" pitchFamily="34" charset="0"/>
                <a:cs typeface="Arial" panose="020B0604020202020204" pitchFamily="34" charset="0"/>
              </a:rPr>
              <a:t>: A species-level database of life history, ecology, and geography of extant and recently extinct mammals. Ecology, 90(9), 2648–2648. </a:t>
            </a: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a:t>
            </a: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a:t>
            </a: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a:t>
            </a:r>
            <a:r>
              <a:rPr lang="en-US" dirty="0" err="1">
                <a:latin typeface="Arial" panose="020B0604020202020204" pitchFamily="34" charset="0"/>
                <a:cs typeface="Arial" panose="020B0604020202020204" pitchFamily="34" charset="0"/>
              </a:rPr>
              <a:t>Ecol</a:t>
            </a:r>
            <a:r>
              <a:rPr lang="en-US" dirty="0">
                <a:latin typeface="Arial" panose="020B0604020202020204" pitchFamily="34" charset="0"/>
                <a:cs typeface="Arial" panose="020B0604020202020204" pitchFamily="34" charset="0"/>
              </a:rPr>
              <a:t> Evol., 1(2):199-211.</a:t>
            </a:r>
          </a:p>
        </p:txBody>
      </p:sp>
      <p:sp>
        <p:nvSpPr>
          <p:cNvPr id="13" name="TextBox 12">
            <a:extLst>
              <a:ext uri="{FF2B5EF4-FFF2-40B4-BE49-F238E27FC236}">
                <a16:creationId xmlns:a16="http://schemas.microsoft.com/office/drawing/2014/main" id="{73A4B056-3450-05C8-6E30-61A6201AB91E}"/>
              </a:ext>
            </a:extLst>
          </p:cNvPr>
          <p:cNvSpPr txBox="1"/>
          <p:nvPr/>
        </p:nvSpPr>
        <p:spPr>
          <a:xfrm>
            <a:off x="4892224" y="743804"/>
            <a:ext cx="32855890" cy="4292650"/>
          </a:xfrm>
          <a:prstGeom prst="rect">
            <a:avLst/>
          </a:prstGeom>
          <a:noFill/>
          <a:ln w="1905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&lt;Department of Anthropology&gt;,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29305206" y="5466463"/>
            <a:ext cx="8488295" cy="22080083"/>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METHODS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selected datasets based on those used in [1] and through literature review, choosing [3,4] and [9] because they contain a large range of primary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generated descriptive statistics of the data (i.e. n species, n variables, etc.) to compare their structures and find common variables.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selected seven key LH traits commonly studied in primates and shared across all or most of our datasets.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three metrics:</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The presence of values for key traits:</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For each database, we quantified the proportion of values equivalent to “NA” for all available key traits for each species.</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 and biases:</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quantified the relative proportions of primate species at the family level and compared each database to examine biases in species coverage.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accessibility and content:</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designed a rubric to objectively score the metadata availability, accessibility, and content of each dataset.</a:t>
            </a:r>
          </a:p>
          <a:p>
            <a:pPr marL="1371600" lvl="2"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quantified the proportion of variables described by the authors and evaluated the detail of description based on the presence of variable units, statistic type, and citation.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Additionally, we attempted to validate the division of age of sexual maturity across species into sex classes by comparison to the dimorphism rates of body mass.</a:t>
            </a:r>
          </a:p>
        </p:txBody>
      </p:sp>
      <p:sp>
        <p:nvSpPr>
          <p:cNvPr id="2" name="TextBox 1">
            <a:extLst>
              <a:ext uri="{FF2B5EF4-FFF2-40B4-BE49-F238E27FC236}">
                <a16:creationId xmlns:a16="http://schemas.microsoft.com/office/drawing/2014/main" id="{49990ABF-3927-BA45-C861-577BCE70BBEB}"/>
              </a:ext>
            </a:extLst>
          </p:cNvPr>
          <p:cNvSpPr txBox="1">
            <a:spLocks/>
          </p:cNvSpPr>
          <p:nvPr/>
        </p:nvSpPr>
        <p:spPr>
          <a:xfrm>
            <a:off x="4892224" y="5485289"/>
            <a:ext cx="8488295" cy="20756880"/>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INTRODUCTION</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(LH) theory provides us with a lexicon of variables that characterize the timing and durations of growth and reproduction to maximize fitness. [5, 10]</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abundant, high-quality, longitudinal data to observe and infer population-level rates. [5, 11]</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are defined by covariation [11], complicating investigations when some traits are unrecorded for a focal species.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methodological challenges in collating LH data for inter-species comparisons [1, 5, 11, 12],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Access to a substantial taxonomic range</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 and units </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a:t>
            </a:r>
          </a:p>
          <a:p>
            <a:pPr marL="914400" lvl="1"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5632418" y="18023770"/>
            <a:ext cx="7007905" cy="7878503"/>
          </a:xfrm>
          <a:prstGeom prst="rect">
            <a:avLst/>
          </a:prstGeom>
          <a:noFill/>
          <a:ln>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OBJECTIVES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[2], </a:t>
            </a:r>
            <a:r>
              <a:rPr lang="en-US" sz="2800" dirty="0" err="1">
                <a:latin typeface="Arial" panose="020B0604020202020204" pitchFamily="34" charset="0"/>
                <a:cs typeface="Arial" panose="020B0604020202020204" pitchFamily="34" charset="0"/>
              </a:rPr>
              <a:t>AnAge</a:t>
            </a:r>
            <a:r>
              <a:rPr lang="en-US" sz="2800" dirty="0">
                <a:latin typeface="Arial" panose="020B0604020202020204" pitchFamily="34" charset="0"/>
                <a:cs typeface="Arial" panose="020B0604020202020204" pitchFamily="34" charset="0"/>
              </a:rPr>
              <a:t> [3, 4], </a:t>
            </a:r>
            <a:r>
              <a:rPr lang="en-US" sz="2800" dirty="0" err="1">
                <a:latin typeface="Arial" panose="020B0604020202020204" pitchFamily="34" charset="0"/>
                <a:cs typeface="Arial" panose="020B0604020202020204" pitchFamily="34" charset="0"/>
              </a:rPr>
              <a:t>PanTHERIA</a:t>
            </a:r>
            <a:r>
              <a:rPr lang="en-US" sz="2800" dirty="0">
                <a:latin typeface="Arial" panose="020B0604020202020204" pitchFamily="34" charset="0"/>
                <a:cs typeface="Arial" panose="020B0604020202020204" pitchFamily="34" charset="0"/>
              </a:rPr>
              <a:t> [7],  Kappeler &amp; Pereira [8], and Amniotes [9] databases.</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want to employ life history data</a:t>
            </a:r>
          </a:p>
          <a:p>
            <a:pPr marL="457200" indent="-457200">
              <a:lnSpc>
                <a:spcPct val="150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sp>
        <p:nvSpPr>
          <p:cNvPr id="4" name="TextBox 3">
            <a:extLst>
              <a:ext uri="{FF2B5EF4-FFF2-40B4-BE49-F238E27FC236}">
                <a16:creationId xmlns:a16="http://schemas.microsoft.com/office/drawing/2014/main" id="{0620BADA-1FC1-3AFA-FD99-029D6F36C677}"/>
              </a:ext>
            </a:extLst>
          </p:cNvPr>
          <p:cNvSpPr txBox="1"/>
          <p:nvPr/>
        </p:nvSpPr>
        <p:spPr>
          <a:xfrm>
            <a:off x="13802438" y="30591639"/>
            <a:ext cx="7931966" cy="6654194"/>
          </a:xfrm>
          <a:prstGeom prst="rect">
            <a:avLst/>
          </a:prstGeom>
          <a:noFill/>
          <a:ln>
            <a:solidFill>
              <a:schemeClr val="tx1"/>
            </a:solidFill>
          </a:ln>
        </p:spPr>
        <p:txBody>
          <a:bodyPr wrap="square" rtlCol="0">
            <a:spAutoFit/>
          </a:bodyPr>
          <a:lstStyle/>
          <a:p>
            <a:pPr>
              <a:lnSpc>
                <a:spcPct val="150000"/>
              </a:lnSpc>
            </a:pPr>
            <a:r>
              <a:rPr lang="en-US" sz="4400" b="1" u="sng" dirty="0">
                <a:latin typeface="Arial" panose="020B0604020202020204" pitchFamily="34" charset="0"/>
                <a:cs typeface="Arial" panose="020B0604020202020204" pitchFamily="34" charset="0"/>
              </a:rPr>
              <a:t>&lt; Variable Definitions Table(s)&gt;</a:t>
            </a:r>
            <a:endParaRPr lang="en-US" sz="4400" dirty="0">
              <a:latin typeface="Arial" panose="020B0604020202020204" pitchFamily="34" charset="0"/>
              <a:cs typeface="Arial" panose="020B0604020202020204" pitchFamily="34" charset="0"/>
            </a:endParaRPr>
          </a:p>
          <a:p>
            <a:pPr>
              <a:lnSpc>
                <a:spcPct val="150000"/>
              </a:lnSpc>
            </a:pPr>
            <a:r>
              <a:rPr lang="en-US" dirty="0">
                <a:latin typeface="Arial" panose="020B0604020202020204" pitchFamily="34" charset="0"/>
                <a:cs typeface="Arial" panose="020B0604020202020204" pitchFamily="34" charset="0"/>
              </a:rPr>
              <a:t>HOW TO CONVERT THIS PAGE INTO ONE READABLE TABLE?</a:t>
            </a:r>
          </a:p>
          <a:p>
            <a:pPr>
              <a:lnSpc>
                <a:spcPct val="150000"/>
              </a:lnSpc>
            </a:pPr>
            <a:r>
              <a:rPr lang="en-US" dirty="0">
                <a:latin typeface="Arial" panose="020B0604020202020204" pitchFamily="34" charset="0"/>
                <a:cs typeface="Arial" panose="020B0604020202020204" pitchFamily="34" charset="0"/>
                <a:hlinkClick r:id="rId3"/>
              </a:rPr>
              <a:t>https://bygentry.github.io/LHDB-PCA/Variable-Definitions.html</a:t>
            </a:r>
            <a:endParaRPr lang="en-US" dirty="0">
              <a:latin typeface="Arial" panose="020B0604020202020204" pitchFamily="34" charset="0"/>
              <a:cs typeface="Arial" panose="020B0604020202020204" pitchFamily="34" charset="0"/>
            </a:endParaRP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remove notes column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include unit discrepancies (</a:t>
            </a:r>
            <a:r>
              <a:rPr lang="en-US" dirty="0" err="1">
                <a:latin typeface="Arial" panose="020B0604020202020204" pitchFamily="34" charset="0"/>
                <a:cs typeface="Arial" panose="020B0604020202020204" pitchFamily="34" charset="0"/>
              </a:rPr>
              <a:t>mo</a:t>
            </a:r>
            <a:r>
              <a:rPr lang="en-US" dirty="0">
                <a:latin typeface="Arial" panose="020B0604020202020204" pitchFamily="34" charset="0"/>
                <a:cs typeface="Arial" panose="020B0604020202020204" pitchFamily="34" charset="0"/>
              </a:rPr>
              <a:t> vs days, grams vs kg, etc.)  to illustrate influence of researchers personal choices and callback </a:t>
            </a:r>
            <a:r>
              <a:rPr lang="en-US" dirty="0" err="1">
                <a:latin typeface="Arial" panose="020B0604020202020204" pitchFamily="34" charset="0"/>
                <a:cs typeface="Arial" panose="020B0604020202020204" pitchFamily="34" charset="0"/>
              </a:rPr>
              <a:t>borries</a:t>
            </a:r>
            <a:r>
              <a:rPr lang="en-US" dirty="0">
                <a:latin typeface="Arial" panose="020B0604020202020204" pitchFamily="34" charset="0"/>
                <a:cs typeface="Arial" panose="020B0604020202020204" pitchFamily="34" charset="0"/>
              </a:rPr>
              <a:t> statement </a:t>
            </a:r>
          </a:p>
          <a:p>
            <a:pPr marL="742950" lvl="1"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“one would assume that researchers have long since agreed upon life history definitions and are using </a:t>
            </a:r>
            <a:r>
              <a:rPr lang="en-US" b="1" u="sng" dirty="0">
                <a:latin typeface="Arial" panose="020B0604020202020204" pitchFamily="34" charset="0"/>
                <a:cs typeface="Arial" panose="020B0604020202020204" pitchFamily="34" charset="0"/>
              </a:rPr>
              <a:t>reliable</a:t>
            </a:r>
            <a:r>
              <a:rPr lang="en-US" dirty="0">
                <a:latin typeface="Arial" panose="020B0604020202020204" pitchFamily="34" charset="0"/>
                <a:cs typeface="Arial" panose="020B0604020202020204" pitchFamily="34" charset="0"/>
              </a:rPr>
              <a:t> and </a:t>
            </a:r>
            <a:r>
              <a:rPr lang="en-US" b="1" u="sng" dirty="0">
                <a:latin typeface="Arial" panose="020B0604020202020204" pitchFamily="34" charset="0"/>
                <a:cs typeface="Arial" panose="020B0604020202020204" pitchFamily="34" charset="0"/>
              </a:rPr>
              <a:t>accurate data </a:t>
            </a:r>
            <a:r>
              <a:rPr lang="en-US" dirty="0">
                <a:latin typeface="Arial" panose="020B0604020202020204" pitchFamily="34" charset="0"/>
                <a:cs typeface="Arial" panose="020B0604020202020204" pitchFamily="34" charset="0"/>
              </a:rPr>
              <a:t>stored </a:t>
            </a:r>
            <a:r>
              <a:rPr lang="en-US" b="1" u="sng" dirty="0">
                <a:latin typeface="Arial" panose="020B0604020202020204" pitchFamily="34" charset="0"/>
                <a:cs typeface="Arial" panose="020B0604020202020204" pitchFamily="34" charset="0"/>
              </a:rPr>
              <a:t>in</a:t>
            </a:r>
            <a:r>
              <a:rPr lang="en-US" dirty="0">
                <a:latin typeface="Arial" panose="020B0604020202020204" pitchFamily="34" charset="0"/>
                <a:cs typeface="Arial" panose="020B0604020202020204" pitchFamily="34" charset="0"/>
              </a:rPr>
              <a:t> </a:t>
            </a:r>
            <a:r>
              <a:rPr lang="en-US" b="1" u="sng" dirty="0">
                <a:latin typeface="Arial" panose="020B0604020202020204" pitchFamily="34" charset="0"/>
                <a:cs typeface="Arial" panose="020B0604020202020204" pitchFamily="34" charset="0"/>
              </a:rPr>
              <a:t>standardized repositories”</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is the best way to have 7 small 5x3 tables (one for each key LH trait) with the 3 fields being source, unit, description?</a:t>
            </a:r>
          </a:p>
          <a:p>
            <a:pPr marL="285750" indent="-285750">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highlight that no database reports  both ASM and AFR</a:t>
            </a:r>
          </a:p>
        </p:txBody>
      </p:sp>
      <p:sp>
        <p:nvSpPr>
          <p:cNvPr id="7" name="TextBox 6">
            <a:extLst>
              <a:ext uri="{FF2B5EF4-FFF2-40B4-BE49-F238E27FC236}">
                <a16:creationId xmlns:a16="http://schemas.microsoft.com/office/drawing/2014/main" id="{44E99FFA-8C44-4A71-F567-29D2A6F969CE}"/>
              </a:ext>
            </a:extLst>
          </p:cNvPr>
          <p:cNvSpPr txBox="1"/>
          <p:nvPr/>
        </p:nvSpPr>
        <p:spPr>
          <a:xfrm>
            <a:off x="16689390" y="22118398"/>
            <a:ext cx="8272139" cy="7104317"/>
          </a:xfrm>
          <a:prstGeom prst="rect">
            <a:avLst/>
          </a:prstGeom>
          <a:noFill/>
          <a:ln>
            <a:solidFill>
              <a:schemeClr val="tx1"/>
            </a:solidFill>
          </a:ln>
        </p:spPr>
        <p:txBody>
          <a:bodyPr wrap="square" rtlCol="0">
            <a:spAutoFit/>
          </a:bodyPr>
          <a:lstStyle/>
          <a:p>
            <a:pPr algn="ctr">
              <a:lnSpc>
                <a:spcPct val="150000"/>
              </a:lnSpc>
            </a:pPr>
            <a:r>
              <a:rPr lang="en-US" sz="4400" b="1" u="sng" dirty="0">
                <a:latin typeface="Arial" panose="020B0604020202020204" pitchFamily="34" charset="0"/>
                <a:cs typeface="Arial" panose="020B0604020202020204" pitchFamily="34" charset="0"/>
              </a:rPr>
              <a:t>Table with descriptive stats for databases</a:t>
            </a:r>
            <a:endParaRPr lang="en-US" sz="4400" dirty="0">
              <a:latin typeface="Arial" panose="020B0604020202020204" pitchFamily="34" charset="0"/>
              <a:cs typeface="Arial" panose="020B0604020202020204" pitchFamily="34" charset="0"/>
            </a:endParaRP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scores from table below</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n primate variables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p missing values for key traits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n species</a:t>
            </a:r>
          </a:p>
          <a:p>
            <a:pPr marL="571500" indent="-571500">
              <a:lnSpc>
                <a:spcPct val="150000"/>
              </a:lnSpc>
              <a:buFont typeface="Arial" panose="020B0604020202020204" pitchFamily="34" charset="0"/>
              <a:buChar char="•"/>
            </a:pPr>
            <a:r>
              <a:rPr lang="en-US" sz="4400" dirty="0">
                <a:latin typeface="Arial" panose="020B0604020202020204" pitchFamily="34" charset="0"/>
                <a:cs typeface="Arial" panose="020B0604020202020204" pitchFamily="34" charset="0"/>
              </a:rPr>
              <a:t>etc.</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4"/>
          <a:stretch>
            <a:fillRect/>
          </a:stretch>
        </p:blipFill>
        <p:spPr>
          <a:xfrm>
            <a:off x="1165021" y="3118858"/>
            <a:ext cx="2310304" cy="1862886"/>
          </a:xfrm>
          <a:prstGeom prst="rect">
            <a:avLst/>
          </a:prstGeom>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6"/>
          <a:srcRect t="576" r="632" b="531"/>
          <a:stretch>
            <a:fillRect/>
          </a:stretch>
        </p:blipFill>
        <p:spPr>
          <a:xfrm>
            <a:off x="13694799" y="5485290"/>
            <a:ext cx="15343254" cy="12843927"/>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694799" y="18329217"/>
            <a:ext cx="15343254" cy="1969193"/>
          </a:xfrm>
          <a:prstGeom prst="rect">
            <a:avLst/>
          </a:prstGeom>
          <a:noFill/>
          <a:ln>
            <a:noFill/>
          </a:ln>
        </p:spPr>
        <p:txBody>
          <a:bodyPr wrap="square" rtlCol="0">
            <a:spAutoFit/>
          </a:bodyPr>
          <a:lstStyle/>
          <a:p>
            <a:pPr>
              <a:lnSpc>
                <a:spcPct val="150000"/>
              </a:lnSpc>
            </a:pPr>
            <a:r>
              <a:rPr lang="en-US" sz="2800" b="1" dirty="0">
                <a:latin typeface="Arial" panose="020B0604020202020204" pitchFamily="34" charset="0"/>
                <a:cs typeface="Arial" panose="020B0604020202020204" pitchFamily="34" charset="0"/>
              </a:rPr>
              <a:t>Figure 1. </a:t>
            </a:r>
            <a:r>
              <a:rPr lang="en-US" sz="28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800" b="1" dirty="0">
                <a:latin typeface="Arial" panose="020B0604020202020204" pitchFamily="34" charset="0"/>
                <a:cs typeface="Arial" panose="020B0604020202020204" pitchFamily="34" charset="0"/>
              </a:rPr>
              <a:t> </a:t>
            </a:r>
            <a:endParaRPr lang="en-US" sz="28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29259819" y="27976555"/>
            <a:ext cx="8488295" cy="383181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RESULTS</a:t>
            </a:r>
          </a:p>
          <a:p>
            <a:pPr marL="685800" indent="-685800">
              <a:lnSpc>
                <a:spcPct val="150000"/>
              </a:lnSpc>
              <a:buFont typeface="Wingdings" panose="05000000000000000000" pitchFamily="2" charset="2"/>
              <a:buChar char="v"/>
            </a:pPr>
            <a:endParaRPr lang="en-US" dirty="0">
              <a:latin typeface="Arial" panose="020B0604020202020204" pitchFamily="34" charset="0"/>
              <a:cs typeface="Arial" panose="020B0604020202020204" pitchFamily="34" charset="0"/>
            </a:endParaRPr>
          </a:p>
          <a:p>
            <a:pPr marL="685800" indent="-685800">
              <a:lnSpc>
                <a:spcPct val="150000"/>
              </a:lnSpc>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pPr marL="685800" indent="-685800" algn="ctr">
              <a:lnSpc>
                <a:spcPct val="150000"/>
              </a:lnSpc>
              <a:buFont typeface="Wingdings" panose="05000000000000000000" pitchFamily="2" charset="2"/>
              <a:buChar char="v"/>
            </a:pPr>
            <a:endParaRPr lang="en-US" sz="360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4919C69F-CEBD-2D09-7893-35D33E032D80}"/>
              </a:ext>
            </a:extLst>
          </p:cNvPr>
          <p:cNvSpPr txBox="1"/>
          <p:nvPr/>
        </p:nvSpPr>
        <p:spPr>
          <a:xfrm>
            <a:off x="23355300" y="32718041"/>
            <a:ext cx="14392814" cy="5304016"/>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6000" b="1" u="sng" spc="300" dirty="0">
                <a:latin typeface="Arial" panose="020B0604020202020204" pitchFamily="34" charset="0"/>
                <a:cs typeface="Arial" panose="020B0604020202020204" pitchFamily="34" charset="0"/>
              </a:rPr>
              <a:t>CONCLUSIONS &amp; FUTURE RESEARCH</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a:p>
            <a:pPr>
              <a:lnSpc>
                <a:spcPct val="150000"/>
              </a:lnSpc>
            </a:pPr>
            <a:r>
              <a:rPr lang="en-US" dirty="0">
                <a:latin typeface="Arial" panose="020B0604020202020204" pitchFamily="34" charset="0"/>
                <a:cs typeface="Arial" panose="020B0604020202020204" pitchFamily="34" charset="0"/>
              </a:rPr>
              <a:t>L</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86410" y="24652261"/>
            <a:ext cx="3931921" cy="593047"/>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6461</TotalTime>
  <Words>1132</Words>
  <Application>Microsoft Office PowerPoint</Application>
  <PresentationFormat>Custom</PresentationFormat>
  <Paragraphs>68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21</cp:revision>
  <dcterms:created xsi:type="dcterms:W3CDTF">2026-02-18T13:57:43Z</dcterms:created>
  <dcterms:modified xsi:type="dcterms:W3CDTF">2026-03-15T00:30:02Z</dcterms:modified>
</cp:coreProperties>
</file>