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8B79EE"/>
    <a:srgbClr val="CDCDC1"/>
    <a:srgbClr val="D7D1F9"/>
    <a:srgbClr val="FFFFFF"/>
    <a:srgbClr val="E37747"/>
    <a:srgbClr val="CCD2D8"/>
    <a:srgbClr val="E2E78F"/>
    <a:srgbClr val="D54866"/>
    <a:srgbClr val="E4DE6B"/>
    <a:srgbClr val="DD605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757" autoAdjust="0"/>
  </p:normalViewPr>
  <p:slideViewPr>
    <p:cSldViewPr snapToGrid="0">
      <p:cViewPr varScale="1">
        <p:scale>
          <a:sx n="19" d="100"/>
          <a:sy n="19" d="100"/>
        </p:scale>
        <p:origin x="105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3/25/2026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3/25/2026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3/25/2026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3/25/2026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1890/08-1494.1" TargetMode="External"/><Relationship Id="rId13" Type="http://schemas.openxmlformats.org/officeDocument/2006/relationships/image" Target="../media/image4.png"/><Relationship Id="rId3" Type="http://schemas.openxmlformats.org/officeDocument/2006/relationships/hyperlink" Target="https://doi.org/10.2307/2389364" TargetMode="External"/><Relationship Id="rId7" Type="http://schemas.openxmlformats.org/officeDocument/2006/relationships/hyperlink" Target="https://doi.org/10.1890/02-9002" TargetMode="External"/><Relationship Id="rId12" Type="http://schemas.openxmlformats.org/officeDocument/2006/relationships/image" Target="../media/image3.png"/><Relationship Id="rId2" Type="http://schemas.openxmlformats.org/officeDocument/2006/relationships/hyperlink" Target="https://doi.org/10.1111/j.1558-5646.1985.tb00395.x" TargetMode="External"/><Relationship Id="rId1" Type="http://schemas.openxmlformats.org/officeDocument/2006/relationships/slideLayout" Target="../slideLayouts/slideLayout7.xml"/><Relationship Id="rId6" Type="http://schemas.openxmlformats.org/officeDocument/2006/relationships/hyperlink" Target="https://doi.org/10.1371/journal.pone.0067200" TargetMode="External"/><Relationship Id="rId11" Type="http://schemas.openxmlformats.org/officeDocument/2006/relationships/image" Target="../media/image2.jpeg"/><Relationship Id="rId5" Type="http://schemas.openxmlformats.org/officeDocument/2006/relationships/hyperlink" Target="https://doi.org/10.1111/j.2041-210x.2010.00023.x" TargetMode="External"/><Relationship Id="rId10" Type="http://schemas.openxmlformats.org/officeDocument/2006/relationships/image" Target="../media/image1.png"/><Relationship Id="rId4" Type="http://schemas.openxmlformats.org/officeDocument/2006/relationships/hyperlink" Target="https://doi.org/10.1016/j.tree.2024.06.001" TargetMode="External"/><Relationship Id="rId9" Type="http://schemas.openxmlformats.org/officeDocument/2006/relationships/hyperlink" Target="https://doi.org/10.1890/15-0846R.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79EE">
            <a:alpha val="20000"/>
          </a:srgb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970347"/>
          </a:xfrm>
          <a:prstGeom prst="rect">
            <a:avLst/>
          </a:prstGeom>
          <a:solidFill>
            <a:srgbClr val="E2E78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4745236"/>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3810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r>
              <a:rPr lang="en-US" dirty="0">
                <a:latin typeface="Arial" panose="020B0604020202020204" pitchFamily="34" charset="0"/>
                <a:cs typeface="Arial" panose="020B0604020202020204" pitchFamily="34" charset="0"/>
                <a:hlinkClick r:id="rId2"/>
              </a:rPr>
              <a:t>https://doi.org/10.1111/j.1558-5646.1985.tb00395.x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 </a:t>
            </a:r>
            <a:r>
              <a:rPr lang="en-US" dirty="0">
                <a:latin typeface="Arial" panose="020B0604020202020204" pitchFamily="34" charset="0"/>
                <a:cs typeface="Arial" panose="020B0604020202020204" pitchFamily="34" charset="0"/>
                <a:hlinkClick r:id="rId3"/>
              </a:rPr>
              <a:t>https://doi.org/10.2307/2389364</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r>
              <a:rPr lang="en-US" dirty="0">
                <a:latin typeface="Arial" panose="020B0604020202020204" pitchFamily="34" charset="0"/>
                <a:cs typeface="Arial" panose="020B0604020202020204" pitchFamily="34" charset="0"/>
                <a:hlinkClick r:id="rId4"/>
              </a:rPr>
              <a:t>https://doi.org/10.1016/j.tree.2024.06.001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Ecol Evol., 1(2):199-211. </a:t>
            </a:r>
            <a:r>
              <a:rPr lang="en-US" dirty="0">
                <a:latin typeface="Arial" panose="020B0604020202020204" pitchFamily="34" charset="0"/>
                <a:cs typeface="Arial" panose="020B0604020202020204" pitchFamily="34" charset="0"/>
                <a:hlinkClick r:id="rId5"/>
              </a:rPr>
              <a:t>https://doi.org/10.1111/j.2041-210x.2010.00023.x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r>
              <a:rPr lang="en-US" u="sng" dirty="0">
                <a:latin typeface="Arial" panose="020B0604020202020204" pitchFamily="34" charset="0"/>
                <a:cs typeface="Arial" panose="020B0604020202020204" pitchFamily="34" charset="0"/>
                <a:hlinkClick r:id="rId6"/>
              </a:rPr>
              <a:t>https://doi.org/10.1371/journal.pone.0067200</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r>
              <a:rPr lang="en-US" u="sng" dirty="0">
                <a:latin typeface="Arial" panose="020B0604020202020204" pitchFamily="34" charset="0"/>
                <a:cs typeface="Arial" panose="020B0604020202020204" pitchFamily="34" charset="0"/>
                <a:hlinkClick r:id="rId7"/>
              </a:rPr>
              <a:t>https://doi.org/10.1890/02-9002</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PanTHERIA: A species-level database of life history, ecology, and geography of extant and recently extinct mammals. Ecology, 90(9), 2648–2648. </a:t>
            </a:r>
            <a:r>
              <a:rPr lang="en-US" u="sng" dirty="0">
                <a:latin typeface="Arial" panose="020B0604020202020204" pitchFamily="34" charset="0"/>
                <a:cs typeface="Arial" panose="020B0604020202020204" pitchFamily="34" charset="0"/>
                <a:hlinkClick r:id="rId8"/>
              </a:rPr>
              <a:t>https://doi.org/10.1890/08-1494.1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 </a:t>
            </a:r>
            <a:r>
              <a:rPr lang="en-US" dirty="0">
                <a:latin typeface="Arial" panose="020B0604020202020204" pitchFamily="34" charset="0"/>
                <a:cs typeface="Arial" panose="020B0604020202020204" pitchFamily="34" charset="0"/>
                <a:hlinkClick r:id="rId9"/>
              </a:rPr>
              <a:t>https://doi.org/10.1890/15-0846R.1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p:txBody>
      </p:sp>
      <p:sp>
        <p:nvSpPr>
          <p:cNvPr id="13" name="TextBox 12">
            <a:extLst>
              <a:ext uri="{FF2B5EF4-FFF2-40B4-BE49-F238E27FC236}">
                <a16:creationId xmlns:a16="http://schemas.microsoft.com/office/drawing/2014/main" id="{73A4B056-3450-05C8-6E30-61A6201AB91E}"/>
              </a:ext>
            </a:extLst>
          </p:cNvPr>
          <p:cNvSpPr txBox="1"/>
          <p:nvPr/>
        </p:nvSpPr>
        <p:spPr>
          <a:xfrm>
            <a:off x="4937613" y="490764"/>
            <a:ext cx="32855890" cy="4292650"/>
          </a:xfrm>
          <a:prstGeom prst="rect">
            <a:avLst/>
          </a:prstGeom>
          <a:noFill/>
          <a:ln w="3810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Department of Anthropology,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4776819" y="26777302"/>
            <a:ext cx="8686800" cy="11296362"/>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METHODS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identified and selected all datasets that included wide life history trait coverage for primates [5].</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 structures of the datasets and selected seven key life history characteristics.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several metrics: </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The presence of values to evaluate missingness</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Taxonomic representation to measure bias in species coverage</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accessibility and the detail and consistency of variable descriptions</a:t>
            </a:r>
          </a:p>
        </p:txBody>
      </p:sp>
      <p:sp>
        <p:nvSpPr>
          <p:cNvPr id="2" name="TextBox 1">
            <a:extLst>
              <a:ext uri="{FF2B5EF4-FFF2-40B4-BE49-F238E27FC236}">
                <a16:creationId xmlns:a16="http://schemas.microsoft.com/office/drawing/2014/main" id="{49990ABF-3927-BA45-C861-577BCE70BBEB}"/>
              </a:ext>
            </a:extLst>
          </p:cNvPr>
          <p:cNvSpPr txBox="1">
            <a:spLocks/>
          </p:cNvSpPr>
          <p:nvPr/>
        </p:nvSpPr>
        <p:spPr>
          <a:xfrm>
            <a:off x="4786873" y="5024383"/>
            <a:ext cx="8686800" cy="13558520"/>
          </a:xfrm>
          <a:prstGeom prst="rect">
            <a:avLst/>
          </a:pr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INTRODUCTION</a:t>
            </a:r>
          </a:p>
          <a:p>
            <a:pPr marL="457200" indent="-457200">
              <a:lnSpc>
                <a:spcPct val="175000"/>
              </a:lnSpc>
              <a:buFont typeface="Wingdings" panose="05000000000000000000" pitchFamily="2" charset="2"/>
              <a:buChar char="v"/>
            </a:pPr>
            <a:r>
              <a:rPr lang="en-US" sz="2800" b="1" dirty="0">
                <a:latin typeface="Arial" panose="020B0604020202020204" pitchFamily="34" charset="0"/>
                <a:cs typeface="Arial" panose="020B0604020202020204" pitchFamily="34" charset="0"/>
              </a:rPr>
              <a:t>Life history theory </a:t>
            </a:r>
            <a:r>
              <a:rPr lang="en-US" sz="2800" dirty="0">
                <a:latin typeface="Arial" panose="020B0604020202020204" pitchFamily="34" charset="0"/>
                <a:cs typeface="Arial" panose="020B0604020202020204" pitchFamily="34" charset="0"/>
              </a:rPr>
              <a:t>provides us with a lexicon of variables that characterize the timing and durations of growth and reproduction. [1, 2]</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t>
            </a:r>
            <a:r>
              <a:rPr lang="en-US" sz="2800" b="1" dirty="0">
                <a:latin typeface="Arial" panose="020B0604020202020204" pitchFamily="34" charset="0"/>
                <a:cs typeface="Arial" panose="020B0604020202020204" pitchFamily="34" charset="0"/>
              </a:rPr>
              <a:t>abundant, high-quality, longitudinal data</a:t>
            </a:r>
            <a:r>
              <a:rPr lang="en-US" sz="2800" dirty="0">
                <a:latin typeface="Arial" panose="020B0604020202020204" pitchFamily="34" charset="0"/>
                <a:cs typeface="Arial" panose="020B0604020202020204" pitchFamily="34" charset="0"/>
              </a:rPr>
              <a:t> to observe and infer species-level rates. [1, 3, 4]</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[3], complicating investigations when </a:t>
            </a:r>
            <a:r>
              <a:rPr lang="en-US" sz="2800" b="1" dirty="0">
                <a:latin typeface="Arial" panose="020B0604020202020204" pitchFamily="34" charset="0"/>
                <a:cs typeface="Arial" panose="020B0604020202020204" pitchFamily="34" charset="0"/>
              </a:rPr>
              <a:t>some traits are unrecorded</a:t>
            </a:r>
            <a:r>
              <a:rPr lang="en-US" sz="2800" dirty="0">
                <a:latin typeface="Arial" panose="020B0604020202020204" pitchFamily="34" charset="0"/>
                <a:cs typeface="Arial" panose="020B0604020202020204" pitchFamily="34" charset="0"/>
              </a:rPr>
              <a:t> for a focal species.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a:t>
            </a:r>
            <a:r>
              <a:rPr lang="en-US" sz="2800" b="1" dirty="0">
                <a:latin typeface="Arial" panose="020B0604020202020204" pitchFamily="34" charset="0"/>
                <a:cs typeface="Arial" panose="020B0604020202020204" pitchFamily="34" charset="0"/>
              </a:rPr>
              <a:t>methodological challenges</a:t>
            </a:r>
            <a:r>
              <a:rPr lang="en-US" sz="2800" dirty="0">
                <a:latin typeface="Arial" panose="020B0604020202020204" pitchFamily="34" charset="0"/>
                <a:cs typeface="Arial" panose="020B0604020202020204" pitchFamily="34" charset="0"/>
              </a:rPr>
              <a:t> in collating LH data for inter-species comparisons [1, 3, 4, 5],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 &amp; trait inclusion</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Taxonomic representation</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4837518" y="18823872"/>
            <a:ext cx="8626101" cy="7526099"/>
          </a:xfrm>
          <a:prstGeom prst="rect">
            <a:avLst/>
          </a:prstGeom>
          <a:solidFill>
            <a:schemeClr val="bg1"/>
          </a:solidFill>
          <a:ln w="38100">
            <a:solidFill>
              <a:schemeClr val="tx1"/>
            </a:solidFill>
          </a:ln>
        </p:spPr>
        <p:txBody>
          <a:bodyPr wrap="square" rtlCol="0">
            <a:spAutoFit/>
          </a:bodyPr>
          <a:lstStyle/>
          <a:p>
            <a:pPr algn="ctr">
              <a:lnSpc>
                <a:spcPct val="175000"/>
              </a:lnSpc>
            </a:pPr>
            <a:r>
              <a:rPr lang="en-US" sz="5600" b="1" u="sng" spc="300" dirty="0">
                <a:latin typeface="Arial" panose="020B0604020202020204" pitchFamily="34" charset="0"/>
                <a:cs typeface="Arial" panose="020B0604020202020204" pitchFamily="34" charset="0"/>
              </a:rPr>
              <a:t>OBJECTIVES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[6], AnAge [7, 8], PanTHERIA [9],  Kappeler &amp; Pereira [10], and Amniotes [11] databases.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employ life history data</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10"/>
          <a:stretch>
            <a:fillRect/>
          </a:stretch>
        </p:blipFill>
        <p:spPr>
          <a:xfrm>
            <a:off x="1165021" y="3118858"/>
            <a:ext cx="2310304" cy="1862886"/>
          </a:xfrm>
          <a:prstGeom prst="rect">
            <a:avLst/>
          </a:prstGeom>
          <a:ln w="38100">
            <a:noFill/>
          </a:ln>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12">
            <a:extLst>
              <a:ext uri="{28A0092B-C50C-407E-A947-70E740481C1C}">
                <a14:useLocalDpi xmlns:a14="http://schemas.microsoft.com/office/drawing/2010/main" val="0"/>
              </a:ext>
            </a:extLst>
          </a:blip>
          <a:srcRect t="4" b="4"/>
          <a:stretch/>
        </p:blipFill>
        <p:spPr>
          <a:xfrm>
            <a:off x="13715177" y="10675633"/>
            <a:ext cx="15292691" cy="12801600"/>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645155" y="23520568"/>
            <a:ext cx="15292691" cy="1685846"/>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1. </a:t>
            </a:r>
            <a:r>
              <a:rPr lang="en-US" sz="24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400" b="1"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29288702" y="4979210"/>
            <a:ext cx="8686800" cy="15820678"/>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RESULTS</a:t>
            </a:r>
            <a:endParaRPr lang="en-US" sz="5600" dirty="0">
              <a:latin typeface="Arial" panose="020B0604020202020204" pitchFamily="34" charset="0"/>
              <a:cs typeface="Arial" panose="020B0604020202020204" pitchFamily="34" charset="0"/>
            </a:endParaRP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No dataset represented &gt;</a:t>
            </a:r>
            <a:r>
              <a:rPr lang="en-US" sz="2800" dirty="0">
                <a:solidFill>
                  <a:srgbClr val="FF0000"/>
                </a:solidFill>
                <a:latin typeface="Arial" panose="020B0604020202020204" pitchFamily="34" charset="0"/>
                <a:cs typeface="Arial" panose="020B0604020202020204" pitchFamily="34" charset="0"/>
              </a:rPr>
              <a:t>70% </a:t>
            </a:r>
            <a:r>
              <a:rPr lang="en-US" sz="2800" dirty="0">
                <a:latin typeface="Arial" panose="020B0604020202020204" pitchFamily="34" charset="0"/>
                <a:cs typeface="Arial" panose="020B0604020202020204" pitchFamily="34" charset="0"/>
              </a:rPr>
              <a:t>(376/535) of recognized primate species [12] (</a:t>
            </a:r>
            <a:r>
              <a:rPr lang="en-US" sz="2800" b="1" dirty="0">
                <a:latin typeface="Arial" panose="020B0604020202020204" pitchFamily="34" charset="0"/>
                <a:cs typeface="Arial" panose="020B0604020202020204" pitchFamily="34" charset="0"/>
              </a:rPr>
              <a:t>Table 1</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At</a:t>
            </a:r>
            <a:r>
              <a:rPr lang="en-US" sz="2800" dirty="0">
                <a:solidFill>
                  <a:srgbClr val="FF0000"/>
                </a:solidFill>
                <a:latin typeface="Arial" panose="020B0604020202020204" pitchFamily="34" charset="0"/>
                <a:cs typeface="Arial" panose="020B0604020202020204" pitchFamily="34" charset="0"/>
              </a:rPr>
              <a:t> least two</a:t>
            </a:r>
            <a:r>
              <a:rPr lang="en-US" sz="2800" dirty="0">
                <a:latin typeface="Arial" panose="020B0604020202020204" pitchFamily="34" charset="0"/>
                <a:cs typeface="Arial" panose="020B0604020202020204" pitchFamily="34" charset="0"/>
              </a:rPr>
              <a:t> of our key life history traits were not recorded for each dataset. (</a:t>
            </a:r>
            <a:r>
              <a:rPr lang="en-US" sz="2800" b="1" dirty="0">
                <a:latin typeface="Arial" panose="020B0604020202020204" pitchFamily="34" charset="0"/>
                <a:cs typeface="Arial" panose="020B0604020202020204" pitchFamily="34" charset="0"/>
              </a:rPr>
              <a:t>Figure 1</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Between datasets, mean proportions of missing values for key traits ranged from </a:t>
            </a:r>
            <a:r>
              <a:rPr lang="en-US" sz="2800" dirty="0">
                <a:solidFill>
                  <a:srgbClr val="FF0000"/>
                </a:solidFill>
                <a:latin typeface="Arial" panose="020B0604020202020204" pitchFamily="34" charset="0"/>
                <a:cs typeface="Arial" panose="020B0604020202020204" pitchFamily="34" charset="0"/>
              </a:rPr>
              <a:t>30.7 to 68.8%. </a:t>
            </a:r>
            <a:r>
              <a:rPr lang="en-US" sz="2800" dirty="0">
                <a:latin typeface="Arial" panose="020B0604020202020204" pitchFamily="34" charset="0"/>
                <a:cs typeface="Arial" panose="020B0604020202020204" pitchFamily="34" charset="0"/>
              </a:rPr>
              <a:t>(</a:t>
            </a:r>
            <a:r>
              <a:rPr lang="en-US" sz="2800" b="1" dirty="0">
                <a:latin typeface="Arial" panose="020B0604020202020204" pitchFamily="34" charset="0"/>
                <a:cs typeface="Arial" panose="020B0604020202020204" pitchFamily="34" charset="0"/>
              </a:rPr>
              <a:t>Figure 1</a:t>
            </a:r>
            <a:r>
              <a:rPr lang="en-US" sz="2800" dirty="0">
                <a:latin typeface="Arial" panose="020B0604020202020204" pitchFamily="34" charset="0"/>
                <a:cs typeface="Arial" panose="020B0604020202020204" pitchFamily="34" charset="0"/>
              </a:rPr>
              <a:t>)</a:t>
            </a:r>
          </a:p>
          <a:p>
            <a:pPr marL="1143000" lvl="1"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Of the traits recorded in multiple datasets, </a:t>
            </a:r>
            <a:r>
              <a:rPr lang="en-US" sz="2800" dirty="0">
                <a:solidFill>
                  <a:srgbClr val="FF0000"/>
                </a:solidFill>
                <a:latin typeface="Arial" panose="020B0604020202020204" pitchFamily="34" charset="0"/>
                <a:cs typeface="Arial" panose="020B0604020202020204" pitchFamily="34" charset="0"/>
              </a:rPr>
              <a:t>AFR was the least complete among pooled data </a:t>
            </a:r>
            <a:r>
              <a:rPr lang="en-US" sz="2800" dirty="0">
                <a:latin typeface="Arial" panose="020B0604020202020204" pitchFamily="34" charset="0"/>
                <a:cs typeface="Arial" panose="020B0604020202020204" pitchFamily="34" charset="0"/>
              </a:rPr>
              <a:t>with a proportion of missing values equal to .653.</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Despite dramatic differences in the number of species recorded, all datasets maintain relatively equal proportions of cladistic representation. (</a:t>
            </a:r>
            <a:r>
              <a:rPr lang="en-US" sz="2800" b="1" dirty="0">
                <a:latin typeface="Arial" panose="020B0604020202020204" pitchFamily="34" charset="0"/>
                <a:cs typeface="Arial" panose="020B0604020202020204" pitchFamily="34" charset="0"/>
              </a:rPr>
              <a:t>Figure 2</a:t>
            </a:r>
            <a:r>
              <a:rPr lang="en-US" sz="2800" dirty="0">
                <a:latin typeface="Arial" panose="020B0604020202020204" pitchFamily="34" charset="0"/>
                <a:cs typeface="Arial" panose="020B0604020202020204" pitchFamily="34" charset="0"/>
              </a:rPr>
              <a:t>)</a:t>
            </a:r>
          </a:p>
          <a:p>
            <a:pPr marL="685800" indent="-6858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content varied from complete and detailed to largely unavailable. For those with available metadata, quality and detail also varied. (</a:t>
            </a:r>
            <a:r>
              <a:rPr lang="en-US" sz="2800" b="1" dirty="0">
                <a:latin typeface="Arial" panose="020B0604020202020204" pitchFamily="34" charset="0"/>
                <a:cs typeface="Arial" panose="020B0604020202020204" pitchFamily="34" charset="0"/>
              </a:rPr>
              <a:t>Table 2</a:t>
            </a:r>
            <a:r>
              <a:rPr lang="en-US" sz="2800" dirty="0">
                <a:latin typeface="Arial" panose="020B0604020202020204" pitchFamily="34" charset="0"/>
                <a:cs typeface="Arial" panose="020B0604020202020204" pitchFamily="34" charset="0"/>
              </a:rPr>
              <a:t>)</a:t>
            </a:r>
          </a:p>
        </p:txBody>
      </p:sp>
      <p:sp>
        <p:nvSpPr>
          <p:cNvPr id="39" name="TextBox 38">
            <a:extLst>
              <a:ext uri="{FF2B5EF4-FFF2-40B4-BE49-F238E27FC236}">
                <a16:creationId xmlns:a16="http://schemas.microsoft.com/office/drawing/2014/main" id="{4919C69F-CEBD-2D09-7893-35D33E032D80}"/>
              </a:ext>
            </a:extLst>
          </p:cNvPr>
          <p:cNvSpPr txBox="1"/>
          <p:nvPr/>
        </p:nvSpPr>
        <p:spPr>
          <a:xfrm>
            <a:off x="29305203" y="20960325"/>
            <a:ext cx="8686800" cy="17113339"/>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DISCUSSION</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Existing datasets lack consistency in which traits and species are included and how traits are defined and measured.</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Amniotes [11] and AnAge [7, 8] divide ASM by sex class, but not PanTHERIA [9]. Ernest [6] and Kappeler &amp; Pereira [12] record AFR instead.</a:t>
            </a:r>
          </a:p>
          <a:p>
            <a:pPr marL="914400" lvl="1"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The Amniotes [11] &amp; PanTHERIA [9] definitions of IBI specify live offspring, while Kappeler &amp; Pereira [12] doesn’t specify; AnAge [7, 8] lacks any description. Ernest [6] does not record data for IBI.</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collating many datasets, researchers should be aware of redundant data points and inconsistent recording methods.</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When compiling life history data, researchers should maintain thorough and accessible metadata to aid researchers using their dataset.</a:t>
            </a:r>
          </a:p>
          <a:p>
            <a:pPr marL="457200" indent="-457200">
              <a:lnSpc>
                <a:spcPct val="175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must establish protocols for collecting life history data and a standardized repository filled with reliable and accurate data. </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30953964"/>
            <a:ext cx="3931921" cy="7185365"/>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p>
          <a:p>
            <a:pPr>
              <a:lnSpc>
                <a:spcPct val="150000"/>
              </a:lnSpc>
            </a:pPr>
            <a:r>
              <a:rPr lang="en-US" sz="2200" dirty="0">
                <a:latin typeface="Arial" panose="020B0604020202020204" pitchFamily="34" charset="0"/>
                <a:cs typeface="Arial" panose="020B0604020202020204" pitchFamily="34" charset="0"/>
              </a:rPr>
              <a:t>Special thanks to Dr. Finkel and Dr. Hodges-Simeon for their continued support and to Nicole Merullo for her commitment and mentorship. We are grateful to Boston University and Dartmouth College, the American Association of Biological Anthropologists (AABA), and the AABA Committee of Diversity for facilitating scientific inquiry. </a:t>
            </a:r>
          </a:p>
        </p:txBody>
      </p:sp>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645155" y="25416542"/>
            <a:ext cx="15288766" cy="7644383"/>
          </a:xfrm>
          <a:prstGeom prst="rect">
            <a:avLst/>
          </a:prstGeom>
          <a:ln w="38100">
            <a:solidFill>
              <a:schemeClr val="tx1"/>
            </a:solidFill>
          </a:ln>
        </p:spPr>
      </p:pic>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1761672090"/>
              </p:ext>
            </p:extLst>
          </p:nvPr>
        </p:nvGraphicFramePr>
        <p:xfrm>
          <a:off x="13734842" y="6722087"/>
          <a:ext cx="15292691" cy="3718560"/>
        </p:xfrm>
        <a:graphic>
          <a:graphicData uri="http://schemas.openxmlformats.org/drawingml/2006/table">
            <a:tbl>
              <a:tblPr firstRow="1" bandRow="1">
                <a:tableStyleId>{5C22544A-7EE6-4342-B048-85BDC9FD1C3A}</a:tableStyleId>
              </a:tblPr>
              <a:tblGrid>
                <a:gridCol w="2493954">
                  <a:extLst>
                    <a:ext uri="{9D8B030D-6E8A-4147-A177-3AD203B41FA5}">
                      <a16:colId xmlns:a16="http://schemas.microsoft.com/office/drawing/2014/main" val="2495585869"/>
                    </a:ext>
                  </a:extLst>
                </a:gridCol>
                <a:gridCol w="1622375">
                  <a:extLst>
                    <a:ext uri="{9D8B030D-6E8A-4147-A177-3AD203B41FA5}">
                      <a16:colId xmlns:a16="http://schemas.microsoft.com/office/drawing/2014/main" val="984202891"/>
                    </a:ext>
                  </a:extLst>
                </a:gridCol>
                <a:gridCol w="2388497">
                  <a:extLst>
                    <a:ext uri="{9D8B030D-6E8A-4147-A177-3AD203B41FA5}">
                      <a16:colId xmlns:a16="http://schemas.microsoft.com/office/drawing/2014/main" val="1450671555"/>
                    </a:ext>
                  </a:extLst>
                </a:gridCol>
                <a:gridCol w="1969486">
                  <a:extLst>
                    <a:ext uri="{9D8B030D-6E8A-4147-A177-3AD203B41FA5}">
                      <a16:colId xmlns:a16="http://schemas.microsoft.com/office/drawing/2014/main" val="2092606652"/>
                    </a:ext>
                  </a:extLst>
                </a:gridCol>
                <a:gridCol w="2061080">
                  <a:extLst>
                    <a:ext uri="{9D8B030D-6E8A-4147-A177-3AD203B41FA5}">
                      <a16:colId xmlns:a16="http://schemas.microsoft.com/office/drawing/2014/main" val="3671337353"/>
                    </a:ext>
                  </a:extLst>
                </a:gridCol>
                <a:gridCol w="2397627">
                  <a:extLst>
                    <a:ext uri="{9D8B030D-6E8A-4147-A177-3AD203B41FA5}">
                      <a16:colId xmlns:a16="http://schemas.microsoft.com/office/drawing/2014/main" val="1165741138"/>
                    </a:ext>
                  </a:extLst>
                </a:gridCol>
                <a:gridCol w="2359672">
                  <a:extLst>
                    <a:ext uri="{9D8B030D-6E8A-4147-A177-3AD203B41FA5}">
                      <a16:colId xmlns:a16="http://schemas.microsoft.com/office/drawing/2014/main" val="3607082557"/>
                    </a:ext>
                  </a:extLst>
                </a:gridCol>
              </a:tblGrid>
              <a:tr h="578529">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Source</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N species</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species represented</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Meta-data Score (x/8)</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N LH vars</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missing values (Key)</a:t>
                      </a:r>
                    </a:p>
                  </a:txBody>
                  <a:tcPr anchor="ctr">
                    <a:solidFill>
                      <a:srgbClr val="8B79EE"/>
                    </a:solidFill>
                  </a:tcPr>
                </a:tc>
                <a:tc>
                  <a:txBody>
                    <a:bodyPr/>
                    <a:lstStyle/>
                    <a:p>
                      <a:pPr algn="ctr"/>
                      <a:r>
                        <a:rPr lang="en-US" sz="2600" b="0" dirty="0">
                          <a:ln w="0">
                            <a:noFill/>
                          </a:ln>
                          <a:solidFill>
                            <a:schemeClr val="bg1"/>
                          </a:solidFill>
                          <a:latin typeface="Arial" panose="020B0604020202020204" pitchFamily="34" charset="0"/>
                          <a:cs typeface="Arial" panose="020B0604020202020204" pitchFamily="34" charset="0"/>
                        </a:rPr>
                        <a:t>P missing values (All)</a:t>
                      </a:r>
                    </a:p>
                  </a:txBody>
                  <a:tcPr anchor="ctr">
                    <a:solidFill>
                      <a:srgbClr val="8B79EE"/>
                    </a:solidFill>
                  </a:tcPr>
                </a:tc>
                <a:extLst>
                  <a:ext uri="{0D108BD9-81ED-4DB2-BD59-A6C34878D82A}">
                    <a16:rowId xmlns:a16="http://schemas.microsoft.com/office/drawing/2014/main" val="3004830895"/>
                  </a:ext>
                </a:extLst>
              </a:tr>
              <a:tr h="366463">
                <a:tc>
                  <a:txBody>
                    <a:bodyPr/>
                    <a:lstStyle/>
                    <a:p>
                      <a:r>
                        <a:rPr lang="en-US" sz="2600" dirty="0">
                          <a:latin typeface="Arial" panose="020B0604020202020204" pitchFamily="34" charset="0"/>
                          <a:cs typeface="Arial" panose="020B0604020202020204" pitchFamily="34" charset="0"/>
                        </a:rPr>
                        <a:t>Amniotes</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365</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.34</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.54</a:t>
                      </a:r>
                    </a:p>
                  </a:txBody>
                  <a:tcPr>
                    <a:solidFill>
                      <a:srgbClr val="CDCDC1"/>
                    </a:solidFill>
                  </a:tcPr>
                </a:tc>
                <a:extLst>
                  <a:ext uri="{0D108BD9-81ED-4DB2-BD59-A6C34878D82A}">
                    <a16:rowId xmlns:a16="http://schemas.microsoft.com/office/drawing/2014/main" val="1504921128"/>
                  </a:ext>
                </a:extLst>
              </a:tr>
              <a:tr h="366463">
                <a:tc>
                  <a:txBody>
                    <a:bodyPr/>
                    <a:lstStyle/>
                    <a:p>
                      <a:r>
                        <a:rPr lang="en-US" sz="2600" dirty="0">
                          <a:latin typeface="Arial" panose="020B0604020202020204" pitchFamily="34" charset="0"/>
                          <a:cs typeface="Arial" panose="020B0604020202020204" pitchFamily="34" charset="0"/>
                        </a:rPr>
                        <a:t>AnAge</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174</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.37</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.46</a:t>
                      </a:r>
                    </a:p>
                  </a:txBody>
                  <a:tcPr>
                    <a:solidFill>
                      <a:srgbClr val="CDCDC1"/>
                    </a:solidFill>
                  </a:tcPr>
                </a:tc>
                <a:extLst>
                  <a:ext uri="{0D108BD9-81ED-4DB2-BD59-A6C34878D82A}">
                    <a16:rowId xmlns:a16="http://schemas.microsoft.com/office/drawing/2014/main" val="1182304281"/>
                  </a:ext>
                </a:extLst>
              </a:tr>
              <a:tr h="366463">
                <a:tc>
                  <a:txBody>
                    <a:bodyPr/>
                    <a:lstStyle/>
                    <a:p>
                      <a:r>
                        <a:rPr lang="en-US" sz="2600" dirty="0">
                          <a:latin typeface="Arial" panose="020B0604020202020204" pitchFamily="34" charset="0"/>
                          <a:cs typeface="Arial" panose="020B0604020202020204" pitchFamily="34" charset="0"/>
                        </a:rPr>
                        <a:t>Ernest</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156</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.31</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.32</a:t>
                      </a:r>
                    </a:p>
                  </a:txBody>
                  <a:tcPr>
                    <a:solidFill>
                      <a:srgbClr val="CDCDC1"/>
                    </a:solidFill>
                  </a:tcPr>
                </a:tc>
                <a:extLst>
                  <a:ext uri="{0D108BD9-81ED-4DB2-BD59-A6C34878D82A}">
                    <a16:rowId xmlns:a16="http://schemas.microsoft.com/office/drawing/2014/main" val="4040463589"/>
                  </a:ext>
                </a:extLst>
              </a:tr>
              <a:tr h="664215">
                <a:tc>
                  <a:txBody>
                    <a:bodyPr/>
                    <a:lstStyle/>
                    <a:p>
                      <a:r>
                        <a:rPr lang="en-US" sz="2600" dirty="0">
                          <a:latin typeface="Arial" panose="020B0604020202020204" pitchFamily="34" charset="0"/>
                          <a:cs typeface="Arial" panose="020B0604020202020204" pitchFamily="34" charset="0"/>
                        </a:rPr>
                        <a:t>Kappeler &amp; Pereira</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310</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.58</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5</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13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.76</a:t>
                      </a:r>
                    </a:p>
                  </a:txBody>
                  <a:tcPr>
                    <a:solidFill>
                      <a:srgbClr val="CDCDC1"/>
                    </a:solidFill>
                  </a:tcPr>
                </a:tc>
                <a:extLst>
                  <a:ext uri="{0D108BD9-81ED-4DB2-BD59-A6C34878D82A}">
                    <a16:rowId xmlns:a16="http://schemas.microsoft.com/office/drawing/2014/main" val="3353418559"/>
                  </a:ext>
                </a:extLst>
              </a:tr>
              <a:tr h="366463">
                <a:tc>
                  <a:txBody>
                    <a:bodyPr/>
                    <a:lstStyle/>
                    <a:p>
                      <a:r>
                        <a:rPr lang="en-US" sz="2600" dirty="0">
                          <a:latin typeface="Arial" panose="020B0604020202020204" pitchFamily="34" charset="0"/>
                          <a:cs typeface="Arial" panose="020B0604020202020204" pitchFamily="34" charset="0"/>
                        </a:rPr>
                        <a:t>PanTHERIA</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376</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.70</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29</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.63</a:t>
                      </a:r>
                    </a:p>
                  </a:txBody>
                  <a:tcPr>
                    <a:solidFill>
                      <a:srgbClr val="CDCDC1"/>
                    </a:solidFill>
                  </a:tcPr>
                </a:tc>
                <a:tc>
                  <a:txBody>
                    <a:bodyPr/>
                    <a:lstStyle/>
                    <a:p>
                      <a:r>
                        <a:rPr lang="en-US" sz="2600" dirty="0">
                          <a:latin typeface="Arial" panose="020B0604020202020204" pitchFamily="34" charset="0"/>
                          <a:cs typeface="Arial" panose="020B0604020202020204" pitchFamily="34" charset="0"/>
                        </a:rPr>
                        <a:t>.72</a:t>
                      </a:r>
                    </a:p>
                  </a:txBody>
                  <a:tcPr>
                    <a:solidFill>
                      <a:srgbClr val="CDCDC1"/>
                    </a:solidFill>
                  </a:tcPr>
                </a:tc>
                <a:extLst>
                  <a:ext uri="{0D108BD9-81ED-4DB2-BD59-A6C34878D82A}">
                    <a16:rowId xmlns:a16="http://schemas.microsoft.com/office/drawing/2014/main" val="1345818191"/>
                  </a:ext>
                </a:extLst>
              </a:tr>
            </a:tbl>
          </a:graphicData>
        </a:graphic>
      </p:graphicFrame>
      <p:sp>
        <p:nvSpPr>
          <p:cNvPr id="15" name="TextBox 14">
            <a:extLst>
              <a:ext uri="{FF2B5EF4-FFF2-40B4-BE49-F238E27FC236}">
                <a16:creationId xmlns:a16="http://schemas.microsoft.com/office/drawing/2014/main" id="{D27A7744-9494-CE5D-21E0-EC7C48E39EE3}"/>
              </a:ext>
            </a:extLst>
          </p:cNvPr>
          <p:cNvSpPr txBox="1"/>
          <p:nvPr/>
        </p:nvSpPr>
        <p:spPr>
          <a:xfrm>
            <a:off x="13715177" y="4981744"/>
            <a:ext cx="15312356" cy="1697644"/>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Table 1. </a:t>
            </a:r>
            <a:r>
              <a:rPr lang="en-US" sz="2400" dirty="0">
                <a:latin typeface="Arial" panose="020B0604020202020204" pitchFamily="34" charset="0"/>
                <a:cs typeface="Arial" panose="020B0604020202020204" pitchFamily="34" charset="0"/>
              </a:rPr>
              <a:t>Descriptive statistics of primate life-history characteristics for each database. AnAge is the only database that is continually updated, with its last update in 2023. Each database has fewer missing values for our selected key life-history traits compared to all recorded statistics.</a:t>
            </a:r>
            <a:endParaRPr lang="en-US" sz="2400" dirty="0"/>
          </a:p>
        </p:txBody>
      </p:sp>
      <p:sp>
        <p:nvSpPr>
          <p:cNvPr id="16" name="TextBox 15">
            <a:extLst>
              <a:ext uri="{FF2B5EF4-FFF2-40B4-BE49-F238E27FC236}">
                <a16:creationId xmlns:a16="http://schemas.microsoft.com/office/drawing/2014/main" id="{93DF6F33-EBCA-A373-C636-B42DAC9A95E5}"/>
              </a:ext>
            </a:extLst>
          </p:cNvPr>
          <p:cNvSpPr txBox="1"/>
          <p:nvPr/>
        </p:nvSpPr>
        <p:spPr>
          <a:xfrm>
            <a:off x="13649080" y="33044787"/>
            <a:ext cx="15288768" cy="577850"/>
          </a:xfrm>
          <a:prstGeom prst="rect">
            <a:avLst/>
          </a:prstGeom>
          <a:noFill/>
          <a:ln w="38100">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2. </a:t>
            </a:r>
            <a:r>
              <a:rPr lang="en-US" sz="2400" dirty="0">
                <a:latin typeface="Arial" panose="020B0604020202020204" pitchFamily="34" charset="0"/>
                <a:cs typeface="Arial" panose="020B0604020202020204" pitchFamily="34" charset="0"/>
              </a:rPr>
              <a:t>Relative proportions of different primate clades for each database. </a:t>
            </a:r>
            <a:endParaRPr lang="en-US" sz="2400" b="1" dirty="0">
              <a:latin typeface="Arial" panose="020B0604020202020204" pitchFamily="34" charset="0"/>
              <a:cs typeface="Arial" panose="020B0604020202020204" pitchFamily="34" charset="0"/>
            </a:endParaRPr>
          </a:p>
        </p:txBody>
      </p:sp>
      <p:graphicFrame>
        <p:nvGraphicFramePr>
          <p:cNvPr id="18" name="Table 17">
            <a:extLst>
              <a:ext uri="{FF2B5EF4-FFF2-40B4-BE49-F238E27FC236}">
                <a16:creationId xmlns:a16="http://schemas.microsoft.com/office/drawing/2014/main" id="{89EB3D43-2416-755D-0631-818DB781FAA2}"/>
              </a:ext>
            </a:extLst>
          </p:cNvPr>
          <p:cNvGraphicFramePr>
            <a:graphicFrameLocks noGrp="1"/>
          </p:cNvGraphicFramePr>
          <p:nvPr>
            <p:extLst>
              <p:ext uri="{D42A27DB-BD31-4B8C-83A1-F6EECF244321}">
                <p14:modId xmlns:p14="http://schemas.microsoft.com/office/powerpoint/2010/main" val="141022189"/>
              </p:ext>
            </p:extLst>
          </p:nvPr>
        </p:nvGraphicFramePr>
        <p:xfrm>
          <a:off x="13541711" y="34537984"/>
          <a:ext cx="15639622" cy="3535680"/>
        </p:xfrm>
        <a:graphic>
          <a:graphicData uri="http://schemas.openxmlformats.org/drawingml/2006/table">
            <a:tbl>
              <a:tblPr firstRow="1" bandRow="1">
                <a:tableStyleId>{5C22544A-7EE6-4342-B048-85BDC9FD1C3A}</a:tableStyleId>
              </a:tblPr>
              <a:tblGrid>
                <a:gridCol w="2719115">
                  <a:extLst>
                    <a:ext uri="{9D8B030D-6E8A-4147-A177-3AD203B41FA5}">
                      <a16:colId xmlns:a16="http://schemas.microsoft.com/office/drawing/2014/main" val="2953196259"/>
                    </a:ext>
                  </a:extLst>
                </a:gridCol>
                <a:gridCol w="1831485">
                  <a:extLst>
                    <a:ext uri="{9D8B030D-6E8A-4147-A177-3AD203B41FA5}">
                      <a16:colId xmlns:a16="http://schemas.microsoft.com/office/drawing/2014/main" val="2850544499"/>
                    </a:ext>
                  </a:extLst>
                </a:gridCol>
                <a:gridCol w="4065234">
                  <a:extLst>
                    <a:ext uri="{9D8B030D-6E8A-4147-A177-3AD203B41FA5}">
                      <a16:colId xmlns:a16="http://schemas.microsoft.com/office/drawing/2014/main" val="3719952992"/>
                    </a:ext>
                  </a:extLst>
                </a:gridCol>
                <a:gridCol w="7023788">
                  <a:extLst>
                    <a:ext uri="{9D8B030D-6E8A-4147-A177-3AD203B41FA5}">
                      <a16:colId xmlns:a16="http://schemas.microsoft.com/office/drawing/2014/main" val="569871792"/>
                    </a:ext>
                  </a:extLst>
                </a:gridCol>
              </a:tblGrid>
              <a:tr h="572218">
                <a:tc>
                  <a:txBody>
                    <a:bodyPr/>
                    <a:lstStyle/>
                    <a:p>
                      <a:pPr algn="ctr"/>
                      <a:r>
                        <a:rPr lang="en-US" sz="2600" b="0" dirty="0"/>
                        <a:t>Variable</a:t>
                      </a:r>
                    </a:p>
                  </a:txBody>
                  <a:tcPr anchor="ctr">
                    <a:solidFill>
                      <a:srgbClr val="8B79EE"/>
                    </a:solidFill>
                  </a:tcPr>
                </a:tc>
                <a:tc>
                  <a:txBody>
                    <a:bodyPr/>
                    <a:lstStyle/>
                    <a:p>
                      <a:pPr algn="ctr"/>
                      <a:r>
                        <a:rPr lang="en-US" sz="2600" b="0" dirty="0"/>
                        <a:t>N unit types</a:t>
                      </a:r>
                    </a:p>
                  </a:txBody>
                  <a:tcPr anchor="ctr">
                    <a:solidFill>
                      <a:srgbClr val="8B79EE"/>
                    </a:solidFill>
                  </a:tcPr>
                </a:tc>
                <a:tc>
                  <a:txBody>
                    <a:bodyPr/>
                    <a:lstStyle/>
                    <a:p>
                      <a:pPr algn="ctr"/>
                      <a:r>
                        <a:rPr lang="en-US" sz="2600" b="0" dirty="0"/>
                        <a:t>Description</a:t>
                      </a:r>
                    </a:p>
                  </a:txBody>
                  <a:tcPr anchor="ctr">
                    <a:solidFill>
                      <a:srgbClr val="8B79EE"/>
                    </a:solidFill>
                  </a:tcPr>
                </a:tc>
                <a:tc>
                  <a:txBody>
                    <a:bodyPr/>
                    <a:lstStyle/>
                    <a:p>
                      <a:pPr algn="ctr"/>
                      <a:r>
                        <a:rPr lang="en-US" sz="2600" b="0" dirty="0"/>
                        <a:t>Database Comparison</a:t>
                      </a:r>
                    </a:p>
                  </a:txBody>
                  <a:tcPr anchor="ctr">
                    <a:solidFill>
                      <a:srgbClr val="8B79EE"/>
                    </a:solidFill>
                  </a:tcPr>
                </a:tc>
                <a:extLst>
                  <a:ext uri="{0D108BD9-81ED-4DB2-BD59-A6C34878D82A}">
                    <a16:rowId xmlns:a16="http://schemas.microsoft.com/office/drawing/2014/main" val="120293628"/>
                  </a:ext>
                </a:extLst>
              </a:tr>
              <a:tr h="828730">
                <a:tc>
                  <a:txBody>
                    <a:bodyPr/>
                    <a:lstStyle/>
                    <a:p>
                      <a:r>
                        <a:rPr lang="en-US" sz="2600" b="0" dirty="0"/>
                        <a:t>Weaning Age</a:t>
                      </a:r>
                    </a:p>
                  </a:txBody>
                  <a:tcPr>
                    <a:solidFill>
                      <a:srgbClr val="CDCDC1"/>
                    </a:solidFill>
                  </a:tcPr>
                </a:tc>
                <a:tc>
                  <a:txBody>
                    <a:bodyPr/>
                    <a:lstStyle/>
                    <a:p>
                      <a:pPr algn="ctr"/>
                      <a:r>
                        <a:rPr lang="en-US" sz="2600" b="0" dirty="0"/>
                        <a:t>2</a:t>
                      </a:r>
                    </a:p>
                  </a:txBody>
                  <a:tcPr>
                    <a:solidFill>
                      <a:srgbClr val="CDCDC1"/>
                    </a:solidFill>
                  </a:tcPr>
                </a:tc>
                <a:tc>
                  <a:txBody>
                    <a:bodyPr/>
                    <a:lstStyle/>
                    <a:p>
                      <a:r>
                        <a:rPr lang="en-US" sz="2600" b="0" dirty="0"/>
                        <a:t>Mean duration from birth to solid food transition</a:t>
                      </a:r>
                    </a:p>
                  </a:txBody>
                  <a:tcPr>
                    <a:solidFill>
                      <a:srgbClr val="CDCDC1"/>
                    </a:solidFill>
                  </a:tcPr>
                </a:tc>
                <a:tc>
                  <a:txBody>
                    <a:bodyPr/>
                    <a:lstStyle/>
                    <a:p>
                      <a:r>
                        <a:rPr lang="en-US" sz="2600" b="0" dirty="0"/>
                        <a:t>Ernest [6] defines as eating solid food, PanTHERIA [9] as first solid food OR last nursing</a:t>
                      </a:r>
                    </a:p>
                  </a:txBody>
                  <a:tcPr>
                    <a:solidFill>
                      <a:srgbClr val="CDCDC1"/>
                    </a:solidFill>
                  </a:tcPr>
                </a:tc>
                <a:extLst>
                  <a:ext uri="{0D108BD9-81ED-4DB2-BD59-A6C34878D82A}">
                    <a16:rowId xmlns:a16="http://schemas.microsoft.com/office/drawing/2014/main" val="1699839922"/>
                  </a:ext>
                </a:extLst>
              </a:tr>
              <a:tr h="828730">
                <a:tc>
                  <a:txBody>
                    <a:bodyPr/>
                    <a:lstStyle/>
                    <a:p>
                      <a:r>
                        <a:rPr lang="en-US" sz="2600" b="0" dirty="0"/>
                        <a:t>IBI</a:t>
                      </a:r>
                    </a:p>
                  </a:txBody>
                  <a:tcPr>
                    <a:solidFill>
                      <a:srgbClr val="CDCDC1"/>
                    </a:solidFill>
                  </a:tcPr>
                </a:tc>
                <a:tc>
                  <a:txBody>
                    <a:bodyPr/>
                    <a:lstStyle/>
                    <a:p>
                      <a:pPr algn="ctr"/>
                      <a:r>
                        <a:rPr lang="en-US" sz="2600" b="0" dirty="0"/>
                        <a:t>4</a:t>
                      </a:r>
                    </a:p>
                  </a:txBody>
                  <a:tcPr>
                    <a:solidFill>
                      <a:srgbClr val="CDCDC1"/>
                    </a:solidFill>
                  </a:tcPr>
                </a:tc>
                <a:tc>
                  <a:txBody>
                    <a:bodyPr/>
                    <a:lstStyle/>
                    <a:p>
                      <a:r>
                        <a:rPr lang="en-US" sz="2600" b="0" dirty="0"/>
                        <a:t>Mean duration between successive births</a:t>
                      </a:r>
                    </a:p>
                  </a:txBody>
                  <a:tcPr>
                    <a:solidFill>
                      <a:srgbClr val="CDCDC1"/>
                    </a:solidFill>
                  </a:tcPr>
                </a:tc>
                <a:tc>
                  <a:txBody>
                    <a:bodyPr/>
                    <a:lstStyle/>
                    <a:p>
                      <a:r>
                        <a:rPr lang="en-US" sz="2600" b="0" dirty="0"/>
                        <a:t>Ernest [6] records litters/year, PanTHERIA [9] specifies between successful births</a:t>
                      </a:r>
                    </a:p>
                  </a:txBody>
                  <a:tcPr>
                    <a:solidFill>
                      <a:srgbClr val="CDCDC1"/>
                    </a:solidFill>
                  </a:tcPr>
                </a:tc>
                <a:extLst>
                  <a:ext uri="{0D108BD9-81ED-4DB2-BD59-A6C34878D82A}">
                    <a16:rowId xmlns:a16="http://schemas.microsoft.com/office/drawing/2014/main" val="1346406341"/>
                  </a:ext>
                </a:extLst>
              </a:tr>
              <a:tr h="828730">
                <a:tc>
                  <a:txBody>
                    <a:bodyPr/>
                    <a:lstStyle/>
                    <a:p>
                      <a:r>
                        <a:rPr lang="en-US" sz="2600" b="0" dirty="0"/>
                        <a:t>Gestation Length</a:t>
                      </a:r>
                    </a:p>
                  </a:txBody>
                  <a:tcPr>
                    <a:solidFill>
                      <a:srgbClr val="CDCDC1"/>
                    </a:solidFill>
                  </a:tcPr>
                </a:tc>
                <a:tc>
                  <a:txBody>
                    <a:bodyPr/>
                    <a:lstStyle/>
                    <a:p>
                      <a:pPr algn="ctr"/>
                      <a:r>
                        <a:rPr lang="en-US" sz="2600" b="0" dirty="0"/>
                        <a:t>2</a:t>
                      </a:r>
                    </a:p>
                  </a:txBody>
                  <a:tcPr>
                    <a:solidFill>
                      <a:srgbClr val="CDCDC1"/>
                    </a:solidFill>
                  </a:tcPr>
                </a:tc>
                <a:tc>
                  <a:txBody>
                    <a:bodyPr/>
                    <a:lstStyle/>
                    <a:p>
                      <a:r>
                        <a:rPr lang="en-US" sz="2600" b="0" dirty="0"/>
                        <a:t>Mean duration between conception and birth</a:t>
                      </a:r>
                    </a:p>
                  </a:txBody>
                  <a:tcPr>
                    <a:solidFill>
                      <a:srgbClr val="CDCDC1"/>
                    </a:solidFill>
                  </a:tcPr>
                </a:tc>
                <a:tc>
                  <a:txBody>
                    <a:bodyPr/>
                    <a:lstStyle/>
                    <a:p>
                      <a:r>
                        <a:rPr lang="en-US" sz="2600" b="0" dirty="0"/>
                        <a:t>Ernest [6] specifies live offspring, PanTHERIA [9] specifies “non-inactive” fetal growth</a:t>
                      </a:r>
                    </a:p>
                  </a:txBody>
                  <a:tcPr>
                    <a:solidFill>
                      <a:srgbClr val="CDCDC1"/>
                    </a:solidFill>
                  </a:tcPr>
                </a:tc>
                <a:extLst>
                  <a:ext uri="{0D108BD9-81ED-4DB2-BD59-A6C34878D82A}">
                    <a16:rowId xmlns:a16="http://schemas.microsoft.com/office/drawing/2014/main" val="1869094669"/>
                  </a:ext>
                </a:extLst>
              </a:tr>
            </a:tbl>
          </a:graphicData>
        </a:graphic>
      </p:graphicFrame>
      <p:sp>
        <p:nvSpPr>
          <p:cNvPr id="27" name="TextBox 26">
            <a:extLst>
              <a:ext uri="{FF2B5EF4-FFF2-40B4-BE49-F238E27FC236}">
                <a16:creationId xmlns:a16="http://schemas.microsoft.com/office/drawing/2014/main" id="{B43F7CFC-7592-878E-53F7-EDAD4EDD4DD2}"/>
              </a:ext>
            </a:extLst>
          </p:cNvPr>
          <p:cNvSpPr txBox="1"/>
          <p:nvPr/>
        </p:nvSpPr>
        <p:spPr>
          <a:xfrm>
            <a:off x="13645156" y="33698224"/>
            <a:ext cx="15292691" cy="830997"/>
          </a:xfrm>
          <a:prstGeom prst="rect">
            <a:avLst/>
          </a:prstGeom>
          <a:noFill/>
          <a:ln w="38100">
            <a:noFill/>
          </a:ln>
        </p:spPr>
        <p:txBody>
          <a:bodyPr wrap="square" rtlCol="0">
            <a:spAutoFit/>
          </a:bodyPr>
          <a:lstStyle/>
          <a:p>
            <a:r>
              <a:rPr lang="en-US" sz="2400" b="1" dirty="0">
                <a:latin typeface="Arial" panose="020B0604020202020204" pitchFamily="34" charset="0"/>
                <a:cs typeface="Arial" panose="020B0604020202020204" pitchFamily="34" charset="0"/>
              </a:rPr>
              <a:t>Table 2.</a:t>
            </a:r>
            <a:r>
              <a:rPr lang="en-US" sz="2400" dirty="0">
                <a:latin typeface="Arial" panose="020B0604020202020204" pitchFamily="34" charset="0"/>
                <a:cs typeface="Arial" panose="020B0604020202020204" pitchFamily="34" charset="0"/>
              </a:rPr>
              <a:t> Example discrepancies in how key LH traits are recorded differently between databases. IBI = Inter-birth interval.</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8126</TotalTime>
  <Words>1495</Words>
  <Application>Microsoft Office PowerPoint</Application>
  <PresentationFormat>Custom</PresentationFormat>
  <Paragraphs>114</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35</cp:revision>
  <dcterms:created xsi:type="dcterms:W3CDTF">2026-02-18T13:57:43Z</dcterms:created>
  <dcterms:modified xsi:type="dcterms:W3CDTF">2026-03-25T23:34:42Z</dcterms:modified>
</cp:coreProperties>
</file>