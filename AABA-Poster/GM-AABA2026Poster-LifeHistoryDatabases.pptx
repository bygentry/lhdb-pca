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7" r:id="rId2"/>
  </p:sldIdLst>
  <p:sldSz cx="38404800" cy="384048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2FB47AD3-BAA8-1403-BBE9-B16EFDA3DDB7}" name="Gentry Miller" initials="GM" userId="b12f4fb44f4b8155"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8B79EE"/>
    <a:srgbClr val="CDCDC1"/>
    <a:srgbClr val="D7D1F9"/>
    <a:srgbClr val="FFFFFF"/>
    <a:srgbClr val="E37747"/>
    <a:srgbClr val="CCD2D8"/>
    <a:srgbClr val="E2E78F"/>
    <a:srgbClr val="D54866"/>
    <a:srgbClr val="E4DE6B"/>
    <a:srgbClr val="DD605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734" autoAdjust="0"/>
    <p:restoredTop sz="95757" autoAdjust="0"/>
  </p:normalViewPr>
  <p:slideViewPr>
    <p:cSldViewPr snapToGrid="0">
      <p:cViewPr varScale="1">
        <p:scale>
          <a:sx n="19" d="100"/>
          <a:sy n="19" d="100"/>
        </p:scale>
        <p:origin x="1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7" Type="http://schemas.microsoft.com/office/2018/10/relationships/authors" Target="author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880360" y="6285233"/>
            <a:ext cx="32644080" cy="13370560"/>
          </a:xfrm>
        </p:spPr>
        <p:txBody>
          <a:bodyPr anchor="b"/>
          <a:lstStyle>
            <a:lvl1pPr algn="ctr">
              <a:defRPr sz="25200"/>
            </a:lvl1pPr>
          </a:lstStyle>
          <a:p>
            <a:r>
              <a:rPr lang="en-US"/>
              <a:t>Click to edit Master title style</a:t>
            </a:r>
            <a:endParaRPr lang="en-US" dirty="0"/>
          </a:p>
        </p:txBody>
      </p:sp>
      <p:sp>
        <p:nvSpPr>
          <p:cNvPr id="3" name="Subtitle 2"/>
          <p:cNvSpPr>
            <a:spLocks noGrp="1"/>
          </p:cNvSpPr>
          <p:nvPr>
            <p:ph type="subTitle" idx="1"/>
          </p:nvPr>
        </p:nvSpPr>
        <p:spPr>
          <a:xfrm>
            <a:off x="4800600" y="20171413"/>
            <a:ext cx="28803600" cy="9272267"/>
          </a:xfrm>
        </p:spPr>
        <p:txBody>
          <a:bodyPr/>
          <a:lstStyle>
            <a:lvl1pPr marL="0" indent="0" algn="ctr">
              <a:buNone/>
              <a:defRPr sz="10080"/>
            </a:lvl1pPr>
            <a:lvl2pPr marL="1920240" indent="0" algn="ctr">
              <a:buNone/>
              <a:defRPr sz="8400"/>
            </a:lvl2pPr>
            <a:lvl3pPr marL="3840480" indent="0" algn="ctr">
              <a:buNone/>
              <a:defRPr sz="7560"/>
            </a:lvl3pPr>
            <a:lvl4pPr marL="5760720" indent="0" algn="ctr">
              <a:buNone/>
              <a:defRPr sz="6720"/>
            </a:lvl4pPr>
            <a:lvl5pPr marL="7680960" indent="0" algn="ctr">
              <a:buNone/>
              <a:defRPr sz="6720"/>
            </a:lvl5pPr>
            <a:lvl6pPr marL="9601200" indent="0" algn="ctr">
              <a:buNone/>
              <a:defRPr sz="6720"/>
            </a:lvl6pPr>
            <a:lvl7pPr marL="11521440" indent="0" algn="ctr">
              <a:buNone/>
              <a:defRPr sz="6720"/>
            </a:lvl7pPr>
            <a:lvl8pPr marL="13441680" indent="0" algn="ctr">
              <a:buNone/>
              <a:defRPr sz="6720"/>
            </a:lvl8pPr>
            <a:lvl9pPr marL="15361920" indent="0" algn="ctr">
              <a:buNone/>
              <a:defRPr sz="672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9317238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308197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620330" y="9574541"/>
            <a:ext cx="33124140" cy="15975327"/>
          </a:xfrm>
        </p:spPr>
        <p:txBody>
          <a:bodyPr anchor="b"/>
          <a:lstStyle>
            <a:lvl1pPr>
              <a:defRPr sz="25200"/>
            </a:lvl1pPr>
          </a:lstStyle>
          <a:p>
            <a:r>
              <a:rPr lang="en-US"/>
              <a:t>Click to edit Master title style</a:t>
            </a:r>
            <a:endParaRPr lang="en-US" dirty="0"/>
          </a:p>
        </p:txBody>
      </p:sp>
      <p:sp>
        <p:nvSpPr>
          <p:cNvPr id="3" name="Text Placeholder 2"/>
          <p:cNvSpPr>
            <a:spLocks noGrp="1"/>
          </p:cNvSpPr>
          <p:nvPr>
            <p:ph type="body" idx="1"/>
          </p:nvPr>
        </p:nvSpPr>
        <p:spPr>
          <a:xfrm>
            <a:off x="2620330" y="25701001"/>
            <a:ext cx="33124140" cy="8401047"/>
          </a:xfrm>
        </p:spPr>
        <p:txBody>
          <a:bodyPr/>
          <a:lstStyle>
            <a:lvl1pPr marL="0" indent="0">
              <a:buNone/>
              <a:defRPr sz="10080">
                <a:solidFill>
                  <a:schemeClr val="tx1">
                    <a:tint val="82000"/>
                  </a:schemeClr>
                </a:solidFill>
              </a:defRPr>
            </a:lvl1pPr>
            <a:lvl2pPr marL="1920240" indent="0">
              <a:buNone/>
              <a:defRPr sz="8400">
                <a:solidFill>
                  <a:schemeClr val="tx1">
                    <a:tint val="82000"/>
                  </a:schemeClr>
                </a:solidFill>
              </a:defRPr>
            </a:lvl2pPr>
            <a:lvl3pPr marL="3840480" indent="0">
              <a:buNone/>
              <a:defRPr sz="7560">
                <a:solidFill>
                  <a:schemeClr val="tx1">
                    <a:tint val="82000"/>
                  </a:schemeClr>
                </a:solidFill>
              </a:defRPr>
            </a:lvl3pPr>
            <a:lvl4pPr marL="5760720" indent="0">
              <a:buNone/>
              <a:defRPr sz="6720">
                <a:solidFill>
                  <a:schemeClr val="tx1">
                    <a:tint val="82000"/>
                  </a:schemeClr>
                </a:solidFill>
              </a:defRPr>
            </a:lvl4pPr>
            <a:lvl5pPr marL="7680960" indent="0">
              <a:buNone/>
              <a:defRPr sz="6720">
                <a:solidFill>
                  <a:schemeClr val="tx1">
                    <a:tint val="82000"/>
                  </a:schemeClr>
                </a:solidFill>
              </a:defRPr>
            </a:lvl5pPr>
            <a:lvl6pPr marL="9601200" indent="0">
              <a:buNone/>
              <a:defRPr sz="6720">
                <a:solidFill>
                  <a:schemeClr val="tx1">
                    <a:tint val="82000"/>
                  </a:schemeClr>
                </a:solidFill>
              </a:defRPr>
            </a:lvl6pPr>
            <a:lvl7pPr marL="11521440" indent="0">
              <a:buNone/>
              <a:defRPr sz="6720">
                <a:solidFill>
                  <a:schemeClr val="tx1">
                    <a:tint val="82000"/>
                  </a:schemeClr>
                </a:solidFill>
              </a:defRPr>
            </a:lvl7pPr>
            <a:lvl8pPr marL="13441680" indent="0">
              <a:buNone/>
              <a:defRPr sz="6720">
                <a:solidFill>
                  <a:schemeClr val="tx1">
                    <a:tint val="82000"/>
                  </a:schemeClr>
                </a:solidFill>
              </a:defRPr>
            </a:lvl8pPr>
            <a:lvl9pPr marL="15361920" indent="0">
              <a:buNone/>
              <a:defRPr sz="672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E19EFA1-6199-496A-BC1D-DE705E3EBA0B}"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2646900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6403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9442430" y="10223500"/>
            <a:ext cx="1632204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0E19EFA1-6199-496A-BC1D-DE705E3EBA0B}"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658225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044708"/>
            <a:ext cx="33124140" cy="74231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645336" y="9414513"/>
            <a:ext cx="16247028"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4" name="Content Placeholder 3"/>
          <p:cNvSpPr>
            <a:spLocks noGrp="1"/>
          </p:cNvSpPr>
          <p:nvPr>
            <p:ph sz="half" idx="2"/>
          </p:nvPr>
        </p:nvSpPr>
        <p:spPr>
          <a:xfrm>
            <a:off x="2645336" y="14028420"/>
            <a:ext cx="16247028"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9442432" y="9414513"/>
            <a:ext cx="16327042" cy="4613907"/>
          </a:xfrm>
        </p:spPr>
        <p:txBody>
          <a:bodyPr anchor="b"/>
          <a:lstStyle>
            <a:lvl1pPr marL="0" indent="0">
              <a:buNone/>
              <a:defRPr sz="10080" b="1"/>
            </a:lvl1pPr>
            <a:lvl2pPr marL="1920240" indent="0">
              <a:buNone/>
              <a:defRPr sz="8400" b="1"/>
            </a:lvl2pPr>
            <a:lvl3pPr marL="3840480" indent="0">
              <a:buNone/>
              <a:defRPr sz="7560" b="1"/>
            </a:lvl3pPr>
            <a:lvl4pPr marL="5760720" indent="0">
              <a:buNone/>
              <a:defRPr sz="6720" b="1"/>
            </a:lvl4pPr>
            <a:lvl5pPr marL="7680960" indent="0">
              <a:buNone/>
              <a:defRPr sz="6720" b="1"/>
            </a:lvl5pPr>
            <a:lvl6pPr marL="9601200" indent="0">
              <a:buNone/>
              <a:defRPr sz="6720" b="1"/>
            </a:lvl6pPr>
            <a:lvl7pPr marL="11521440" indent="0">
              <a:buNone/>
              <a:defRPr sz="6720" b="1"/>
            </a:lvl7pPr>
            <a:lvl8pPr marL="13441680" indent="0">
              <a:buNone/>
              <a:defRPr sz="6720" b="1"/>
            </a:lvl8pPr>
            <a:lvl9pPr marL="15361920" indent="0">
              <a:buNone/>
              <a:defRPr sz="6720" b="1"/>
            </a:lvl9pPr>
          </a:lstStyle>
          <a:p>
            <a:pPr lvl="0"/>
            <a:r>
              <a:rPr lang="en-US"/>
              <a:t>Click to edit Master text styles</a:t>
            </a:r>
          </a:p>
        </p:txBody>
      </p:sp>
      <p:sp>
        <p:nvSpPr>
          <p:cNvPr id="6" name="Content Placeholder 5"/>
          <p:cNvSpPr>
            <a:spLocks noGrp="1"/>
          </p:cNvSpPr>
          <p:nvPr>
            <p:ph sz="quarter" idx="4"/>
          </p:nvPr>
        </p:nvSpPr>
        <p:spPr>
          <a:xfrm>
            <a:off x="19442432" y="14028420"/>
            <a:ext cx="16327042"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E19EFA1-6199-496A-BC1D-DE705E3EBA0B}" type="datetimeFigureOut">
              <a:rPr lang="en-US" smtClean="0"/>
              <a:t>3/16/2026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073006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0E19EFA1-6199-496A-BC1D-DE705E3EBA0B}" type="datetimeFigureOut">
              <a:rPr lang="en-US" smtClean="0"/>
              <a:t>3/16/2026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89742312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E19EFA1-6199-496A-BC1D-DE705E3EBA0B}" type="datetimeFigureOut">
              <a:rPr lang="en-US" smtClean="0"/>
              <a:t>3/16/2026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5075591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Content Placeholder 2"/>
          <p:cNvSpPr>
            <a:spLocks noGrp="1"/>
          </p:cNvSpPr>
          <p:nvPr>
            <p:ph idx="1"/>
          </p:nvPr>
        </p:nvSpPr>
        <p:spPr>
          <a:xfrm>
            <a:off x="16327042" y="5529588"/>
            <a:ext cx="19442430" cy="27292300"/>
          </a:xfrm>
        </p:spPr>
        <p:txBody>
          <a:bodyPr/>
          <a:lstStyle>
            <a:lvl1pPr>
              <a:defRPr sz="13440"/>
            </a:lvl1pPr>
            <a:lvl2pPr>
              <a:defRPr sz="11760"/>
            </a:lvl2pPr>
            <a:lvl3pPr>
              <a:defRPr sz="10080"/>
            </a:lvl3pPr>
            <a:lvl4pPr>
              <a:defRPr sz="8400"/>
            </a:lvl4pPr>
            <a:lvl5pPr>
              <a:defRPr sz="8400"/>
            </a:lvl5pPr>
            <a:lvl6pPr>
              <a:defRPr sz="8400"/>
            </a:lvl6pPr>
            <a:lvl7pPr>
              <a:defRPr sz="8400"/>
            </a:lvl7pPr>
            <a:lvl8pPr>
              <a:defRPr sz="8400"/>
            </a:lvl8pPr>
            <a:lvl9pPr>
              <a:defRPr sz="8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0E19EFA1-6199-496A-BC1D-DE705E3EBA0B}"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9761013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645332" y="2560320"/>
            <a:ext cx="12386548" cy="8961120"/>
          </a:xfrm>
        </p:spPr>
        <p:txBody>
          <a:bodyPr anchor="b"/>
          <a:lstStyle>
            <a:lvl1pPr>
              <a:defRPr sz="13440"/>
            </a:lvl1pPr>
          </a:lstStyle>
          <a:p>
            <a:r>
              <a:rPr lang="en-US"/>
              <a:t>Click to edit Master title style</a:t>
            </a:r>
            <a:endParaRPr lang="en-US" dirty="0"/>
          </a:p>
        </p:txBody>
      </p:sp>
      <p:sp>
        <p:nvSpPr>
          <p:cNvPr id="3" name="Picture Placeholder 2"/>
          <p:cNvSpPr>
            <a:spLocks noGrp="1" noChangeAspect="1"/>
          </p:cNvSpPr>
          <p:nvPr>
            <p:ph type="pic" idx="1"/>
          </p:nvPr>
        </p:nvSpPr>
        <p:spPr>
          <a:xfrm>
            <a:off x="16327042" y="5529588"/>
            <a:ext cx="19442430" cy="27292300"/>
          </a:xfrm>
        </p:spPr>
        <p:txBody>
          <a:bodyPr anchor="t"/>
          <a:lstStyle>
            <a:lvl1pPr marL="0" indent="0">
              <a:buNone/>
              <a:defRPr sz="13440"/>
            </a:lvl1pPr>
            <a:lvl2pPr marL="1920240" indent="0">
              <a:buNone/>
              <a:defRPr sz="11760"/>
            </a:lvl2pPr>
            <a:lvl3pPr marL="3840480" indent="0">
              <a:buNone/>
              <a:defRPr sz="10080"/>
            </a:lvl3pPr>
            <a:lvl4pPr marL="5760720" indent="0">
              <a:buNone/>
              <a:defRPr sz="8400"/>
            </a:lvl4pPr>
            <a:lvl5pPr marL="7680960" indent="0">
              <a:buNone/>
              <a:defRPr sz="8400"/>
            </a:lvl5pPr>
            <a:lvl6pPr marL="9601200" indent="0">
              <a:buNone/>
              <a:defRPr sz="8400"/>
            </a:lvl6pPr>
            <a:lvl7pPr marL="11521440" indent="0">
              <a:buNone/>
              <a:defRPr sz="8400"/>
            </a:lvl7pPr>
            <a:lvl8pPr marL="13441680" indent="0">
              <a:buNone/>
              <a:defRPr sz="8400"/>
            </a:lvl8pPr>
            <a:lvl9pPr marL="15361920" indent="0">
              <a:buNone/>
              <a:defRPr sz="8400"/>
            </a:lvl9pPr>
          </a:lstStyle>
          <a:p>
            <a:r>
              <a:rPr lang="en-US"/>
              <a:t>Click icon to add picture</a:t>
            </a:r>
            <a:endParaRPr lang="en-US" dirty="0"/>
          </a:p>
        </p:txBody>
      </p:sp>
      <p:sp>
        <p:nvSpPr>
          <p:cNvPr id="4" name="Text Placeholder 3"/>
          <p:cNvSpPr>
            <a:spLocks noGrp="1"/>
          </p:cNvSpPr>
          <p:nvPr>
            <p:ph type="body" sz="half" idx="2"/>
          </p:nvPr>
        </p:nvSpPr>
        <p:spPr>
          <a:xfrm>
            <a:off x="2645332" y="11521440"/>
            <a:ext cx="12386548" cy="21344893"/>
          </a:xfrm>
        </p:spPr>
        <p:txBody>
          <a:bodyPr/>
          <a:lstStyle>
            <a:lvl1pPr marL="0" indent="0">
              <a:buNone/>
              <a:defRPr sz="6720"/>
            </a:lvl1pPr>
            <a:lvl2pPr marL="1920240" indent="0">
              <a:buNone/>
              <a:defRPr sz="5880"/>
            </a:lvl2pPr>
            <a:lvl3pPr marL="3840480" indent="0">
              <a:buNone/>
              <a:defRPr sz="5040"/>
            </a:lvl3pPr>
            <a:lvl4pPr marL="5760720" indent="0">
              <a:buNone/>
              <a:defRPr sz="4200"/>
            </a:lvl4pPr>
            <a:lvl5pPr marL="7680960" indent="0">
              <a:buNone/>
              <a:defRPr sz="4200"/>
            </a:lvl5pPr>
            <a:lvl6pPr marL="9601200" indent="0">
              <a:buNone/>
              <a:defRPr sz="4200"/>
            </a:lvl6pPr>
            <a:lvl7pPr marL="11521440" indent="0">
              <a:buNone/>
              <a:defRPr sz="4200"/>
            </a:lvl7pPr>
            <a:lvl8pPr marL="13441680" indent="0">
              <a:buNone/>
              <a:defRPr sz="4200"/>
            </a:lvl8pPr>
            <a:lvl9pPr marL="15361920" indent="0">
              <a:buNone/>
              <a:defRPr sz="4200"/>
            </a:lvl9pPr>
          </a:lstStyle>
          <a:p>
            <a:pPr lvl="0"/>
            <a:r>
              <a:rPr lang="en-US"/>
              <a:t>Click to edit Master text styles</a:t>
            </a:r>
          </a:p>
        </p:txBody>
      </p:sp>
      <p:sp>
        <p:nvSpPr>
          <p:cNvPr id="5" name="Date Placeholder 4"/>
          <p:cNvSpPr>
            <a:spLocks noGrp="1"/>
          </p:cNvSpPr>
          <p:nvPr>
            <p:ph type="dt" sz="half" idx="10"/>
          </p:nvPr>
        </p:nvSpPr>
        <p:spPr/>
        <p:txBody>
          <a:bodyPr/>
          <a:lstStyle/>
          <a:p>
            <a:fld id="{0E19EFA1-6199-496A-BC1D-DE705E3EBA0B}" type="datetimeFigureOut">
              <a:rPr lang="en-US" smtClean="0"/>
              <a:t>3/16/2026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16701455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34052759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7483437" y="2044700"/>
            <a:ext cx="8281035" cy="325462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640332" y="2044700"/>
            <a:ext cx="24363045"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E19EFA1-6199-496A-BC1D-DE705E3EBA0B}" type="datetimeFigureOut">
              <a:rPr lang="en-US" smtClean="0"/>
              <a:t>3/16/2026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270E11-5C9F-4FE7-A0AA-0B76F42F7266}" type="slidenum">
              <a:rPr lang="en-US" smtClean="0"/>
              <a:t>‹#›</a:t>
            </a:fld>
            <a:endParaRPr lang="en-US"/>
          </a:p>
        </p:txBody>
      </p:sp>
    </p:spTree>
    <p:extLst>
      <p:ext uri="{BB962C8B-B14F-4D97-AF65-F5344CB8AC3E}">
        <p14:creationId xmlns:p14="http://schemas.microsoft.com/office/powerpoint/2010/main" val="283673946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40330" y="2044708"/>
            <a:ext cx="33124140" cy="7423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640330" y="10223500"/>
            <a:ext cx="3312414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40330" y="35595568"/>
            <a:ext cx="8641080" cy="2044700"/>
          </a:xfrm>
          <a:prstGeom prst="rect">
            <a:avLst/>
          </a:prstGeom>
        </p:spPr>
        <p:txBody>
          <a:bodyPr vert="horz" lIns="91440" tIns="45720" rIns="91440" bIns="45720" rtlCol="0" anchor="ctr"/>
          <a:lstStyle>
            <a:lvl1pPr algn="l">
              <a:defRPr sz="5040">
                <a:solidFill>
                  <a:schemeClr val="tx1">
                    <a:tint val="82000"/>
                  </a:schemeClr>
                </a:solidFill>
              </a:defRPr>
            </a:lvl1pPr>
          </a:lstStyle>
          <a:p>
            <a:fld id="{0E19EFA1-6199-496A-BC1D-DE705E3EBA0B}" type="datetimeFigureOut">
              <a:rPr lang="en-US" smtClean="0"/>
              <a:t>3/16/2026</a:t>
            </a:fld>
            <a:endParaRPr lang="en-US"/>
          </a:p>
        </p:txBody>
      </p:sp>
      <p:sp>
        <p:nvSpPr>
          <p:cNvPr id="5" name="Footer Placeholder 4"/>
          <p:cNvSpPr>
            <a:spLocks noGrp="1"/>
          </p:cNvSpPr>
          <p:nvPr>
            <p:ph type="ftr" sz="quarter" idx="3"/>
          </p:nvPr>
        </p:nvSpPr>
        <p:spPr>
          <a:xfrm>
            <a:off x="12721590" y="35595568"/>
            <a:ext cx="12961620" cy="2044700"/>
          </a:xfrm>
          <a:prstGeom prst="rect">
            <a:avLst/>
          </a:prstGeom>
        </p:spPr>
        <p:txBody>
          <a:bodyPr vert="horz" lIns="91440" tIns="45720" rIns="91440" bIns="45720" rtlCol="0" anchor="ctr"/>
          <a:lstStyle>
            <a:lvl1pPr algn="ctr">
              <a:defRPr sz="504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27123390" y="35595568"/>
            <a:ext cx="8641080" cy="2044700"/>
          </a:xfrm>
          <a:prstGeom prst="rect">
            <a:avLst/>
          </a:prstGeom>
        </p:spPr>
        <p:txBody>
          <a:bodyPr vert="horz" lIns="91440" tIns="45720" rIns="91440" bIns="45720" rtlCol="0" anchor="ctr"/>
          <a:lstStyle>
            <a:lvl1pPr algn="r">
              <a:defRPr sz="5040">
                <a:solidFill>
                  <a:schemeClr val="tx1">
                    <a:tint val="82000"/>
                  </a:schemeClr>
                </a:solidFill>
              </a:defRPr>
            </a:lvl1pPr>
          </a:lstStyle>
          <a:p>
            <a:fld id="{D5270E11-5C9F-4FE7-A0AA-0B76F42F7266}" type="slidenum">
              <a:rPr lang="en-US" smtClean="0"/>
              <a:t>‹#›</a:t>
            </a:fld>
            <a:endParaRPr lang="en-US"/>
          </a:p>
        </p:txBody>
      </p:sp>
    </p:spTree>
    <p:extLst>
      <p:ext uri="{BB962C8B-B14F-4D97-AF65-F5344CB8AC3E}">
        <p14:creationId xmlns:p14="http://schemas.microsoft.com/office/powerpoint/2010/main" val="845923038"/>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3840480" rtl="0" eaLnBrk="1" latinLnBrk="0" hangingPunct="1">
        <a:lnSpc>
          <a:spcPct val="90000"/>
        </a:lnSpc>
        <a:spcBef>
          <a:spcPct val="0"/>
        </a:spcBef>
        <a:buNone/>
        <a:defRPr sz="18480" kern="1200">
          <a:solidFill>
            <a:schemeClr val="tx1"/>
          </a:solidFill>
          <a:latin typeface="+mj-lt"/>
          <a:ea typeface="+mj-ea"/>
          <a:cs typeface="+mj-cs"/>
        </a:defRPr>
      </a:lvl1pPr>
    </p:titleStyle>
    <p:bodyStyle>
      <a:lvl1pPr marL="960120" indent="-960120" algn="l" defTabSz="3840480" rtl="0" eaLnBrk="1" latinLnBrk="0" hangingPunct="1">
        <a:lnSpc>
          <a:spcPct val="90000"/>
        </a:lnSpc>
        <a:spcBef>
          <a:spcPts val="4200"/>
        </a:spcBef>
        <a:buFont typeface="Arial" panose="020B0604020202020204" pitchFamily="34" charset="0"/>
        <a:buChar char="•"/>
        <a:defRPr sz="11760" kern="1200">
          <a:solidFill>
            <a:schemeClr val="tx1"/>
          </a:solidFill>
          <a:latin typeface="+mn-lt"/>
          <a:ea typeface="+mn-ea"/>
          <a:cs typeface="+mn-cs"/>
        </a:defRPr>
      </a:lvl1pPr>
      <a:lvl2pPr marL="2880360" indent="-960120" algn="l" defTabSz="3840480" rtl="0" eaLnBrk="1" latinLnBrk="0" hangingPunct="1">
        <a:lnSpc>
          <a:spcPct val="90000"/>
        </a:lnSpc>
        <a:spcBef>
          <a:spcPts val="2100"/>
        </a:spcBef>
        <a:buFont typeface="Arial" panose="020B0604020202020204" pitchFamily="34" charset="0"/>
        <a:buChar char="•"/>
        <a:defRPr sz="10080" kern="1200">
          <a:solidFill>
            <a:schemeClr val="tx1"/>
          </a:solidFill>
          <a:latin typeface="+mn-lt"/>
          <a:ea typeface="+mn-ea"/>
          <a:cs typeface="+mn-cs"/>
        </a:defRPr>
      </a:lvl2pPr>
      <a:lvl3pPr marL="4800600" indent="-960120" algn="l" defTabSz="3840480" rtl="0" eaLnBrk="1" latinLnBrk="0" hangingPunct="1">
        <a:lnSpc>
          <a:spcPct val="90000"/>
        </a:lnSpc>
        <a:spcBef>
          <a:spcPts val="2100"/>
        </a:spcBef>
        <a:buFont typeface="Arial" panose="020B0604020202020204" pitchFamily="34" charset="0"/>
        <a:buChar char="•"/>
        <a:defRPr sz="8400" kern="1200">
          <a:solidFill>
            <a:schemeClr val="tx1"/>
          </a:solidFill>
          <a:latin typeface="+mn-lt"/>
          <a:ea typeface="+mn-ea"/>
          <a:cs typeface="+mn-cs"/>
        </a:defRPr>
      </a:lvl3pPr>
      <a:lvl4pPr marL="67208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4pPr>
      <a:lvl5pPr marL="864108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5pPr>
      <a:lvl6pPr marL="1056132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6pPr>
      <a:lvl7pPr marL="1248156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7pPr>
      <a:lvl8pPr marL="1440180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8pPr>
      <a:lvl9pPr marL="16322040" indent="-960120" algn="l" defTabSz="3840480" rtl="0" eaLnBrk="1" latinLnBrk="0" hangingPunct="1">
        <a:lnSpc>
          <a:spcPct val="90000"/>
        </a:lnSpc>
        <a:spcBef>
          <a:spcPts val="2100"/>
        </a:spcBef>
        <a:buFont typeface="Arial" panose="020B0604020202020204" pitchFamily="34" charset="0"/>
        <a:buChar char="•"/>
        <a:defRPr sz="7560" kern="1200">
          <a:solidFill>
            <a:schemeClr val="tx1"/>
          </a:solidFill>
          <a:latin typeface="+mn-lt"/>
          <a:ea typeface="+mn-ea"/>
          <a:cs typeface="+mn-cs"/>
        </a:defRPr>
      </a:lvl9pPr>
    </p:bodyStyle>
    <p:otherStyle>
      <a:defPPr>
        <a:defRPr lang="en-US"/>
      </a:defPPr>
      <a:lvl1pPr marL="0" algn="l" defTabSz="3840480" rtl="0" eaLnBrk="1" latinLnBrk="0" hangingPunct="1">
        <a:defRPr sz="7560" kern="1200">
          <a:solidFill>
            <a:schemeClr val="tx1"/>
          </a:solidFill>
          <a:latin typeface="+mn-lt"/>
          <a:ea typeface="+mn-ea"/>
          <a:cs typeface="+mn-cs"/>
        </a:defRPr>
      </a:lvl1pPr>
      <a:lvl2pPr marL="1920240" algn="l" defTabSz="3840480" rtl="0" eaLnBrk="1" latinLnBrk="0" hangingPunct="1">
        <a:defRPr sz="7560" kern="1200">
          <a:solidFill>
            <a:schemeClr val="tx1"/>
          </a:solidFill>
          <a:latin typeface="+mn-lt"/>
          <a:ea typeface="+mn-ea"/>
          <a:cs typeface="+mn-cs"/>
        </a:defRPr>
      </a:lvl2pPr>
      <a:lvl3pPr marL="3840480" algn="l" defTabSz="3840480" rtl="0" eaLnBrk="1" latinLnBrk="0" hangingPunct="1">
        <a:defRPr sz="7560" kern="1200">
          <a:solidFill>
            <a:schemeClr val="tx1"/>
          </a:solidFill>
          <a:latin typeface="+mn-lt"/>
          <a:ea typeface="+mn-ea"/>
          <a:cs typeface="+mn-cs"/>
        </a:defRPr>
      </a:lvl3pPr>
      <a:lvl4pPr marL="5760720" algn="l" defTabSz="3840480" rtl="0" eaLnBrk="1" latinLnBrk="0" hangingPunct="1">
        <a:defRPr sz="7560" kern="1200">
          <a:solidFill>
            <a:schemeClr val="tx1"/>
          </a:solidFill>
          <a:latin typeface="+mn-lt"/>
          <a:ea typeface="+mn-ea"/>
          <a:cs typeface="+mn-cs"/>
        </a:defRPr>
      </a:lvl4pPr>
      <a:lvl5pPr marL="7680960" algn="l" defTabSz="3840480" rtl="0" eaLnBrk="1" latinLnBrk="0" hangingPunct="1">
        <a:defRPr sz="7560" kern="1200">
          <a:solidFill>
            <a:schemeClr val="tx1"/>
          </a:solidFill>
          <a:latin typeface="+mn-lt"/>
          <a:ea typeface="+mn-ea"/>
          <a:cs typeface="+mn-cs"/>
        </a:defRPr>
      </a:lvl5pPr>
      <a:lvl6pPr marL="9601200" algn="l" defTabSz="3840480" rtl="0" eaLnBrk="1" latinLnBrk="0" hangingPunct="1">
        <a:defRPr sz="7560" kern="1200">
          <a:solidFill>
            <a:schemeClr val="tx1"/>
          </a:solidFill>
          <a:latin typeface="+mn-lt"/>
          <a:ea typeface="+mn-ea"/>
          <a:cs typeface="+mn-cs"/>
        </a:defRPr>
      </a:lvl6pPr>
      <a:lvl7pPr marL="11521440" algn="l" defTabSz="3840480" rtl="0" eaLnBrk="1" latinLnBrk="0" hangingPunct="1">
        <a:defRPr sz="7560" kern="1200">
          <a:solidFill>
            <a:schemeClr val="tx1"/>
          </a:solidFill>
          <a:latin typeface="+mn-lt"/>
          <a:ea typeface="+mn-ea"/>
          <a:cs typeface="+mn-cs"/>
        </a:defRPr>
      </a:lvl7pPr>
      <a:lvl8pPr marL="13441680" algn="l" defTabSz="3840480" rtl="0" eaLnBrk="1" latinLnBrk="0" hangingPunct="1">
        <a:defRPr sz="7560" kern="1200">
          <a:solidFill>
            <a:schemeClr val="tx1"/>
          </a:solidFill>
          <a:latin typeface="+mn-lt"/>
          <a:ea typeface="+mn-ea"/>
          <a:cs typeface="+mn-cs"/>
        </a:defRPr>
      </a:lvl8pPr>
      <a:lvl9pPr marL="15361920" algn="l" defTabSz="3840480" rtl="0" eaLnBrk="1" latinLnBrk="0" hangingPunct="1">
        <a:defRPr sz="756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https://doi.org/10.1890/08-1494.1" TargetMode="External"/><Relationship Id="rId13" Type="http://schemas.openxmlformats.org/officeDocument/2006/relationships/image" Target="../media/image4.png"/><Relationship Id="rId3" Type="http://schemas.openxmlformats.org/officeDocument/2006/relationships/hyperlink" Target="https://doi.org/10.2307/2389364" TargetMode="External"/><Relationship Id="rId7" Type="http://schemas.openxmlformats.org/officeDocument/2006/relationships/hyperlink" Target="https://doi.org/10.1890/02-9002" TargetMode="External"/><Relationship Id="rId12" Type="http://schemas.openxmlformats.org/officeDocument/2006/relationships/image" Target="../media/image3.png"/><Relationship Id="rId2" Type="http://schemas.openxmlformats.org/officeDocument/2006/relationships/hyperlink" Target="https://doi.org/10.1111/j.1558-5646.1985.tb00395.x" TargetMode="External"/><Relationship Id="rId1" Type="http://schemas.openxmlformats.org/officeDocument/2006/relationships/slideLayout" Target="../slideLayouts/slideLayout7.xml"/><Relationship Id="rId6" Type="http://schemas.openxmlformats.org/officeDocument/2006/relationships/hyperlink" Target="https://doi.org/10.1371/journal.pone.0067200" TargetMode="External"/><Relationship Id="rId11" Type="http://schemas.openxmlformats.org/officeDocument/2006/relationships/image" Target="../media/image2.jpeg"/><Relationship Id="rId5" Type="http://schemas.openxmlformats.org/officeDocument/2006/relationships/hyperlink" Target="https://doi.org/10.1111/j.2041-210x.2010.00023.x" TargetMode="External"/><Relationship Id="rId10" Type="http://schemas.openxmlformats.org/officeDocument/2006/relationships/image" Target="../media/image1.png"/><Relationship Id="rId4" Type="http://schemas.openxmlformats.org/officeDocument/2006/relationships/hyperlink" Target="https://doi.org/10.1016/j.tree.2024.06.001" TargetMode="External"/><Relationship Id="rId9" Type="http://schemas.openxmlformats.org/officeDocument/2006/relationships/hyperlink" Target="https://doi.org/10.1890/15-0846R.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8B79EE">
            <a:alpha val="20000"/>
          </a:srgbClr>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ED290C9-5DB7-45A7-6407-B7A920521685}"/>
              </a:ext>
            </a:extLst>
          </p:cNvPr>
          <p:cNvSpPr/>
          <p:nvPr/>
        </p:nvSpPr>
        <p:spPr>
          <a:xfrm>
            <a:off x="4584700" y="294968"/>
            <a:ext cx="33561717" cy="37970347"/>
          </a:xfrm>
          <a:prstGeom prst="rect">
            <a:avLst/>
          </a:prstGeom>
          <a:solidFill>
            <a:srgbClr val="E2E78F"/>
          </a:solidFill>
          <a:ln w="3810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rial" panose="020B06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7402F4D8-F2E4-DFE8-C697-4B3CD7A7D412}"/>
              </a:ext>
            </a:extLst>
          </p:cNvPr>
          <p:cNvSpPr txBox="1"/>
          <p:nvPr/>
        </p:nvSpPr>
        <p:spPr>
          <a:xfrm>
            <a:off x="299864" y="5466463"/>
            <a:ext cx="3931920" cy="24745236"/>
          </a:xfrm>
          <a:custGeom>
            <a:avLst/>
            <a:gdLst>
              <a:gd name="csX0" fmla="*/ 0 w 3881535"/>
              <a:gd name="csY0" fmla="*/ 0 h 18072847"/>
              <a:gd name="csX1" fmla="*/ 3881535 w 3881535"/>
              <a:gd name="csY1" fmla="*/ 0 h 18072847"/>
              <a:gd name="csX2" fmla="*/ 3881535 w 3881535"/>
              <a:gd name="csY2" fmla="*/ 18072847 h 18072847"/>
              <a:gd name="csX3" fmla="*/ 0 w 3881535"/>
              <a:gd name="csY3" fmla="*/ 18072847 h 18072847"/>
              <a:gd name="csX4" fmla="*/ 0 w 3881535"/>
              <a:gd name="csY4" fmla="*/ 0 h 18072847"/>
              <a:gd name="csX0" fmla="*/ 0 w 3881535"/>
              <a:gd name="csY0" fmla="*/ 0 h 29172648"/>
              <a:gd name="csX1" fmla="*/ 3881535 w 3881535"/>
              <a:gd name="csY1" fmla="*/ 0 h 29172648"/>
              <a:gd name="csX2" fmla="*/ 3652935 w 3881535"/>
              <a:gd name="csY2" fmla="*/ 29172648 h 29172648"/>
              <a:gd name="csX3" fmla="*/ 0 w 3881535"/>
              <a:gd name="csY3" fmla="*/ 18072847 h 29172648"/>
              <a:gd name="csX4" fmla="*/ 0 w 3881535"/>
              <a:gd name="csY4" fmla="*/ 0 h 29172648"/>
              <a:gd name="csX0" fmla="*/ 0 w 4008535"/>
              <a:gd name="csY0" fmla="*/ 0 h 32957248"/>
              <a:gd name="csX1" fmla="*/ 3881535 w 4008535"/>
              <a:gd name="csY1" fmla="*/ 0 h 32957248"/>
              <a:gd name="csX2" fmla="*/ 4008535 w 4008535"/>
              <a:gd name="csY2" fmla="*/ 32957248 h 32957248"/>
              <a:gd name="csX3" fmla="*/ 0 w 4008535"/>
              <a:gd name="csY3" fmla="*/ 18072847 h 32957248"/>
              <a:gd name="csX4" fmla="*/ 0 w 4008535"/>
              <a:gd name="csY4" fmla="*/ 0 h 32957248"/>
              <a:gd name="csX0" fmla="*/ 25400 w 4033935"/>
              <a:gd name="csY0" fmla="*/ 0 h 32957248"/>
              <a:gd name="csX1" fmla="*/ 3906935 w 4033935"/>
              <a:gd name="csY1" fmla="*/ 0 h 32957248"/>
              <a:gd name="csX2" fmla="*/ 4033935 w 4033935"/>
              <a:gd name="csY2" fmla="*/ 32957248 h 32957248"/>
              <a:gd name="csX3" fmla="*/ 0 w 4033935"/>
              <a:gd name="csY3" fmla="*/ 32906448 h 32957248"/>
              <a:gd name="csX4" fmla="*/ 25400 w 4033935"/>
              <a:gd name="csY4" fmla="*/ 0 h 32957248"/>
              <a:gd name="csX0" fmla="*/ 25400 w 4033935"/>
              <a:gd name="csY0" fmla="*/ 5486400 h 38443648"/>
              <a:gd name="csX1" fmla="*/ 3957735 w 4033935"/>
              <a:gd name="csY1" fmla="*/ 0 h 38443648"/>
              <a:gd name="csX2" fmla="*/ 4033935 w 4033935"/>
              <a:gd name="csY2" fmla="*/ 38443648 h 38443648"/>
              <a:gd name="csX3" fmla="*/ 0 w 4033935"/>
              <a:gd name="csY3" fmla="*/ 38392848 h 38443648"/>
              <a:gd name="csX4" fmla="*/ 25400 w 4033935"/>
              <a:gd name="csY4" fmla="*/ 5486400 h 38443648"/>
              <a:gd name="csX0" fmla="*/ 101600 w 4033935"/>
              <a:gd name="csY0" fmla="*/ 0 h 38469048"/>
              <a:gd name="csX1" fmla="*/ 3957735 w 4033935"/>
              <a:gd name="csY1" fmla="*/ 25400 h 38469048"/>
              <a:gd name="csX2" fmla="*/ 4033935 w 4033935"/>
              <a:gd name="csY2" fmla="*/ 38469048 h 38469048"/>
              <a:gd name="csX3" fmla="*/ 0 w 4033935"/>
              <a:gd name="csY3" fmla="*/ 38418248 h 38469048"/>
              <a:gd name="csX4" fmla="*/ 101600 w 4033935"/>
              <a:gd name="csY4" fmla="*/ 0 h 38469048"/>
              <a:gd name="csX0" fmla="*/ 101600 w 4033935"/>
              <a:gd name="csY0" fmla="*/ 130910 h 38599958"/>
              <a:gd name="csX1" fmla="*/ 3746720 w 4033935"/>
              <a:gd name="csY1" fmla="*/ 0 h 38599958"/>
              <a:gd name="csX2" fmla="*/ 4033935 w 4033935"/>
              <a:gd name="csY2" fmla="*/ 38599958 h 38599958"/>
              <a:gd name="csX3" fmla="*/ 0 w 4033935"/>
              <a:gd name="csY3" fmla="*/ 38549158 h 38599958"/>
              <a:gd name="csX4" fmla="*/ 101600 w 4033935"/>
              <a:gd name="csY4" fmla="*/ 130910 h 38599958"/>
              <a:gd name="csX0" fmla="*/ 101600 w 3746720"/>
              <a:gd name="csY0" fmla="*/ 130910 h 38549158"/>
              <a:gd name="csX1" fmla="*/ 3746720 w 3746720"/>
              <a:gd name="csY1" fmla="*/ 0 h 38549158"/>
              <a:gd name="csX2" fmla="*/ 3650982 w 3746720"/>
              <a:gd name="csY2" fmla="*/ 36646118 h 38549158"/>
              <a:gd name="csX3" fmla="*/ 0 w 3746720"/>
              <a:gd name="csY3" fmla="*/ 38549158 h 38549158"/>
              <a:gd name="csX4" fmla="*/ 101600 w 3746720"/>
              <a:gd name="csY4" fmla="*/ 130910 h 38549158"/>
              <a:gd name="csX0" fmla="*/ 101600 w 3668567"/>
              <a:gd name="csY0" fmla="*/ 130910 h 38549158"/>
              <a:gd name="csX1" fmla="*/ 3668567 w 3668567"/>
              <a:gd name="csY1" fmla="*/ 0 h 38549158"/>
              <a:gd name="csX2" fmla="*/ 3650982 w 3668567"/>
              <a:gd name="csY2" fmla="*/ 36646118 h 38549158"/>
              <a:gd name="csX3" fmla="*/ 0 w 3668567"/>
              <a:gd name="csY3" fmla="*/ 38549158 h 38549158"/>
              <a:gd name="csX4" fmla="*/ 101600 w 3668567"/>
              <a:gd name="csY4" fmla="*/ 130910 h 38549158"/>
              <a:gd name="csX0" fmla="*/ 53861 w 3620828"/>
              <a:gd name="csY0" fmla="*/ 130910 h 36646118"/>
              <a:gd name="csX1" fmla="*/ 3620828 w 3620828"/>
              <a:gd name="csY1" fmla="*/ 0 h 36646118"/>
              <a:gd name="csX2" fmla="*/ 3603243 w 3620828"/>
              <a:gd name="csY2" fmla="*/ 36646118 h 36646118"/>
              <a:gd name="csX3" fmla="*/ 0 w 3620828"/>
              <a:gd name="csY3" fmla="*/ 36309058 h 36646118"/>
              <a:gd name="csX4" fmla="*/ 53861 w 3620828"/>
              <a:gd name="csY4" fmla="*/ 130910 h 36646118"/>
              <a:gd name="csX0" fmla="*/ 840 w 3567807"/>
              <a:gd name="csY0" fmla="*/ 130910 h 36646118"/>
              <a:gd name="csX1" fmla="*/ 3567807 w 3567807"/>
              <a:gd name="csY1" fmla="*/ 0 h 36646118"/>
              <a:gd name="csX2" fmla="*/ 3550222 w 3567807"/>
              <a:gd name="csY2" fmla="*/ 36646118 h 36646118"/>
              <a:gd name="csX3" fmla="*/ 42459 w 3567807"/>
              <a:gd name="csY3" fmla="*/ 36419228 h 36646118"/>
              <a:gd name="csX4" fmla="*/ 840 w 3567807"/>
              <a:gd name="csY4" fmla="*/ 130910 h 36646118"/>
              <a:gd name="csX0" fmla="*/ 65 w 3567032"/>
              <a:gd name="csY0" fmla="*/ 130910 h 36646118"/>
              <a:gd name="csX1" fmla="*/ 3567032 w 3567032"/>
              <a:gd name="csY1" fmla="*/ 0 h 36646118"/>
              <a:gd name="csX2" fmla="*/ 3549447 w 3567032"/>
              <a:gd name="csY2" fmla="*/ 36646118 h 36646118"/>
              <a:gd name="csX3" fmla="*/ 805520 w 3567032"/>
              <a:gd name="csY3" fmla="*/ 36492678 h 36646118"/>
              <a:gd name="csX4" fmla="*/ 65 w 3567032"/>
              <a:gd name="csY4" fmla="*/ 130910 h 36646118"/>
              <a:gd name="csX0" fmla="*/ 9793 w 2761512"/>
              <a:gd name="csY0" fmla="*/ 20740 h 36646118"/>
              <a:gd name="csX1" fmla="*/ 2761512 w 2761512"/>
              <a:gd name="csY1" fmla="*/ 0 h 36646118"/>
              <a:gd name="csX2" fmla="*/ 2743927 w 2761512"/>
              <a:gd name="csY2" fmla="*/ 36646118 h 36646118"/>
              <a:gd name="csX3" fmla="*/ 0 w 2761512"/>
              <a:gd name="csY3" fmla="*/ 36492678 h 36646118"/>
              <a:gd name="csX4" fmla="*/ 9793 w 2761512"/>
              <a:gd name="csY4" fmla="*/ 20740 h 36646118"/>
              <a:gd name="csX0" fmla="*/ 7510 w 2759229"/>
              <a:gd name="csY0" fmla="*/ 20740 h 36646118"/>
              <a:gd name="csX1" fmla="*/ 2759229 w 2759229"/>
              <a:gd name="csY1" fmla="*/ 0 h 36646118"/>
              <a:gd name="csX2" fmla="*/ 2741644 w 2759229"/>
              <a:gd name="csY2" fmla="*/ 36646118 h 36646118"/>
              <a:gd name="csX3" fmla="*/ 0 w 2759229"/>
              <a:gd name="csY3" fmla="*/ 36615276 h 36646118"/>
              <a:gd name="csX4" fmla="*/ 7510 w 2759229"/>
              <a:gd name="csY4" fmla="*/ 20740 h 36646118"/>
              <a:gd name="csX0" fmla="*/ 7510 w 2759229"/>
              <a:gd name="csY0" fmla="*/ 20740 h 36646118"/>
              <a:gd name="csX1" fmla="*/ 2759229 w 2759229"/>
              <a:gd name="csY1" fmla="*/ 0 h 36646118"/>
              <a:gd name="csX2" fmla="*/ 2741644 w 2759229"/>
              <a:gd name="csY2" fmla="*/ 36646118 h 36646118"/>
              <a:gd name="csX3" fmla="*/ 0 w 2759229"/>
              <a:gd name="csY3" fmla="*/ 36615276 h 36646118"/>
              <a:gd name="csX4" fmla="*/ 7510 w 2759229"/>
              <a:gd name="csY4" fmla="*/ 20740 h 36646118"/>
            </a:gdLst>
            <a:ahLst/>
            <a:cxnLst>
              <a:cxn ang="0">
                <a:pos x="csX0" y="csY0"/>
              </a:cxn>
              <a:cxn ang="0">
                <a:pos x="csX1" y="csY1"/>
              </a:cxn>
              <a:cxn ang="0">
                <a:pos x="csX2" y="csY2"/>
              </a:cxn>
              <a:cxn ang="0">
                <a:pos x="csX3" y="csY3"/>
              </a:cxn>
              <a:cxn ang="0">
                <a:pos x="csX4" y="csY4"/>
              </a:cxn>
            </a:cxnLst>
            <a:rect l="l" t="t" r="r" b="b"/>
            <a:pathLst>
              <a:path w="2759229" h="36646118">
                <a:moveTo>
                  <a:pt x="7510" y="20740"/>
                </a:moveTo>
                <a:lnTo>
                  <a:pt x="2759229" y="0"/>
                </a:lnTo>
                <a:cubicBezTo>
                  <a:pt x="2753367" y="12215373"/>
                  <a:pt x="2747506" y="24430745"/>
                  <a:pt x="2741644" y="36646118"/>
                </a:cubicBezTo>
                <a:cubicBezTo>
                  <a:pt x="1827002" y="36594971"/>
                  <a:pt x="914642" y="36632213"/>
                  <a:pt x="0" y="36615276"/>
                </a:cubicBezTo>
                <a:cubicBezTo>
                  <a:pt x="8467" y="25646460"/>
                  <a:pt x="-957" y="10989556"/>
                  <a:pt x="7510" y="20740"/>
                </a:cubicBezTo>
                <a:close/>
              </a:path>
            </a:pathLst>
          </a:custGeom>
          <a:noFill/>
          <a:ln w="38100">
            <a:solidFill>
              <a:schemeClr val="tx1"/>
            </a:solidFill>
          </a:ln>
        </p:spPr>
        <p:txBody>
          <a:bodyPr wrap="square" rtlCol="0">
            <a:spAutoFit/>
          </a:bodyPr>
          <a:lstStyle/>
          <a:p>
            <a:pPr marL="460375" indent="-460375" algn="ctr">
              <a:lnSpc>
                <a:spcPct val="150000"/>
              </a:lnSpc>
            </a:pPr>
            <a:r>
              <a:rPr lang="en-US" sz="2400" b="1" u="sng" dirty="0">
                <a:latin typeface="Arial" panose="020B0604020202020204" pitchFamily="34" charset="0"/>
                <a:cs typeface="Arial" panose="020B0604020202020204" pitchFamily="34" charset="0"/>
              </a:rPr>
              <a:t>REFERENCES</a:t>
            </a:r>
            <a:endParaRPr lang="en-US" sz="2800" b="1" u="sng"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Harvey, P. H., &amp; Clutton-Brock, T. H. (1985). Life History Variation in Primates. Evolution, 39(3), 559–581. </a:t>
            </a:r>
            <a:r>
              <a:rPr lang="en-US" dirty="0">
                <a:latin typeface="Arial" panose="020B0604020202020204" pitchFamily="34" charset="0"/>
                <a:cs typeface="Arial" panose="020B0604020202020204" pitchFamily="34" charset="0"/>
                <a:hlinkClick r:id="rId2"/>
              </a:rPr>
              <a:t>https://doi.org/10.1111/j.1558-5646.1985.tb00395.x</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Stearns, S. C. (1989). Trade-Offs in Life-History Evolution. Functional Ecology, 3(3), 259. </a:t>
            </a:r>
            <a:r>
              <a:rPr lang="en-US" dirty="0">
                <a:latin typeface="Arial" panose="020B0604020202020204" pitchFamily="34" charset="0"/>
                <a:cs typeface="Arial" panose="020B0604020202020204" pitchFamily="34" charset="0"/>
                <a:hlinkClick r:id="rId3"/>
              </a:rPr>
              <a:t>https://doi.org/10.2307/2389364</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Stott, I., Salguero-Gómez, R., Jones, O. R., et al. (2024). Life histories are not just fast or slow. </a:t>
            </a:r>
            <a:r>
              <a:rPr lang="en-US" i="1" dirty="0">
                <a:latin typeface="Arial" panose="020B0604020202020204" pitchFamily="34" charset="0"/>
                <a:cs typeface="Arial" panose="020B0604020202020204" pitchFamily="34" charset="0"/>
              </a:rPr>
              <a:t>Trends in Ecology &amp; Evolution</a:t>
            </a:r>
            <a:r>
              <a:rPr lang="en-US" dirty="0">
                <a:latin typeface="Arial" panose="020B0604020202020204" pitchFamily="34" charset="0"/>
                <a:cs typeface="Arial" panose="020B0604020202020204" pitchFamily="34" charset="0"/>
              </a:rPr>
              <a:t>, </a:t>
            </a:r>
            <a:r>
              <a:rPr lang="en-US" i="1" dirty="0">
                <a:latin typeface="Arial" panose="020B0604020202020204" pitchFamily="34" charset="0"/>
                <a:cs typeface="Arial" panose="020B0604020202020204" pitchFamily="34" charset="0"/>
              </a:rPr>
              <a:t>39</a:t>
            </a:r>
            <a:r>
              <a:rPr lang="en-US" dirty="0">
                <a:latin typeface="Arial" panose="020B0604020202020204" pitchFamily="34" charset="0"/>
                <a:cs typeface="Arial" panose="020B0604020202020204" pitchFamily="34" charset="0"/>
              </a:rPr>
              <a:t>(9), 830–840. </a:t>
            </a:r>
            <a:r>
              <a:rPr lang="en-US" dirty="0">
                <a:latin typeface="Arial" panose="020B0604020202020204" pitchFamily="34" charset="0"/>
                <a:cs typeface="Arial" panose="020B0604020202020204" pitchFamily="34" charset="0"/>
                <a:hlinkClick r:id="rId4"/>
              </a:rPr>
              <a:t>https://doi.org/10.1016/j.tree.2024.06.001</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err="1">
                <a:latin typeface="Arial" panose="020B0604020202020204" pitchFamily="34" charset="0"/>
                <a:cs typeface="Arial" panose="020B0604020202020204" pitchFamily="34" charset="0"/>
              </a:rPr>
              <a:t>Strier</a:t>
            </a:r>
            <a:r>
              <a:rPr lang="en-US" dirty="0">
                <a:latin typeface="Arial" panose="020B0604020202020204" pitchFamily="34" charset="0"/>
                <a:cs typeface="Arial" panose="020B0604020202020204" pitchFamily="34" charset="0"/>
              </a:rPr>
              <a:t> KB, Altmann J, Brockman DK, et al. (2010) The Primate Life History Database: A unique shared ecological data resource. Methods Ecol Evol., 1(2):199-211. </a:t>
            </a:r>
            <a:r>
              <a:rPr lang="en-US" dirty="0">
                <a:latin typeface="Arial" panose="020B0604020202020204" pitchFamily="34" charset="0"/>
                <a:cs typeface="Arial" panose="020B0604020202020204" pitchFamily="34" charset="0"/>
                <a:hlinkClick r:id="rId5"/>
              </a:rPr>
              <a:t>https://doi.org/10.1111/j.2041-210x.2010.00023.x</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Borries, C., Gordon, A. D., &amp; Koenig, A. (2013). Beware of Primate Life History Data: A Plea for Data Standards and a Repository. PLOS ONE, 8(6), e67200. </a:t>
            </a:r>
            <a:r>
              <a:rPr lang="en-US" u="sng" dirty="0">
                <a:latin typeface="Arial" panose="020B0604020202020204" pitchFamily="34" charset="0"/>
                <a:cs typeface="Arial" panose="020B0604020202020204" pitchFamily="34" charset="0"/>
                <a:hlinkClick r:id="rId6"/>
              </a:rPr>
              <a:t>https://doi.org/10.1371/journal.pone.0067200</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Ernest, S.K.M. (2003), LIFE HISTORY CHARACTERISTICS OF PLACENTAL NONVOLANT MAMMALS. Ecology, 84: 3402-3402. </a:t>
            </a:r>
            <a:r>
              <a:rPr lang="en-US" u="sng" dirty="0">
                <a:latin typeface="Arial" panose="020B0604020202020204" pitchFamily="34" charset="0"/>
                <a:cs typeface="Arial" panose="020B0604020202020204" pitchFamily="34" charset="0"/>
                <a:hlinkClick r:id="rId7"/>
              </a:rPr>
              <a:t>https://doi.org/10.1890/02-9002</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de Magalhães JP, Costa J. A database of vertebrate longevity records and their relation to other life-history traits. J Evol Biol. 2009 Aug;22(8):1770-4. </a:t>
            </a:r>
          </a:p>
          <a:p>
            <a:pPr marL="460375" indent="-460375">
              <a:buFont typeface="+mj-lt"/>
              <a:buAutoNum type="arabicPeriod"/>
            </a:pPr>
            <a:r>
              <a:rPr lang="en-US" dirty="0">
                <a:latin typeface="Arial" panose="020B0604020202020204" pitchFamily="34" charset="0"/>
                <a:cs typeface="Arial" panose="020B0604020202020204" pitchFamily="34" charset="0"/>
              </a:rPr>
              <a:t>de Magalhães, J. P., Abidi, Z., Dos Santos, G. A., et al. (2024) "Human Ageing Genomic Resources: updates on key databases in ageing research." Nucleic Acids Research 52(D1):D900-D908.</a:t>
            </a:r>
          </a:p>
          <a:p>
            <a:pPr marL="460375" indent="-460375">
              <a:buFont typeface="+mj-lt"/>
              <a:buAutoNum type="arabicPeriod"/>
            </a:pPr>
            <a:r>
              <a:rPr lang="en-US" dirty="0">
                <a:latin typeface="Arial" panose="020B0604020202020204" pitchFamily="34" charset="0"/>
                <a:cs typeface="Arial" panose="020B0604020202020204" pitchFamily="34" charset="0"/>
              </a:rPr>
              <a:t>Jones, K. E., Bielby, J., Cardillo, M., et al. (2009). PanTHERIA: A species-level database of life history, ecology, and geography of extant and recently extinct mammals. Ecology, 90(9), 2648–2648. </a:t>
            </a:r>
            <a:r>
              <a:rPr lang="en-US" u="sng" dirty="0">
                <a:latin typeface="Arial" panose="020B0604020202020204" pitchFamily="34" charset="0"/>
                <a:cs typeface="Arial" panose="020B0604020202020204" pitchFamily="34" charset="0"/>
                <a:hlinkClick r:id="rId8"/>
              </a:rPr>
              <a:t>https://doi.org/10.1890/08-1494.1</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Kappeler, P. M., Pereira, M. E., &amp; Schaik, C. P. v. (2003). Primate life histories and socioecology. In P. M. Kappeler &amp; M. E. Pereira (Eds.), </a:t>
            </a:r>
            <a:r>
              <a:rPr lang="en-US" i="1" dirty="0">
                <a:latin typeface="Arial" panose="020B0604020202020204" pitchFamily="34" charset="0"/>
                <a:cs typeface="Arial" panose="020B0604020202020204" pitchFamily="34" charset="0"/>
              </a:rPr>
              <a:t>Primate life histories and socioecology</a:t>
            </a:r>
            <a:r>
              <a:rPr lang="en-US" dirty="0">
                <a:latin typeface="Arial" panose="020B0604020202020204" pitchFamily="34" charset="0"/>
                <a:cs typeface="Arial" panose="020B0604020202020204" pitchFamily="34" charset="0"/>
              </a:rPr>
              <a:t> (pp. 1–20). The University of Chicago Press.</a:t>
            </a:r>
          </a:p>
          <a:p>
            <a:pPr marL="460375" indent="-460375">
              <a:buFont typeface="+mj-lt"/>
              <a:buAutoNum type="arabicPeriod"/>
            </a:pPr>
            <a:r>
              <a:rPr lang="en-US" dirty="0">
                <a:latin typeface="Arial" panose="020B0604020202020204" pitchFamily="34" charset="0"/>
                <a:cs typeface="Arial" panose="020B0604020202020204" pitchFamily="34" charset="0"/>
              </a:rPr>
              <a:t>Myhrvold, N.P., Baldridge, E., Chan, B., et al. (2015), An amniote life-history database to perform comparative analyses with birds, mammals, and reptiles. Ecology, 96: 3109-3109. </a:t>
            </a:r>
            <a:r>
              <a:rPr lang="en-US" dirty="0">
                <a:latin typeface="Arial" panose="020B0604020202020204" pitchFamily="34" charset="0"/>
                <a:cs typeface="Arial" panose="020B0604020202020204" pitchFamily="34" charset="0"/>
                <a:hlinkClick r:id="rId9"/>
              </a:rPr>
              <a:t>https://doi.org/10.1890/15-0846R.1</a:t>
            </a:r>
            <a:endParaRPr lang="en-US" dirty="0">
              <a:latin typeface="Arial" panose="020B0604020202020204" pitchFamily="34" charset="0"/>
              <a:cs typeface="Arial" panose="020B0604020202020204" pitchFamily="34" charset="0"/>
            </a:endParaRPr>
          </a:p>
          <a:p>
            <a:pPr marL="460375" indent="-460375">
              <a:buFont typeface="+mj-lt"/>
              <a:buAutoNum type="arabicPeriod"/>
            </a:pPr>
            <a:r>
              <a:rPr lang="en-US" dirty="0">
                <a:latin typeface="Arial" panose="020B0604020202020204" pitchFamily="34" charset="0"/>
                <a:cs typeface="Arial" panose="020B0604020202020204" pitchFamily="34" charset="0"/>
              </a:rPr>
              <a:t>Mittermeier, R. (2025). 2024-2025 Report of the Primate Specialist Group. In: IUCN SSC and Secretariat. Species: Annual Report of the IUCN Species Survival Commission and Secretariat 2024-2025. Gland, Switzerland: IUCN. 12 pp.</a:t>
            </a:r>
          </a:p>
        </p:txBody>
      </p:sp>
      <p:sp>
        <p:nvSpPr>
          <p:cNvPr id="13" name="TextBox 12">
            <a:extLst>
              <a:ext uri="{FF2B5EF4-FFF2-40B4-BE49-F238E27FC236}">
                <a16:creationId xmlns:a16="http://schemas.microsoft.com/office/drawing/2014/main" id="{73A4B056-3450-05C8-6E30-61A6201AB91E}"/>
              </a:ext>
            </a:extLst>
          </p:cNvPr>
          <p:cNvSpPr txBox="1"/>
          <p:nvPr/>
        </p:nvSpPr>
        <p:spPr>
          <a:xfrm>
            <a:off x="4937613" y="490764"/>
            <a:ext cx="32855890" cy="4292650"/>
          </a:xfrm>
          <a:prstGeom prst="rect">
            <a:avLst/>
          </a:prstGeom>
          <a:noFill/>
          <a:ln w="38100">
            <a:solidFill>
              <a:schemeClr val="tx1"/>
            </a:solidFill>
          </a:ln>
        </p:spPr>
        <p:txBody>
          <a:bodyPr wrap="square" rtlCol="0">
            <a:spAutoFit/>
          </a:bodyPr>
          <a:lstStyle/>
          <a:p>
            <a:pPr marL="457200" algn="ctr">
              <a:lnSpc>
                <a:spcPct val="150000"/>
              </a:lnSpc>
              <a:tabLst>
                <a:tab pos="342900" algn="l"/>
                <a:tab pos="33947100" algn="l"/>
              </a:tabLst>
            </a:pPr>
            <a:r>
              <a:rPr lang="en-US" sz="9600" b="1" dirty="0">
                <a:ln w="6350">
                  <a:noFill/>
                </a:ln>
                <a:latin typeface="Arial" panose="020B0604020202020204" pitchFamily="34" charset="0"/>
                <a:cs typeface="Arial" panose="020B0604020202020204" pitchFamily="34" charset="0"/>
              </a:rPr>
              <a:t>An investigation of primate life-history database quality</a:t>
            </a:r>
          </a:p>
          <a:p>
            <a:pPr marL="457200" algn="ctr">
              <a:lnSpc>
                <a:spcPct val="150000"/>
              </a:lnSpc>
              <a:tabLst>
                <a:tab pos="342900" algn="l"/>
                <a:tab pos="33947100" algn="l"/>
              </a:tabLst>
            </a:pPr>
            <a:r>
              <a:rPr lang="en-US" sz="4800" dirty="0">
                <a:latin typeface="Arial" panose="020B0604020202020204" pitchFamily="34" charset="0"/>
                <a:cs typeface="Arial" panose="020B0604020202020204" pitchFamily="34" charset="0"/>
              </a:rPr>
              <a:t>G. L. Gentry Miller</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Nicole Merullo</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Carolyn Hodges-Simeon</a:t>
            </a:r>
            <a:r>
              <a:rPr lang="en-US" sz="4800" baseline="30000" dirty="0">
                <a:latin typeface="Arial" panose="020B0604020202020204" pitchFamily="34" charset="0"/>
                <a:cs typeface="Arial" panose="020B0604020202020204" pitchFamily="34" charset="0"/>
              </a:rPr>
              <a:t>1</a:t>
            </a:r>
            <a:r>
              <a:rPr lang="en-US" sz="4800" dirty="0">
                <a:latin typeface="Arial" panose="020B0604020202020204" pitchFamily="34" charset="0"/>
                <a:cs typeface="Arial" panose="020B0604020202020204" pitchFamily="34" charset="0"/>
              </a:rPr>
              <a:t>, Benjamin J Finkel</a:t>
            </a:r>
            <a:r>
              <a:rPr lang="en-US" sz="4800" baseline="30000" dirty="0">
                <a:latin typeface="Arial" panose="020B0604020202020204" pitchFamily="34" charset="0"/>
                <a:cs typeface="Arial" panose="020B0604020202020204" pitchFamily="34" charset="0"/>
              </a:rPr>
              <a:t>2</a:t>
            </a:r>
          </a:p>
          <a:p>
            <a:pPr marL="457200" algn="ctr">
              <a:lnSpc>
                <a:spcPct val="150000"/>
              </a:lnSpc>
              <a:tabLst>
                <a:tab pos="342900" algn="l"/>
                <a:tab pos="33947100" algn="l"/>
              </a:tabLst>
            </a:pPr>
            <a:r>
              <a:rPr lang="en-US" sz="4200" i="1" baseline="30000" dirty="0">
                <a:latin typeface="Arial" panose="020B0604020202020204" pitchFamily="34" charset="0"/>
                <a:cs typeface="Arial" panose="020B0604020202020204" pitchFamily="34" charset="0"/>
              </a:rPr>
              <a:t>1</a:t>
            </a:r>
            <a:r>
              <a:rPr lang="en-US" sz="4200" i="1" dirty="0">
                <a:latin typeface="Arial" panose="020B0604020202020204" pitchFamily="34" charset="0"/>
                <a:cs typeface="Arial" panose="020B0604020202020204" pitchFamily="34" charset="0"/>
              </a:rPr>
              <a:t> Department of Anthropology, Boston University, </a:t>
            </a:r>
            <a:r>
              <a:rPr lang="en-US" sz="4200" i="1" baseline="30000" dirty="0">
                <a:latin typeface="Arial" panose="020B0604020202020204" pitchFamily="34" charset="0"/>
                <a:cs typeface="Arial" panose="020B0604020202020204" pitchFamily="34" charset="0"/>
              </a:rPr>
              <a:t>2</a:t>
            </a:r>
            <a:r>
              <a:rPr lang="en-US" sz="4200" i="1" dirty="0">
                <a:latin typeface="Arial" panose="020B0604020202020204" pitchFamily="34" charset="0"/>
                <a:cs typeface="Arial" panose="020B0604020202020204" pitchFamily="34" charset="0"/>
              </a:rPr>
              <a:t> Department of Anthropology, Dartmouth College</a:t>
            </a:r>
            <a:endParaRPr lang="en-US" sz="4200" i="1" baseline="30000" dirty="0">
              <a:latin typeface="Arial" panose="020B0604020202020204" pitchFamily="34" charset="0"/>
              <a:cs typeface="Arial" panose="020B0604020202020204" pitchFamily="34" charset="0"/>
            </a:endParaRPr>
          </a:p>
        </p:txBody>
      </p:sp>
      <p:sp>
        <p:nvSpPr>
          <p:cNvPr id="19" name="TextBox 18">
            <a:extLst>
              <a:ext uri="{FF2B5EF4-FFF2-40B4-BE49-F238E27FC236}">
                <a16:creationId xmlns:a16="http://schemas.microsoft.com/office/drawing/2014/main" id="{DE606C51-76EA-3BA2-671D-EB28B6F34AB3}"/>
              </a:ext>
            </a:extLst>
          </p:cNvPr>
          <p:cNvSpPr txBox="1"/>
          <p:nvPr/>
        </p:nvSpPr>
        <p:spPr>
          <a:xfrm>
            <a:off x="4776819" y="26777302"/>
            <a:ext cx="8686800" cy="11296362"/>
          </a:xfrm>
          <a:custGeom>
            <a:avLst/>
            <a:gdLst>
              <a:gd name="csX0" fmla="*/ 0 w 3881535"/>
              <a:gd name="csY0" fmla="*/ 0 h 18072847"/>
              <a:gd name="csX1" fmla="*/ 3881535 w 3881535"/>
              <a:gd name="csY1" fmla="*/ 0 h 18072847"/>
              <a:gd name="csX2" fmla="*/ 3881535 w 3881535"/>
              <a:gd name="csY2" fmla="*/ 18072847 h 18072847"/>
              <a:gd name="csX3" fmla="*/ 0 w 3881535"/>
              <a:gd name="csY3" fmla="*/ 18072847 h 18072847"/>
              <a:gd name="csX4" fmla="*/ 0 w 3881535"/>
              <a:gd name="csY4" fmla="*/ 0 h 18072847"/>
              <a:gd name="csX0" fmla="*/ 0 w 3881535"/>
              <a:gd name="csY0" fmla="*/ 0 h 29172648"/>
              <a:gd name="csX1" fmla="*/ 3881535 w 3881535"/>
              <a:gd name="csY1" fmla="*/ 0 h 29172648"/>
              <a:gd name="csX2" fmla="*/ 3652935 w 3881535"/>
              <a:gd name="csY2" fmla="*/ 29172648 h 29172648"/>
              <a:gd name="csX3" fmla="*/ 0 w 3881535"/>
              <a:gd name="csY3" fmla="*/ 18072847 h 29172648"/>
              <a:gd name="csX4" fmla="*/ 0 w 3881535"/>
              <a:gd name="csY4" fmla="*/ 0 h 29172648"/>
              <a:gd name="csX0" fmla="*/ 0 w 4008535"/>
              <a:gd name="csY0" fmla="*/ 0 h 32957248"/>
              <a:gd name="csX1" fmla="*/ 3881535 w 4008535"/>
              <a:gd name="csY1" fmla="*/ 0 h 32957248"/>
              <a:gd name="csX2" fmla="*/ 4008535 w 4008535"/>
              <a:gd name="csY2" fmla="*/ 32957248 h 32957248"/>
              <a:gd name="csX3" fmla="*/ 0 w 4008535"/>
              <a:gd name="csY3" fmla="*/ 18072847 h 32957248"/>
              <a:gd name="csX4" fmla="*/ 0 w 4008535"/>
              <a:gd name="csY4" fmla="*/ 0 h 32957248"/>
              <a:gd name="csX0" fmla="*/ 25400 w 4033935"/>
              <a:gd name="csY0" fmla="*/ 0 h 32957248"/>
              <a:gd name="csX1" fmla="*/ 3906935 w 4033935"/>
              <a:gd name="csY1" fmla="*/ 0 h 32957248"/>
              <a:gd name="csX2" fmla="*/ 4033935 w 4033935"/>
              <a:gd name="csY2" fmla="*/ 32957248 h 32957248"/>
              <a:gd name="csX3" fmla="*/ 0 w 4033935"/>
              <a:gd name="csY3" fmla="*/ 32906448 h 32957248"/>
              <a:gd name="csX4" fmla="*/ 25400 w 4033935"/>
              <a:gd name="csY4" fmla="*/ 0 h 32957248"/>
              <a:gd name="csX0" fmla="*/ 25400 w 4033935"/>
              <a:gd name="csY0" fmla="*/ 5486400 h 38443648"/>
              <a:gd name="csX1" fmla="*/ 3957735 w 4033935"/>
              <a:gd name="csY1" fmla="*/ 0 h 38443648"/>
              <a:gd name="csX2" fmla="*/ 4033935 w 4033935"/>
              <a:gd name="csY2" fmla="*/ 38443648 h 38443648"/>
              <a:gd name="csX3" fmla="*/ 0 w 4033935"/>
              <a:gd name="csY3" fmla="*/ 38392848 h 38443648"/>
              <a:gd name="csX4" fmla="*/ 25400 w 4033935"/>
              <a:gd name="csY4" fmla="*/ 5486400 h 38443648"/>
              <a:gd name="csX0" fmla="*/ 101600 w 4033935"/>
              <a:gd name="csY0" fmla="*/ 0 h 38469048"/>
              <a:gd name="csX1" fmla="*/ 3957735 w 4033935"/>
              <a:gd name="csY1" fmla="*/ 25400 h 38469048"/>
              <a:gd name="csX2" fmla="*/ 4033935 w 4033935"/>
              <a:gd name="csY2" fmla="*/ 38469048 h 38469048"/>
              <a:gd name="csX3" fmla="*/ 0 w 4033935"/>
              <a:gd name="csY3" fmla="*/ 38418248 h 38469048"/>
              <a:gd name="csX4" fmla="*/ 101600 w 4033935"/>
              <a:gd name="csY4" fmla="*/ 0 h 38469048"/>
              <a:gd name="csX0" fmla="*/ 101600 w 4033935"/>
              <a:gd name="csY0" fmla="*/ 130910 h 38599958"/>
              <a:gd name="csX1" fmla="*/ 3746720 w 4033935"/>
              <a:gd name="csY1" fmla="*/ 0 h 38599958"/>
              <a:gd name="csX2" fmla="*/ 4033935 w 4033935"/>
              <a:gd name="csY2" fmla="*/ 38599958 h 38599958"/>
              <a:gd name="csX3" fmla="*/ 0 w 4033935"/>
              <a:gd name="csY3" fmla="*/ 38549158 h 38599958"/>
              <a:gd name="csX4" fmla="*/ 101600 w 4033935"/>
              <a:gd name="csY4" fmla="*/ 130910 h 38599958"/>
              <a:gd name="csX0" fmla="*/ 101600 w 3746720"/>
              <a:gd name="csY0" fmla="*/ 130910 h 38549158"/>
              <a:gd name="csX1" fmla="*/ 3746720 w 3746720"/>
              <a:gd name="csY1" fmla="*/ 0 h 38549158"/>
              <a:gd name="csX2" fmla="*/ 3650982 w 3746720"/>
              <a:gd name="csY2" fmla="*/ 36646118 h 38549158"/>
              <a:gd name="csX3" fmla="*/ 0 w 3746720"/>
              <a:gd name="csY3" fmla="*/ 38549158 h 38549158"/>
              <a:gd name="csX4" fmla="*/ 101600 w 3746720"/>
              <a:gd name="csY4" fmla="*/ 130910 h 38549158"/>
              <a:gd name="csX0" fmla="*/ 101600 w 3668567"/>
              <a:gd name="csY0" fmla="*/ 130910 h 38549158"/>
              <a:gd name="csX1" fmla="*/ 3668567 w 3668567"/>
              <a:gd name="csY1" fmla="*/ 0 h 38549158"/>
              <a:gd name="csX2" fmla="*/ 3650982 w 3668567"/>
              <a:gd name="csY2" fmla="*/ 36646118 h 38549158"/>
              <a:gd name="csX3" fmla="*/ 0 w 3668567"/>
              <a:gd name="csY3" fmla="*/ 38549158 h 38549158"/>
              <a:gd name="csX4" fmla="*/ 101600 w 3668567"/>
              <a:gd name="csY4" fmla="*/ 130910 h 38549158"/>
              <a:gd name="csX0" fmla="*/ 53861 w 3620828"/>
              <a:gd name="csY0" fmla="*/ 130910 h 36646118"/>
              <a:gd name="csX1" fmla="*/ 3620828 w 3620828"/>
              <a:gd name="csY1" fmla="*/ 0 h 36646118"/>
              <a:gd name="csX2" fmla="*/ 3603243 w 3620828"/>
              <a:gd name="csY2" fmla="*/ 36646118 h 36646118"/>
              <a:gd name="csX3" fmla="*/ 0 w 3620828"/>
              <a:gd name="csY3" fmla="*/ 36309058 h 36646118"/>
              <a:gd name="csX4" fmla="*/ 53861 w 3620828"/>
              <a:gd name="csY4" fmla="*/ 130910 h 36646118"/>
              <a:gd name="csX0" fmla="*/ 840 w 3567807"/>
              <a:gd name="csY0" fmla="*/ 130910 h 36646118"/>
              <a:gd name="csX1" fmla="*/ 3567807 w 3567807"/>
              <a:gd name="csY1" fmla="*/ 0 h 36646118"/>
              <a:gd name="csX2" fmla="*/ 3550222 w 3567807"/>
              <a:gd name="csY2" fmla="*/ 36646118 h 36646118"/>
              <a:gd name="csX3" fmla="*/ 42459 w 3567807"/>
              <a:gd name="csY3" fmla="*/ 36419228 h 36646118"/>
              <a:gd name="csX4" fmla="*/ 840 w 3567807"/>
              <a:gd name="csY4" fmla="*/ 130910 h 36646118"/>
              <a:gd name="csX0" fmla="*/ 65 w 3567032"/>
              <a:gd name="csY0" fmla="*/ 130910 h 36646118"/>
              <a:gd name="csX1" fmla="*/ 3567032 w 3567032"/>
              <a:gd name="csY1" fmla="*/ 0 h 36646118"/>
              <a:gd name="csX2" fmla="*/ 3549447 w 3567032"/>
              <a:gd name="csY2" fmla="*/ 36646118 h 36646118"/>
              <a:gd name="csX3" fmla="*/ 805520 w 3567032"/>
              <a:gd name="csY3" fmla="*/ 36492678 h 36646118"/>
              <a:gd name="csX4" fmla="*/ 65 w 3567032"/>
              <a:gd name="csY4" fmla="*/ 130910 h 36646118"/>
              <a:gd name="csX0" fmla="*/ 9793 w 2761512"/>
              <a:gd name="csY0" fmla="*/ 20740 h 36646118"/>
              <a:gd name="csX1" fmla="*/ 2761512 w 2761512"/>
              <a:gd name="csY1" fmla="*/ 0 h 36646118"/>
              <a:gd name="csX2" fmla="*/ 2743927 w 2761512"/>
              <a:gd name="csY2" fmla="*/ 36646118 h 36646118"/>
              <a:gd name="csX3" fmla="*/ 0 w 2761512"/>
              <a:gd name="csY3" fmla="*/ 36492678 h 36646118"/>
              <a:gd name="csX4" fmla="*/ 9793 w 2761512"/>
              <a:gd name="csY4" fmla="*/ 20740 h 36646118"/>
            </a:gdLst>
            <a:ahLst/>
            <a:cxnLst>
              <a:cxn ang="0">
                <a:pos x="csX0" y="csY0"/>
              </a:cxn>
              <a:cxn ang="0">
                <a:pos x="csX1" y="csY1"/>
              </a:cxn>
              <a:cxn ang="0">
                <a:pos x="csX2" y="csY2"/>
              </a:cxn>
              <a:cxn ang="0">
                <a:pos x="csX3" y="csY3"/>
              </a:cxn>
              <a:cxn ang="0">
                <a:pos x="csX4" y="csY4"/>
              </a:cxn>
            </a:cxnLst>
            <a:rect l="l" t="t" r="r" b="b"/>
            <a:pathLst>
              <a:path w="2761512" h="36646118">
                <a:moveTo>
                  <a:pt x="9793" y="20740"/>
                </a:moveTo>
                <a:lnTo>
                  <a:pt x="2761512" y="0"/>
                </a:lnTo>
                <a:cubicBezTo>
                  <a:pt x="2755650" y="12215373"/>
                  <a:pt x="2749789" y="24430745"/>
                  <a:pt x="2743927" y="36646118"/>
                </a:cubicBezTo>
                <a:lnTo>
                  <a:pt x="0" y="36492678"/>
                </a:lnTo>
                <a:cubicBezTo>
                  <a:pt x="8467" y="25523862"/>
                  <a:pt x="1326" y="10989556"/>
                  <a:pt x="9793" y="20740"/>
                </a:cubicBezTo>
                <a:close/>
              </a:path>
            </a:pathLst>
          </a:custGeom>
          <a:solidFill>
            <a:schemeClr val="bg1"/>
          </a:solidFill>
          <a:ln w="38100">
            <a:solidFill>
              <a:schemeClr val="tx1"/>
            </a:solidFill>
          </a:ln>
        </p:spPr>
        <p:txBody>
          <a:bodyPr wrap="square" rtlCol="0">
            <a:spAutoFit/>
          </a:bodyPr>
          <a:lstStyle/>
          <a:p>
            <a:pPr algn="ctr">
              <a:lnSpc>
                <a:spcPct val="175000"/>
              </a:lnSpc>
            </a:pPr>
            <a:r>
              <a:rPr lang="en-US" sz="5600" b="1" u="sng" spc="300" dirty="0">
                <a:latin typeface="Arial" panose="020B0604020202020204" pitchFamily="34" charset="0"/>
                <a:cs typeface="Arial" panose="020B0604020202020204" pitchFamily="34" charset="0"/>
              </a:rPr>
              <a:t>METHODS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identified and selected all datasets that included wide life history trait coverage for primates [5].</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compared the structures of the datasets and selected seven key life history characteristics.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compared these datasets using several metrics: </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The presence of values to evaluate missingness</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Taxonomic representation to measure bias in species coverage</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Metadata accessibility and the detail and consistency of variable descriptions</a:t>
            </a:r>
          </a:p>
        </p:txBody>
      </p:sp>
      <p:sp>
        <p:nvSpPr>
          <p:cNvPr id="2" name="TextBox 1">
            <a:extLst>
              <a:ext uri="{FF2B5EF4-FFF2-40B4-BE49-F238E27FC236}">
                <a16:creationId xmlns:a16="http://schemas.microsoft.com/office/drawing/2014/main" id="{49990ABF-3927-BA45-C861-577BCE70BBEB}"/>
              </a:ext>
            </a:extLst>
          </p:cNvPr>
          <p:cNvSpPr txBox="1">
            <a:spLocks/>
          </p:cNvSpPr>
          <p:nvPr/>
        </p:nvSpPr>
        <p:spPr>
          <a:xfrm>
            <a:off x="4786873" y="5024383"/>
            <a:ext cx="8686800" cy="13558520"/>
          </a:xfrm>
          <a:prstGeom prst="rect">
            <a:avLst/>
          </a:prstGeom>
          <a:solidFill>
            <a:schemeClr val="bg1"/>
          </a:solidFill>
          <a:ln w="38100">
            <a:solidFill>
              <a:schemeClr val="tx1"/>
            </a:solidFill>
          </a:ln>
        </p:spPr>
        <p:txBody>
          <a:bodyPr wrap="square" rtlCol="0">
            <a:spAutoFit/>
          </a:bodyPr>
          <a:lstStyle/>
          <a:p>
            <a:pPr algn="ctr">
              <a:lnSpc>
                <a:spcPct val="175000"/>
              </a:lnSpc>
            </a:pPr>
            <a:r>
              <a:rPr lang="en-US" sz="5600" b="1" u="sng" spc="300" dirty="0">
                <a:latin typeface="Arial" panose="020B0604020202020204" pitchFamily="34" charset="0"/>
                <a:cs typeface="Arial" panose="020B0604020202020204" pitchFamily="34" charset="0"/>
              </a:rPr>
              <a:t>INTRODUCTION</a:t>
            </a:r>
          </a:p>
          <a:p>
            <a:pPr marL="457200" indent="-457200">
              <a:lnSpc>
                <a:spcPct val="175000"/>
              </a:lnSpc>
              <a:buFont typeface="Wingdings" panose="05000000000000000000" pitchFamily="2" charset="2"/>
              <a:buChar char="v"/>
            </a:pPr>
            <a:r>
              <a:rPr lang="en-US" sz="2800" b="1" dirty="0">
                <a:latin typeface="Arial" panose="020B0604020202020204" pitchFamily="34" charset="0"/>
                <a:cs typeface="Arial" panose="020B0604020202020204" pitchFamily="34" charset="0"/>
              </a:rPr>
              <a:t>Life history theory </a:t>
            </a:r>
            <a:r>
              <a:rPr lang="en-US" sz="2800" dirty="0">
                <a:latin typeface="Arial" panose="020B0604020202020204" pitchFamily="34" charset="0"/>
                <a:cs typeface="Arial" panose="020B0604020202020204" pitchFamily="34" charset="0"/>
              </a:rPr>
              <a:t>provides us with a lexicon of variables that characterize the timing and durations of growth and reproduction. [1, 2]</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Quantifying life history traits requires </a:t>
            </a:r>
            <a:r>
              <a:rPr lang="en-US" sz="2800" b="1" dirty="0">
                <a:latin typeface="Arial" panose="020B0604020202020204" pitchFamily="34" charset="0"/>
                <a:cs typeface="Arial" panose="020B0604020202020204" pitchFamily="34" charset="0"/>
              </a:rPr>
              <a:t>abundant, high-quality, longitudinal data</a:t>
            </a:r>
            <a:r>
              <a:rPr lang="en-US" sz="2800" dirty="0">
                <a:latin typeface="Arial" panose="020B0604020202020204" pitchFamily="34" charset="0"/>
                <a:cs typeface="Arial" panose="020B0604020202020204" pitchFamily="34" charset="0"/>
              </a:rPr>
              <a:t> to observe and infer species-level rates. [1, 3, 4]</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Life history strategies [3], complicating investigations when </a:t>
            </a:r>
            <a:r>
              <a:rPr lang="en-US" sz="2800" b="1" dirty="0">
                <a:latin typeface="Arial" panose="020B0604020202020204" pitchFamily="34" charset="0"/>
                <a:cs typeface="Arial" panose="020B0604020202020204" pitchFamily="34" charset="0"/>
              </a:rPr>
              <a:t>some traits are unrecorded</a:t>
            </a:r>
            <a:r>
              <a:rPr lang="en-US" sz="2800" dirty="0">
                <a:latin typeface="Arial" panose="020B0604020202020204" pitchFamily="34" charset="0"/>
                <a:cs typeface="Arial" panose="020B0604020202020204" pitchFamily="34" charset="0"/>
              </a:rPr>
              <a:t> for a focal species.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Researchers face consistent </a:t>
            </a:r>
            <a:r>
              <a:rPr lang="en-US" sz="2800" b="1" dirty="0">
                <a:latin typeface="Arial" panose="020B0604020202020204" pitchFamily="34" charset="0"/>
                <a:cs typeface="Arial" panose="020B0604020202020204" pitchFamily="34" charset="0"/>
              </a:rPr>
              <a:t>methodological challenges</a:t>
            </a:r>
            <a:r>
              <a:rPr lang="en-US" sz="2800" dirty="0">
                <a:latin typeface="Arial" panose="020B0604020202020204" pitchFamily="34" charset="0"/>
                <a:cs typeface="Arial" panose="020B0604020202020204" pitchFamily="34" charset="0"/>
              </a:rPr>
              <a:t> in collating LH data for inter-species comparisons [1, 3, 4, 5], such as:</a:t>
            </a:r>
            <a:r>
              <a:rPr lang="en-US" sz="2800" strike="sngStrike" dirty="0">
                <a:latin typeface="Arial" panose="020B0604020202020204" pitchFamily="34" charset="0"/>
                <a:cs typeface="Arial" panose="020B0604020202020204" pitchFamily="34" charset="0"/>
              </a:rPr>
              <a:t> </a:t>
            </a:r>
            <a:r>
              <a:rPr lang="en-US" sz="2800" dirty="0">
                <a:latin typeface="Arial" panose="020B0604020202020204" pitchFamily="34" charset="0"/>
                <a:cs typeface="Arial" panose="020B0604020202020204" pitchFamily="34" charset="0"/>
              </a:rPr>
              <a:t> </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Discrepancies in data quality &amp; trait inclusion</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Taxonomic representation</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Differences in variable definitions</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Choosing appropriate variables for their study</a:t>
            </a:r>
          </a:p>
        </p:txBody>
      </p:sp>
      <p:sp>
        <p:nvSpPr>
          <p:cNvPr id="3" name="TextBox 2">
            <a:extLst>
              <a:ext uri="{FF2B5EF4-FFF2-40B4-BE49-F238E27FC236}">
                <a16:creationId xmlns:a16="http://schemas.microsoft.com/office/drawing/2014/main" id="{D530FF74-573D-9BB9-2173-A600E69DB60E}"/>
              </a:ext>
            </a:extLst>
          </p:cNvPr>
          <p:cNvSpPr txBox="1"/>
          <p:nvPr/>
        </p:nvSpPr>
        <p:spPr>
          <a:xfrm>
            <a:off x="4837518" y="18823872"/>
            <a:ext cx="8626101" cy="7526099"/>
          </a:xfrm>
          <a:prstGeom prst="rect">
            <a:avLst/>
          </a:prstGeom>
          <a:solidFill>
            <a:schemeClr val="bg1"/>
          </a:solidFill>
          <a:ln w="38100">
            <a:solidFill>
              <a:schemeClr val="tx1"/>
            </a:solidFill>
          </a:ln>
        </p:spPr>
        <p:txBody>
          <a:bodyPr wrap="square" rtlCol="0">
            <a:spAutoFit/>
          </a:bodyPr>
          <a:lstStyle/>
          <a:p>
            <a:pPr algn="ctr">
              <a:lnSpc>
                <a:spcPct val="175000"/>
              </a:lnSpc>
            </a:pPr>
            <a:r>
              <a:rPr lang="en-US" sz="5600" b="1" u="sng" spc="300" dirty="0">
                <a:latin typeface="Arial" panose="020B0604020202020204" pitchFamily="34" charset="0"/>
                <a:cs typeface="Arial" panose="020B0604020202020204" pitchFamily="34" charset="0"/>
              </a:rPr>
              <a:t>OBJECTIVES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examine the primate LH characteristics of the Ernest [6], AnAge [7, 8], PanTHERIA [9],  Kappeler &amp; Pereira [10], and Amniotes [11] databases.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address consistency and usage issues for researchers who employ life history data</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To offer recommendations for best practices when using collated primate LH data</a:t>
            </a:r>
          </a:p>
        </p:txBody>
      </p:sp>
      <p:pic>
        <p:nvPicPr>
          <p:cNvPr id="8" name="Picture 7" descr="Unleashing the Power of the Dartmouth Student Mobile App: A Game-Changer  for Campus Life">
            <a:extLst>
              <a:ext uri="{FF2B5EF4-FFF2-40B4-BE49-F238E27FC236}">
                <a16:creationId xmlns:a16="http://schemas.microsoft.com/office/drawing/2014/main" id="{F435002B-F534-E6FF-FBC6-B602EC4F2876}"/>
              </a:ext>
            </a:extLst>
          </p:cNvPr>
          <p:cNvPicPr>
            <a:picLocks noChangeAspect="1"/>
          </p:cNvPicPr>
          <p:nvPr/>
        </p:nvPicPr>
        <p:blipFill>
          <a:blip r:embed="rId10"/>
          <a:stretch>
            <a:fillRect/>
          </a:stretch>
        </p:blipFill>
        <p:spPr>
          <a:xfrm>
            <a:off x="1165021" y="3118858"/>
            <a:ext cx="2310304" cy="1862886"/>
          </a:xfrm>
          <a:prstGeom prst="rect">
            <a:avLst/>
          </a:prstGeom>
          <a:ln w="38100">
            <a:noFill/>
          </a:ln>
        </p:spPr>
      </p:pic>
      <p:pic>
        <p:nvPicPr>
          <p:cNvPr id="9" name="Picture 8" descr="Boston University Logo (BU | 01) - PNG Logo Vector Brand Downloads (SVG,  EPS)">
            <a:extLst>
              <a:ext uri="{FF2B5EF4-FFF2-40B4-BE49-F238E27FC236}">
                <a16:creationId xmlns:a16="http://schemas.microsoft.com/office/drawing/2014/main" id="{66327D06-2B37-B6FF-2092-AEBD08BB5E7E}"/>
              </a:ext>
            </a:extLst>
          </p:cNvPr>
          <p:cNvPicPr>
            <a:picLocks noChangeAspect="1" noChangeArrowheads="1"/>
          </p:cNvPicPr>
          <p:nvPr/>
        </p:nvPicPr>
        <p:blipFill rotWithShape="1">
          <a:blip r:embed="rId11">
            <a:extLst>
              <a:ext uri="{28A0092B-C50C-407E-A947-70E740481C1C}">
                <a14:useLocalDpi xmlns:a14="http://schemas.microsoft.com/office/drawing/2010/main" val="0"/>
              </a:ext>
            </a:extLst>
          </a:blip>
          <a:srcRect l="9821" t="5245" r="9855" b="5017"/>
          <a:stretch>
            <a:fillRect/>
          </a:stretch>
        </p:blipFill>
        <p:spPr bwMode="auto">
          <a:xfrm>
            <a:off x="1165021" y="689094"/>
            <a:ext cx="2310304" cy="1613141"/>
          </a:xfrm>
          <a:prstGeom prst="rect">
            <a:avLst/>
          </a:prstGeom>
          <a:noFill/>
          <a:ln w="38100">
            <a:solidFill>
              <a:schemeClr val="tx1"/>
            </a:solidFill>
          </a:ln>
          <a:extLst>
            <a:ext uri="{909E8E84-426E-40DD-AFC4-6F175D3DCCD1}">
              <a14:hiddenFill xmlns:a14="http://schemas.microsoft.com/office/drawing/2010/main">
                <a:solidFill>
                  <a:srgbClr val="FFFFFF"/>
                </a:solidFill>
              </a14:hiddenFill>
            </a:ext>
          </a:extLst>
        </p:spPr>
      </p:pic>
      <p:pic>
        <p:nvPicPr>
          <p:cNvPr id="33" name="Picture 32">
            <a:extLst>
              <a:ext uri="{FF2B5EF4-FFF2-40B4-BE49-F238E27FC236}">
                <a16:creationId xmlns:a16="http://schemas.microsoft.com/office/drawing/2014/main" id="{B30E7401-8F1B-C119-06FD-2BC3B6E95159}"/>
              </a:ext>
            </a:extLst>
          </p:cNvPr>
          <p:cNvPicPr>
            <a:picLocks noChangeAspect="1"/>
          </p:cNvPicPr>
          <p:nvPr/>
        </p:nvPicPr>
        <p:blipFill>
          <a:blip r:embed="rId12">
            <a:extLst>
              <a:ext uri="{28A0092B-C50C-407E-A947-70E740481C1C}">
                <a14:useLocalDpi xmlns:a14="http://schemas.microsoft.com/office/drawing/2010/main" val="0"/>
              </a:ext>
            </a:extLst>
          </a:blip>
          <a:srcRect t="4" b="4"/>
          <a:stretch/>
        </p:blipFill>
        <p:spPr>
          <a:xfrm>
            <a:off x="13715177" y="10675633"/>
            <a:ext cx="15292691" cy="12801600"/>
          </a:xfrm>
          <a:prstGeom prst="rect">
            <a:avLst/>
          </a:prstGeom>
          <a:ln w="38100">
            <a:solidFill>
              <a:schemeClr val="tx1"/>
            </a:solidFill>
          </a:ln>
        </p:spPr>
      </p:pic>
      <p:sp>
        <p:nvSpPr>
          <p:cNvPr id="36" name="TextBox 35">
            <a:extLst>
              <a:ext uri="{FF2B5EF4-FFF2-40B4-BE49-F238E27FC236}">
                <a16:creationId xmlns:a16="http://schemas.microsoft.com/office/drawing/2014/main" id="{B0C006A3-0555-EF52-B967-80EF11C2D561}"/>
              </a:ext>
            </a:extLst>
          </p:cNvPr>
          <p:cNvSpPr txBox="1"/>
          <p:nvPr/>
        </p:nvSpPr>
        <p:spPr>
          <a:xfrm>
            <a:off x="13645155" y="23520568"/>
            <a:ext cx="15292691" cy="1685846"/>
          </a:xfrm>
          <a:prstGeom prst="rect">
            <a:avLst/>
          </a:prstGeom>
          <a:noFill/>
          <a:ln w="38100">
            <a:noFill/>
          </a:ln>
        </p:spPr>
        <p:txBody>
          <a:bodyPr wrap="square" rtlCol="0">
            <a:spAutoFit/>
          </a:bodyPr>
          <a:lstStyle/>
          <a:p>
            <a:pPr>
              <a:lnSpc>
                <a:spcPct val="150000"/>
              </a:lnSpc>
            </a:pPr>
            <a:r>
              <a:rPr lang="en-US" sz="2400" b="1" dirty="0">
                <a:latin typeface="Arial" panose="020B0604020202020204" pitchFamily="34" charset="0"/>
                <a:cs typeface="Arial" panose="020B0604020202020204" pitchFamily="34" charset="0"/>
              </a:rPr>
              <a:t>Figure 1. </a:t>
            </a:r>
            <a:r>
              <a:rPr lang="en-US" sz="2400" dirty="0">
                <a:latin typeface="Arial" panose="020B0604020202020204" pitchFamily="34" charset="0"/>
                <a:cs typeface="Arial" panose="020B0604020202020204" pitchFamily="34" charset="0"/>
              </a:rPr>
              <a:t>Heat map of missing values for key life history traits across all five databases. Low heat (yellow) signifies few missing values while high heat (red) signifies many missing values. Grey indicates that the trait was not recorded in a particular source.</a:t>
            </a:r>
            <a:r>
              <a:rPr lang="en-US" sz="2400" b="1" dirty="0">
                <a:latin typeface="Arial" panose="020B0604020202020204" pitchFamily="34" charset="0"/>
                <a:cs typeface="Arial" panose="020B0604020202020204" pitchFamily="34" charset="0"/>
              </a:rPr>
              <a:t> </a:t>
            </a:r>
            <a:endParaRPr lang="en-US" sz="2400" dirty="0">
              <a:latin typeface="Arial" panose="020B0604020202020204" pitchFamily="34" charset="0"/>
              <a:cs typeface="Arial" panose="020B0604020202020204" pitchFamily="34" charset="0"/>
            </a:endParaRPr>
          </a:p>
        </p:txBody>
      </p:sp>
      <p:sp>
        <p:nvSpPr>
          <p:cNvPr id="38" name="TextBox 37">
            <a:extLst>
              <a:ext uri="{FF2B5EF4-FFF2-40B4-BE49-F238E27FC236}">
                <a16:creationId xmlns:a16="http://schemas.microsoft.com/office/drawing/2014/main" id="{307BDAD4-9051-79C7-FD33-65CAD4462D63}"/>
              </a:ext>
            </a:extLst>
          </p:cNvPr>
          <p:cNvSpPr txBox="1"/>
          <p:nvPr/>
        </p:nvSpPr>
        <p:spPr>
          <a:xfrm>
            <a:off x="29288702" y="4979210"/>
            <a:ext cx="8686800" cy="15820678"/>
          </a:xfrm>
          <a:prstGeom prst="rect">
            <a:avLst/>
          </a:prstGeom>
          <a:solidFill>
            <a:schemeClr val="bg1"/>
          </a:solidFill>
          <a:ln w="38100">
            <a:solidFill>
              <a:schemeClr val="tx1"/>
            </a:solidFill>
          </a:ln>
        </p:spPr>
        <p:txBody>
          <a:bodyPr wrap="square" rtlCol="0">
            <a:spAutoFit/>
          </a:bodyPr>
          <a:lstStyle/>
          <a:p>
            <a:pPr algn="ctr">
              <a:lnSpc>
                <a:spcPct val="150000"/>
              </a:lnSpc>
            </a:pPr>
            <a:r>
              <a:rPr lang="en-US" sz="5600" b="1" u="sng" spc="300" dirty="0">
                <a:latin typeface="Arial" panose="020B0604020202020204" pitchFamily="34" charset="0"/>
                <a:cs typeface="Arial" panose="020B0604020202020204" pitchFamily="34" charset="0"/>
              </a:rPr>
              <a:t>RESULTS</a:t>
            </a:r>
            <a:endParaRPr lang="en-US" sz="5600" dirty="0">
              <a:latin typeface="Arial" panose="020B0604020202020204" pitchFamily="34" charset="0"/>
              <a:cs typeface="Arial" panose="020B0604020202020204" pitchFamily="34" charset="0"/>
            </a:endParaRPr>
          </a:p>
          <a:p>
            <a:pPr marL="685800"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No dataset represented &gt;</a:t>
            </a:r>
            <a:r>
              <a:rPr lang="en-US" sz="2800" dirty="0">
                <a:solidFill>
                  <a:srgbClr val="FF0000"/>
                </a:solidFill>
                <a:latin typeface="Arial" panose="020B0604020202020204" pitchFamily="34" charset="0"/>
                <a:cs typeface="Arial" panose="020B0604020202020204" pitchFamily="34" charset="0"/>
              </a:rPr>
              <a:t>70% </a:t>
            </a:r>
            <a:r>
              <a:rPr lang="en-US" sz="2800" dirty="0">
                <a:latin typeface="Arial" panose="020B0604020202020204" pitchFamily="34" charset="0"/>
                <a:cs typeface="Arial" panose="020B0604020202020204" pitchFamily="34" charset="0"/>
              </a:rPr>
              <a:t>(376/535) of recognized primate species [12] (</a:t>
            </a:r>
            <a:r>
              <a:rPr lang="en-US" sz="2800" b="1" dirty="0">
                <a:latin typeface="Arial" panose="020B0604020202020204" pitchFamily="34" charset="0"/>
                <a:cs typeface="Arial" panose="020B0604020202020204" pitchFamily="34" charset="0"/>
              </a:rPr>
              <a:t>Table 1</a:t>
            </a:r>
            <a:r>
              <a:rPr lang="en-US" sz="2800" dirty="0">
                <a:latin typeface="Arial" panose="020B0604020202020204" pitchFamily="34" charset="0"/>
                <a:cs typeface="Arial" panose="020B0604020202020204" pitchFamily="34" charset="0"/>
              </a:rPr>
              <a:t>).</a:t>
            </a:r>
          </a:p>
          <a:p>
            <a:pPr marL="685800"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At</a:t>
            </a:r>
            <a:r>
              <a:rPr lang="en-US" sz="2800" dirty="0">
                <a:solidFill>
                  <a:srgbClr val="FF0000"/>
                </a:solidFill>
                <a:latin typeface="Arial" panose="020B0604020202020204" pitchFamily="34" charset="0"/>
                <a:cs typeface="Arial" panose="020B0604020202020204" pitchFamily="34" charset="0"/>
              </a:rPr>
              <a:t> least two</a:t>
            </a:r>
            <a:r>
              <a:rPr lang="en-US" sz="2800" dirty="0">
                <a:latin typeface="Arial" panose="020B0604020202020204" pitchFamily="34" charset="0"/>
                <a:cs typeface="Arial" panose="020B0604020202020204" pitchFamily="34" charset="0"/>
              </a:rPr>
              <a:t> of our key life history traits were not recorded for each dataset. (</a:t>
            </a:r>
            <a:r>
              <a:rPr lang="en-US" sz="2800" b="1" dirty="0">
                <a:latin typeface="Arial" panose="020B0604020202020204" pitchFamily="34" charset="0"/>
                <a:cs typeface="Arial" panose="020B0604020202020204" pitchFamily="34" charset="0"/>
              </a:rPr>
              <a:t>Figure 1</a:t>
            </a:r>
            <a:r>
              <a:rPr lang="en-US" sz="2800" dirty="0">
                <a:latin typeface="Arial" panose="020B0604020202020204" pitchFamily="34" charset="0"/>
                <a:cs typeface="Arial" panose="020B0604020202020204" pitchFamily="34" charset="0"/>
              </a:rPr>
              <a:t>)</a:t>
            </a:r>
          </a:p>
          <a:p>
            <a:pPr marL="685800"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Between datasets, mean proportions of missing values for key traits ranged from </a:t>
            </a:r>
            <a:r>
              <a:rPr lang="en-US" sz="2800" dirty="0">
                <a:solidFill>
                  <a:srgbClr val="FF0000"/>
                </a:solidFill>
                <a:latin typeface="Arial" panose="020B0604020202020204" pitchFamily="34" charset="0"/>
                <a:cs typeface="Arial" panose="020B0604020202020204" pitchFamily="34" charset="0"/>
              </a:rPr>
              <a:t>30.7 to 68.8%. </a:t>
            </a:r>
            <a:r>
              <a:rPr lang="en-US" sz="2800" dirty="0">
                <a:latin typeface="Arial" panose="020B0604020202020204" pitchFamily="34" charset="0"/>
                <a:cs typeface="Arial" panose="020B0604020202020204" pitchFamily="34" charset="0"/>
              </a:rPr>
              <a:t>(</a:t>
            </a:r>
            <a:r>
              <a:rPr lang="en-US" sz="2800" b="1" dirty="0">
                <a:latin typeface="Arial" panose="020B0604020202020204" pitchFamily="34" charset="0"/>
                <a:cs typeface="Arial" panose="020B0604020202020204" pitchFamily="34" charset="0"/>
              </a:rPr>
              <a:t>Figure 1</a:t>
            </a:r>
            <a:r>
              <a:rPr lang="en-US" sz="2800" dirty="0">
                <a:latin typeface="Arial" panose="020B0604020202020204" pitchFamily="34" charset="0"/>
                <a:cs typeface="Arial" panose="020B0604020202020204" pitchFamily="34" charset="0"/>
              </a:rPr>
              <a:t>)</a:t>
            </a:r>
          </a:p>
          <a:p>
            <a:pPr marL="1143000" lvl="1"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Of the traits recorded in multiple datasets, </a:t>
            </a:r>
            <a:r>
              <a:rPr lang="en-US" sz="2800" dirty="0">
                <a:solidFill>
                  <a:srgbClr val="FF0000"/>
                </a:solidFill>
                <a:latin typeface="Arial" panose="020B0604020202020204" pitchFamily="34" charset="0"/>
                <a:cs typeface="Arial" panose="020B0604020202020204" pitchFamily="34" charset="0"/>
              </a:rPr>
              <a:t>AFR was the least complete among pooled data </a:t>
            </a:r>
            <a:r>
              <a:rPr lang="en-US" sz="2800" dirty="0">
                <a:latin typeface="Arial" panose="020B0604020202020204" pitchFamily="34" charset="0"/>
                <a:cs typeface="Arial" panose="020B0604020202020204" pitchFamily="34" charset="0"/>
              </a:rPr>
              <a:t>with a proportion of missing values equal to .653.</a:t>
            </a:r>
          </a:p>
          <a:p>
            <a:pPr marL="685800"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Despite dramatic differences in the number of species recorded, all datasets maintain relatively equal proportions of cladistic representation. (</a:t>
            </a:r>
            <a:r>
              <a:rPr lang="en-US" sz="2800" b="1" dirty="0">
                <a:latin typeface="Arial" panose="020B0604020202020204" pitchFamily="34" charset="0"/>
                <a:cs typeface="Arial" panose="020B0604020202020204" pitchFamily="34" charset="0"/>
              </a:rPr>
              <a:t>Figure 2</a:t>
            </a:r>
            <a:r>
              <a:rPr lang="en-US" sz="2800" dirty="0">
                <a:latin typeface="Arial" panose="020B0604020202020204" pitchFamily="34" charset="0"/>
                <a:cs typeface="Arial" panose="020B0604020202020204" pitchFamily="34" charset="0"/>
              </a:rPr>
              <a:t>)</a:t>
            </a:r>
          </a:p>
          <a:p>
            <a:pPr marL="685800" indent="-6858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Metadata content varied from complete and detailed to largely unavailable. For those with available metadata, quality and detail also varied. (</a:t>
            </a:r>
            <a:r>
              <a:rPr lang="en-US" sz="2800" b="1" dirty="0">
                <a:latin typeface="Arial" panose="020B0604020202020204" pitchFamily="34" charset="0"/>
                <a:cs typeface="Arial" panose="020B0604020202020204" pitchFamily="34" charset="0"/>
              </a:rPr>
              <a:t>Table 2</a:t>
            </a:r>
            <a:r>
              <a:rPr lang="en-US" sz="2800" dirty="0">
                <a:latin typeface="Arial" panose="020B0604020202020204" pitchFamily="34" charset="0"/>
                <a:cs typeface="Arial" panose="020B0604020202020204" pitchFamily="34" charset="0"/>
              </a:rPr>
              <a:t>)</a:t>
            </a:r>
          </a:p>
        </p:txBody>
      </p:sp>
      <p:sp>
        <p:nvSpPr>
          <p:cNvPr id="39" name="TextBox 38">
            <a:extLst>
              <a:ext uri="{FF2B5EF4-FFF2-40B4-BE49-F238E27FC236}">
                <a16:creationId xmlns:a16="http://schemas.microsoft.com/office/drawing/2014/main" id="{4919C69F-CEBD-2D09-7893-35D33E032D80}"/>
              </a:ext>
            </a:extLst>
          </p:cNvPr>
          <p:cNvSpPr txBox="1"/>
          <p:nvPr/>
        </p:nvSpPr>
        <p:spPr>
          <a:xfrm>
            <a:off x="29305203" y="20960325"/>
            <a:ext cx="8686800" cy="17113339"/>
          </a:xfrm>
          <a:prstGeom prst="rect">
            <a:avLst/>
          </a:prstGeom>
          <a:solidFill>
            <a:schemeClr val="bg1"/>
          </a:solidFill>
          <a:ln w="38100">
            <a:solidFill>
              <a:schemeClr val="tx1"/>
            </a:solidFill>
          </a:ln>
        </p:spPr>
        <p:txBody>
          <a:bodyPr wrap="square" rtlCol="0">
            <a:spAutoFit/>
          </a:bodyPr>
          <a:lstStyle/>
          <a:p>
            <a:pPr algn="ctr">
              <a:lnSpc>
                <a:spcPct val="150000"/>
              </a:lnSpc>
            </a:pPr>
            <a:r>
              <a:rPr lang="en-US" sz="5600" b="1" u="sng" spc="300" dirty="0">
                <a:latin typeface="Arial" panose="020B0604020202020204" pitchFamily="34" charset="0"/>
                <a:cs typeface="Arial" panose="020B0604020202020204" pitchFamily="34" charset="0"/>
              </a:rPr>
              <a:t>DISCUSSION</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Existing datasets lack consistency in which traits and species are included and how traits are defined and measured.</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Ex: Amniotes [11] and AnAge [7, 8] divide ASM by sex class, but not PanTHERIA [9]. Ernest [6] and Kappeler &amp; Pereira [12] record AFR instead.</a:t>
            </a:r>
          </a:p>
          <a:p>
            <a:pPr marL="914400" lvl="1"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Ex: The Amniotes [11] &amp; PanTHERIA [9] definitions of IBI specify live offspring, while Kappeler &amp; Pereira [12] doesn’t specify; AnAge [7, 8] lacks any description. Ernest [6] does not record data for IBI.</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When collating many datasets, researchers should be aware of redundant data points and inconsistent recording methods.</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When compiling life history data, researchers should maintain thorough and accessible metadata to aid researchers using their dataset.</a:t>
            </a:r>
          </a:p>
          <a:p>
            <a:pPr marL="457200" indent="-457200">
              <a:lnSpc>
                <a:spcPct val="175000"/>
              </a:lnSpc>
              <a:buFont typeface="Wingdings" panose="05000000000000000000" pitchFamily="2" charset="2"/>
              <a:buChar char="v"/>
            </a:pPr>
            <a:r>
              <a:rPr lang="en-US" sz="2800" dirty="0">
                <a:latin typeface="Arial" panose="020B0604020202020204" pitchFamily="34" charset="0"/>
                <a:cs typeface="Arial" panose="020B0604020202020204" pitchFamily="34" charset="0"/>
              </a:rPr>
              <a:t>We must establish protocols for collecting life history data and a standardized repository filled with reliable and accurate data. </a:t>
            </a:r>
          </a:p>
        </p:txBody>
      </p:sp>
      <p:sp>
        <p:nvSpPr>
          <p:cNvPr id="40" name="TextBox 39">
            <a:extLst>
              <a:ext uri="{FF2B5EF4-FFF2-40B4-BE49-F238E27FC236}">
                <a16:creationId xmlns:a16="http://schemas.microsoft.com/office/drawing/2014/main" id="{D8C5C630-D635-5B1C-8E3B-D13CA61E00A6}"/>
              </a:ext>
            </a:extLst>
          </p:cNvPr>
          <p:cNvSpPr txBox="1"/>
          <p:nvPr/>
        </p:nvSpPr>
        <p:spPr>
          <a:xfrm>
            <a:off x="299864" y="30953964"/>
            <a:ext cx="3931921" cy="7185365"/>
          </a:xfrm>
          <a:prstGeom prst="rect">
            <a:avLst/>
          </a:prstGeom>
          <a:noFill/>
          <a:ln w="38100">
            <a:solidFill>
              <a:schemeClr val="tx1"/>
            </a:solidFill>
          </a:ln>
        </p:spPr>
        <p:txBody>
          <a:bodyPr wrap="square" rtlCol="0">
            <a:spAutoFit/>
          </a:bodyPr>
          <a:lstStyle/>
          <a:p>
            <a:pPr algn="ctr">
              <a:lnSpc>
                <a:spcPct val="150000"/>
              </a:lnSpc>
            </a:pPr>
            <a:r>
              <a:rPr lang="en-US" sz="2400" b="1" u="sng" dirty="0">
                <a:latin typeface="Arial" panose="020B0604020202020204" pitchFamily="34" charset="0"/>
                <a:cs typeface="Arial" panose="020B0604020202020204" pitchFamily="34" charset="0"/>
              </a:rPr>
              <a:t>ACKNOWLEDGEMENTS</a:t>
            </a:r>
          </a:p>
          <a:p>
            <a:pPr>
              <a:lnSpc>
                <a:spcPct val="150000"/>
              </a:lnSpc>
            </a:pPr>
            <a:r>
              <a:rPr lang="en-US" sz="2200" dirty="0">
                <a:latin typeface="Arial" panose="020B0604020202020204" pitchFamily="34" charset="0"/>
                <a:cs typeface="Arial" panose="020B0604020202020204" pitchFamily="34" charset="0"/>
              </a:rPr>
              <a:t>Special thanks to Dr. Finkel and Dr. Hodges-Simeon for their continued support and to Nicole Merullo for her commitment and mentorship. We are grateful to Boston University and Dartmouth College, the American Association of Biological Anthropologists (AABA), and the AABA Committee of Diversity for facilitating scientific inquiry. </a:t>
            </a:r>
          </a:p>
        </p:txBody>
      </p:sp>
      <p:pic>
        <p:nvPicPr>
          <p:cNvPr id="11" name="Picture 10">
            <a:extLst>
              <a:ext uri="{FF2B5EF4-FFF2-40B4-BE49-F238E27FC236}">
                <a16:creationId xmlns:a16="http://schemas.microsoft.com/office/drawing/2014/main" id="{3422488E-57F3-7910-F955-AE55A30FD5E9}"/>
              </a:ext>
            </a:extLst>
          </p:cNvPr>
          <p:cNvPicPr>
            <a:picLocks noChangeAspect="1"/>
          </p:cNvPicPr>
          <p:nvPr/>
        </p:nvPicPr>
        <p:blipFill>
          <a:blip r:embed="rId13">
            <a:extLst>
              <a:ext uri="{28A0092B-C50C-407E-A947-70E740481C1C}">
                <a14:useLocalDpi xmlns:a14="http://schemas.microsoft.com/office/drawing/2010/main" val="0"/>
              </a:ext>
            </a:extLst>
          </a:blip>
          <a:srcRect/>
          <a:stretch/>
        </p:blipFill>
        <p:spPr>
          <a:xfrm>
            <a:off x="13645155" y="25416542"/>
            <a:ext cx="15288766" cy="7644383"/>
          </a:xfrm>
          <a:prstGeom prst="rect">
            <a:avLst/>
          </a:prstGeom>
          <a:ln w="38100">
            <a:solidFill>
              <a:schemeClr val="tx1"/>
            </a:solidFill>
          </a:ln>
        </p:spPr>
      </p:pic>
      <p:graphicFrame>
        <p:nvGraphicFramePr>
          <p:cNvPr id="6" name="Table 5">
            <a:extLst>
              <a:ext uri="{FF2B5EF4-FFF2-40B4-BE49-F238E27FC236}">
                <a16:creationId xmlns:a16="http://schemas.microsoft.com/office/drawing/2014/main" id="{210694A0-A394-18DA-555B-5EF8C2E9B080}"/>
              </a:ext>
            </a:extLst>
          </p:cNvPr>
          <p:cNvGraphicFramePr>
            <a:graphicFrameLocks noGrp="1"/>
          </p:cNvGraphicFramePr>
          <p:nvPr>
            <p:extLst>
              <p:ext uri="{D42A27DB-BD31-4B8C-83A1-F6EECF244321}">
                <p14:modId xmlns:p14="http://schemas.microsoft.com/office/powerpoint/2010/main" val="1761672090"/>
              </p:ext>
            </p:extLst>
          </p:nvPr>
        </p:nvGraphicFramePr>
        <p:xfrm>
          <a:off x="13734842" y="6722087"/>
          <a:ext cx="15292691" cy="3718560"/>
        </p:xfrm>
        <a:graphic>
          <a:graphicData uri="http://schemas.openxmlformats.org/drawingml/2006/table">
            <a:tbl>
              <a:tblPr firstRow="1" bandRow="1">
                <a:tableStyleId>{5C22544A-7EE6-4342-B048-85BDC9FD1C3A}</a:tableStyleId>
              </a:tblPr>
              <a:tblGrid>
                <a:gridCol w="2493954">
                  <a:extLst>
                    <a:ext uri="{9D8B030D-6E8A-4147-A177-3AD203B41FA5}">
                      <a16:colId xmlns:a16="http://schemas.microsoft.com/office/drawing/2014/main" val="2495585869"/>
                    </a:ext>
                  </a:extLst>
                </a:gridCol>
                <a:gridCol w="1622375">
                  <a:extLst>
                    <a:ext uri="{9D8B030D-6E8A-4147-A177-3AD203B41FA5}">
                      <a16:colId xmlns:a16="http://schemas.microsoft.com/office/drawing/2014/main" val="984202891"/>
                    </a:ext>
                  </a:extLst>
                </a:gridCol>
                <a:gridCol w="2388497">
                  <a:extLst>
                    <a:ext uri="{9D8B030D-6E8A-4147-A177-3AD203B41FA5}">
                      <a16:colId xmlns:a16="http://schemas.microsoft.com/office/drawing/2014/main" val="1450671555"/>
                    </a:ext>
                  </a:extLst>
                </a:gridCol>
                <a:gridCol w="1969486">
                  <a:extLst>
                    <a:ext uri="{9D8B030D-6E8A-4147-A177-3AD203B41FA5}">
                      <a16:colId xmlns:a16="http://schemas.microsoft.com/office/drawing/2014/main" val="2092606652"/>
                    </a:ext>
                  </a:extLst>
                </a:gridCol>
                <a:gridCol w="2061080">
                  <a:extLst>
                    <a:ext uri="{9D8B030D-6E8A-4147-A177-3AD203B41FA5}">
                      <a16:colId xmlns:a16="http://schemas.microsoft.com/office/drawing/2014/main" val="3671337353"/>
                    </a:ext>
                  </a:extLst>
                </a:gridCol>
                <a:gridCol w="2397627">
                  <a:extLst>
                    <a:ext uri="{9D8B030D-6E8A-4147-A177-3AD203B41FA5}">
                      <a16:colId xmlns:a16="http://schemas.microsoft.com/office/drawing/2014/main" val="1165741138"/>
                    </a:ext>
                  </a:extLst>
                </a:gridCol>
                <a:gridCol w="2359672">
                  <a:extLst>
                    <a:ext uri="{9D8B030D-6E8A-4147-A177-3AD203B41FA5}">
                      <a16:colId xmlns:a16="http://schemas.microsoft.com/office/drawing/2014/main" val="3607082557"/>
                    </a:ext>
                  </a:extLst>
                </a:gridCol>
              </a:tblGrid>
              <a:tr h="578529">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Source</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N species</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P species represented</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Meta-data Score (x/8)</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N LH vars</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P missing values (Key)</a:t>
                      </a:r>
                    </a:p>
                  </a:txBody>
                  <a:tcPr anchor="ctr">
                    <a:solidFill>
                      <a:srgbClr val="8B79EE"/>
                    </a:solidFill>
                  </a:tcPr>
                </a:tc>
                <a:tc>
                  <a:txBody>
                    <a:bodyPr/>
                    <a:lstStyle/>
                    <a:p>
                      <a:pPr algn="ctr"/>
                      <a:r>
                        <a:rPr lang="en-US" sz="2600" b="0" dirty="0">
                          <a:ln w="0">
                            <a:noFill/>
                          </a:ln>
                          <a:solidFill>
                            <a:schemeClr val="bg1"/>
                          </a:solidFill>
                          <a:latin typeface="Arial" panose="020B0604020202020204" pitchFamily="34" charset="0"/>
                          <a:cs typeface="Arial" panose="020B0604020202020204" pitchFamily="34" charset="0"/>
                        </a:rPr>
                        <a:t>P missing values (All)</a:t>
                      </a:r>
                    </a:p>
                  </a:txBody>
                  <a:tcPr anchor="ctr">
                    <a:solidFill>
                      <a:srgbClr val="8B79EE"/>
                    </a:solidFill>
                  </a:tcPr>
                </a:tc>
                <a:extLst>
                  <a:ext uri="{0D108BD9-81ED-4DB2-BD59-A6C34878D82A}">
                    <a16:rowId xmlns:a16="http://schemas.microsoft.com/office/drawing/2014/main" val="3004830895"/>
                  </a:ext>
                </a:extLst>
              </a:tr>
              <a:tr h="366463">
                <a:tc>
                  <a:txBody>
                    <a:bodyPr/>
                    <a:lstStyle/>
                    <a:p>
                      <a:r>
                        <a:rPr lang="en-US" sz="2600" dirty="0">
                          <a:latin typeface="Arial" panose="020B0604020202020204" pitchFamily="34" charset="0"/>
                          <a:cs typeface="Arial" panose="020B0604020202020204" pitchFamily="34" charset="0"/>
                        </a:rPr>
                        <a:t>Amniotes</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365</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.68</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8</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23</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.34</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.54</a:t>
                      </a:r>
                    </a:p>
                  </a:txBody>
                  <a:tcPr>
                    <a:solidFill>
                      <a:srgbClr val="CDCDC1"/>
                    </a:solidFill>
                  </a:tcPr>
                </a:tc>
                <a:extLst>
                  <a:ext uri="{0D108BD9-81ED-4DB2-BD59-A6C34878D82A}">
                    <a16:rowId xmlns:a16="http://schemas.microsoft.com/office/drawing/2014/main" val="1504921128"/>
                  </a:ext>
                </a:extLst>
              </a:tr>
              <a:tr h="366463">
                <a:tc>
                  <a:txBody>
                    <a:bodyPr/>
                    <a:lstStyle/>
                    <a:p>
                      <a:r>
                        <a:rPr lang="en-US" sz="2600" dirty="0">
                          <a:latin typeface="Arial" panose="020B0604020202020204" pitchFamily="34" charset="0"/>
                          <a:cs typeface="Arial" panose="020B0604020202020204" pitchFamily="34" charset="0"/>
                        </a:rPr>
                        <a:t>AnAge</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174</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.33</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19</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.37</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.46</a:t>
                      </a:r>
                    </a:p>
                  </a:txBody>
                  <a:tcPr>
                    <a:solidFill>
                      <a:srgbClr val="CDCDC1"/>
                    </a:solidFill>
                  </a:tcPr>
                </a:tc>
                <a:extLst>
                  <a:ext uri="{0D108BD9-81ED-4DB2-BD59-A6C34878D82A}">
                    <a16:rowId xmlns:a16="http://schemas.microsoft.com/office/drawing/2014/main" val="1182304281"/>
                  </a:ext>
                </a:extLst>
              </a:tr>
              <a:tr h="366463">
                <a:tc>
                  <a:txBody>
                    <a:bodyPr/>
                    <a:lstStyle/>
                    <a:p>
                      <a:r>
                        <a:rPr lang="en-US" sz="2600" dirty="0">
                          <a:latin typeface="Arial" panose="020B0604020202020204" pitchFamily="34" charset="0"/>
                          <a:cs typeface="Arial" panose="020B0604020202020204" pitchFamily="34" charset="0"/>
                        </a:rPr>
                        <a:t>Ernest</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156</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.29</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8</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9</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.31</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.32</a:t>
                      </a:r>
                    </a:p>
                  </a:txBody>
                  <a:tcPr>
                    <a:solidFill>
                      <a:srgbClr val="CDCDC1"/>
                    </a:solidFill>
                  </a:tcPr>
                </a:tc>
                <a:extLst>
                  <a:ext uri="{0D108BD9-81ED-4DB2-BD59-A6C34878D82A}">
                    <a16:rowId xmlns:a16="http://schemas.microsoft.com/office/drawing/2014/main" val="4040463589"/>
                  </a:ext>
                </a:extLst>
              </a:tr>
              <a:tr h="664215">
                <a:tc>
                  <a:txBody>
                    <a:bodyPr/>
                    <a:lstStyle/>
                    <a:p>
                      <a:r>
                        <a:rPr lang="en-US" sz="2600" dirty="0">
                          <a:latin typeface="Arial" panose="020B0604020202020204" pitchFamily="34" charset="0"/>
                          <a:cs typeface="Arial" panose="020B0604020202020204" pitchFamily="34" charset="0"/>
                        </a:rPr>
                        <a:t>Kappeler &amp; Pereira</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310</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.58</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5</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13</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.69</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.76</a:t>
                      </a:r>
                    </a:p>
                  </a:txBody>
                  <a:tcPr>
                    <a:solidFill>
                      <a:srgbClr val="CDCDC1"/>
                    </a:solidFill>
                  </a:tcPr>
                </a:tc>
                <a:extLst>
                  <a:ext uri="{0D108BD9-81ED-4DB2-BD59-A6C34878D82A}">
                    <a16:rowId xmlns:a16="http://schemas.microsoft.com/office/drawing/2014/main" val="3353418559"/>
                  </a:ext>
                </a:extLst>
              </a:tr>
              <a:tr h="366463">
                <a:tc>
                  <a:txBody>
                    <a:bodyPr/>
                    <a:lstStyle/>
                    <a:p>
                      <a:r>
                        <a:rPr lang="en-US" sz="2600" dirty="0">
                          <a:latin typeface="Arial" panose="020B0604020202020204" pitchFamily="34" charset="0"/>
                          <a:cs typeface="Arial" panose="020B0604020202020204" pitchFamily="34" charset="0"/>
                        </a:rPr>
                        <a:t>PanTHERIA</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376</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.70</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7</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29</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.63</a:t>
                      </a:r>
                    </a:p>
                  </a:txBody>
                  <a:tcPr>
                    <a:solidFill>
                      <a:srgbClr val="CDCDC1"/>
                    </a:solidFill>
                  </a:tcPr>
                </a:tc>
                <a:tc>
                  <a:txBody>
                    <a:bodyPr/>
                    <a:lstStyle/>
                    <a:p>
                      <a:r>
                        <a:rPr lang="en-US" sz="2600" dirty="0">
                          <a:latin typeface="Arial" panose="020B0604020202020204" pitchFamily="34" charset="0"/>
                          <a:cs typeface="Arial" panose="020B0604020202020204" pitchFamily="34" charset="0"/>
                        </a:rPr>
                        <a:t>.72</a:t>
                      </a:r>
                    </a:p>
                  </a:txBody>
                  <a:tcPr>
                    <a:solidFill>
                      <a:srgbClr val="CDCDC1"/>
                    </a:solidFill>
                  </a:tcPr>
                </a:tc>
                <a:extLst>
                  <a:ext uri="{0D108BD9-81ED-4DB2-BD59-A6C34878D82A}">
                    <a16:rowId xmlns:a16="http://schemas.microsoft.com/office/drawing/2014/main" val="1345818191"/>
                  </a:ext>
                </a:extLst>
              </a:tr>
            </a:tbl>
          </a:graphicData>
        </a:graphic>
      </p:graphicFrame>
      <p:sp>
        <p:nvSpPr>
          <p:cNvPr id="15" name="TextBox 14">
            <a:extLst>
              <a:ext uri="{FF2B5EF4-FFF2-40B4-BE49-F238E27FC236}">
                <a16:creationId xmlns:a16="http://schemas.microsoft.com/office/drawing/2014/main" id="{D27A7744-9494-CE5D-21E0-EC7C48E39EE3}"/>
              </a:ext>
            </a:extLst>
          </p:cNvPr>
          <p:cNvSpPr txBox="1"/>
          <p:nvPr/>
        </p:nvSpPr>
        <p:spPr>
          <a:xfrm>
            <a:off x="13715177" y="4981744"/>
            <a:ext cx="15312356" cy="1697644"/>
          </a:xfrm>
          <a:prstGeom prst="rect">
            <a:avLst/>
          </a:prstGeom>
          <a:noFill/>
          <a:ln w="38100">
            <a:noFill/>
          </a:ln>
        </p:spPr>
        <p:txBody>
          <a:bodyPr wrap="square" rtlCol="0">
            <a:spAutoFit/>
          </a:bodyPr>
          <a:lstStyle/>
          <a:p>
            <a:pPr>
              <a:lnSpc>
                <a:spcPct val="150000"/>
              </a:lnSpc>
            </a:pPr>
            <a:r>
              <a:rPr lang="en-US" sz="2400" b="1" dirty="0">
                <a:latin typeface="Arial" panose="020B0604020202020204" pitchFamily="34" charset="0"/>
                <a:cs typeface="Arial" panose="020B0604020202020204" pitchFamily="34" charset="0"/>
              </a:rPr>
              <a:t>Table 1. </a:t>
            </a:r>
            <a:r>
              <a:rPr lang="en-US" sz="2400" dirty="0">
                <a:latin typeface="Arial" panose="020B0604020202020204" pitchFamily="34" charset="0"/>
                <a:cs typeface="Arial" panose="020B0604020202020204" pitchFamily="34" charset="0"/>
              </a:rPr>
              <a:t>Descriptive statistics of primate life-history characteristics for each database. AnAge is the only database that is continually updated, with its last update in 2023. Each database has fewer missing values for our selected key life-history traits compared to all recorded statistics.</a:t>
            </a:r>
            <a:endParaRPr lang="en-US" sz="2400" dirty="0"/>
          </a:p>
        </p:txBody>
      </p:sp>
      <p:sp>
        <p:nvSpPr>
          <p:cNvPr id="16" name="TextBox 15">
            <a:extLst>
              <a:ext uri="{FF2B5EF4-FFF2-40B4-BE49-F238E27FC236}">
                <a16:creationId xmlns:a16="http://schemas.microsoft.com/office/drawing/2014/main" id="{93DF6F33-EBCA-A373-C636-B42DAC9A95E5}"/>
              </a:ext>
            </a:extLst>
          </p:cNvPr>
          <p:cNvSpPr txBox="1"/>
          <p:nvPr/>
        </p:nvSpPr>
        <p:spPr>
          <a:xfrm>
            <a:off x="13649080" y="33044787"/>
            <a:ext cx="15288768" cy="577850"/>
          </a:xfrm>
          <a:prstGeom prst="rect">
            <a:avLst/>
          </a:prstGeom>
          <a:noFill/>
          <a:ln w="38100">
            <a:noFill/>
          </a:ln>
        </p:spPr>
        <p:txBody>
          <a:bodyPr wrap="square" rtlCol="0">
            <a:spAutoFit/>
          </a:bodyPr>
          <a:lstStyle/>
          <a:p>
            <a:pPr>
              <a:lnSpc>
                <a:spcPct val="150000"/>
              </a:lnSpc>
            </a:pPr>
            <a:r>
              <a:rPr lang="en-US" sz="2400" b="1" dirty="0">
                <a:latin typeface="Arial" panose="020B0604020202020204" pitchFamily="34" charset="0"/>
                <a:cs typeface="Arial" panose="020B0604020202020204" pitchFamily="34" charset="0"/>
              </a:rPr>
              <a:t>Figure 2. </a:t>
            </a:r>
            <a:r>
              <a:rPr lang="en-US" sz="2400" dirty="0">
                <a:latin typeface="Arial" panose="020B0604020202020204" pitchFamily="34" charset="0"/>
                <a:cs typeface="Arial" panose="020B0604020202020204" pitchFamily="34" charset="0"/>
              </a:rPr>
              <a:t>Relative proportions of different primate clades for each database. </a:t>
            </a:r>
            <a:endParaRPr lang="en-US" sz="2400" b="1" dirty="0">
              <a:latin typeface="Arial" panose="020B0604020202020204" pitchFamily="34" charset="0"/>
              <a:cs typeface="Arial" panose="020B0604020202020204" pitchFamily="34" charset="0"/>
            </a:endParaRPr>
          </a:p>
        </p:txBody>
      </p:sp>
      <p:graphicFrame>
        <p:nvGraphicFramePr>
          <p:cNvPr id="18" name="Table 17">
            <a:extLst>
              <a:ext uri="{FF2B5EF4-FFF2-40B4-BE49-F238E27FC236}">
                <a16:creationId xmlns:a16="http://schemas.microsoft.com/office/drawing/2014/main" id="{89EB3D43-2416-755D-0631-818DB781FAA2}"/>
              </a:ext>
            </a:extLst>
          </p:cNvPr>
          <p:cNvGraphicFramePr>
            <a:graphicFrameLocks noGrp="1"/>
          </p:cNvGraphicFramePr>
          <p:nvPr>
            <p:extLst>
              <p:ext uri="{D42A27DB-BD31-4B8C-83A1-F6EECF244321}">
                <p14:modId xmlns:p14="http://schemas.microsoft.com/office/powerpoint/2010/main" val="208697180"/>
              </p:ext>
            </p:extLst>
          </p:nvPr>
        </p:nvGraphicFramePr>
        <p:xfrm>
          <a:off x="13649080" y="34537984"/>
          <a:ext cx="15378453" cy="3535680"/>
        </p:xfrm>
        <a:graphic>
          <a:graphicData uri="http://schemas.openxmlformats.org/drawingml/2006/table">
            <a:tbl>
              <a:tblPr firstRow="1" bandRow="1">
                <a:tableStyleId>{5C22544A-7EE6-4342-B048-85BDC9FD1C3A}</a:tableStyleId>
              </a:tblPr>
              <a:tblGrid>
                <a:gridCol w="2673708">
                  <a:extLst>
                    <a:ext uri="{9D8B030D-6E8A-4147-A177-3AD203B41FA5}">
                      <a16:colId xmlns:a16="http://schemas.microsoft.com/office/drawing/2014/main" val="2953196259"/>
                    </a:ext>
                  </a:extLst>
                </a:gridCol>
                <a:gridCol w="1800901">
                  <a:extLst>
                    <a:ext uri="{9D8B030D-6E8A-4147-A177-3AD203B41FA5}">
                      <a16:colId xmlns:a16="http://schemas.microsoft.com/office/drawing/2014/main" val="2850544499"/>
                    </a:ext>
                  </a:extLst>
                </a:gridCol>
                <a:gridCol w="4718594">
                  <a:extLst>
                    <a:ext uri="{9D8B030D-6E8A-4147-A177-3AD203B41FA5}">
                      <a16:colId xmlns:a16="http://schemas.microsoft.com/office/drawing/2014/main" val="3719952992"/>
                    </a:ext>
                  </a:extLst>
                </a:gridCol>
                <a:gridCol w="6185250">
                  <a:extLst>
                    <a:ext uri="{9D8B030D-6E8A-4147-A177-3AD203B41FA5}">
                      <a16:colId xmlns:a16="http://schemas.microsoft.com/office/drawing/2014/main" val="569871792"/>
                    </a:ext>
                  </a:extLst>
                </a:gridCol>
              </a:tblGrid>
              <a:tr h="572218">
                <a:tc>
                  <a:txBody>
                    <a:bodyPr/>
                    <a:lstStyle/>
                    <a:p>
                      <a:pPr algn="ctr"/>
                      <a:r>
                        <a:rPr lang="en-US" sz="2600" b="0" dirty="0"/>
                        <a:t>Variable</a:t>
                      </a:r>
                    </a:p>
                  </a:txBody>
                  <a:tcPr anchor="ctr">
                    <a:solidFill>
                      <a:srgbClr val="8B79EE"/>
                    </a:solidFill>
                  </a:tcPr>
                </a:tc>
                <a:tc>
                  <a:txBody>
                    <a:bodyPr/>
                    <a:lstStyle/>
                    <a:p>
                      <a:pPr algn="ctr"/>
                      <a:r>
                        <a:rPr lang="en-US" sz="2600" b="0" dirty="0"/>
                        <a:t>N unit types</a:t>
                      </a:r>
                    </a:p>
                  </a:txBody>
                  <a:tcPr anchor="ctr">
                    <a:solidFill>
                      <a:srgbClr val="8B79EE"/>
                    </a:solidFill>
                  </a:tcPr>
                </a:tc>
                <a:tc>
                  <a:txBody>
                    <a:bodyPr/>
                    <a:lstStyle/>
                    <a:p>
                      <a:pPr algn="ctr"/>
                      <a:r>
                        <a:rPr lang="en-US" sz="2600" b="0" dirty="0"/>
                        <a:t>Description</a:t>
                      </a:r>
                    </a:p>
                  </a:txBody>
                  <a:tcPr anchor="ctr">
                    <a:solidFill>
                      <a:srgbClr val="8B79EE"/>
                    </a:solidFill>
                  </a:tcPr>
                </a:tc>
                <a:tc>
                  <a:txBody>
                    <a:bodyPr/>
                    <a:lstStyle/>
                    <a:p>
                      <a:pPr algn="ctr"/>
                      <a:r>
                        <a:rPr lang="en-US" sz="2600" b="0" dirty="0"/>
                        <a:t>Database Comparison</a:t>
                      </a:r>
                    </a:p>
                  </a:txBody>
                  <a:tcPr anchor="ctr">
                    <a:solidFill>
                      <a:srgbClr val="8B79EE"/>
                    </a:solidFill>
                  </a:tcPr>
                </a:tc>
                <a:extLst>
                  <a:ext uri="{0D108BD9-81ED-4DB2-BD59-A6C34878D82A}">
                    <a16:rowId xmlns:a16="http://schemas.microsoft.com/office/drawing/2014/main" val="120293628"/>
                  </a:ext>
                </a:extLst>
              </a:tr>
              <a:tr h="828730">
                <a:tc>
                  <a:txBody>
                    <a:bodyPr/>
                    <a:lstStyle/>
                    <a:p>
                      <a:r>
                        <a:rPr lang="en-US" sz="2600" b="0" dirty="0"/>
                        <a:t>Weaning Age</a:t>
                      </a:r>
                    </a:p>
                  </a:txBody>
                  <a:tcPr>
                    <a:solidFill>
                      <a:srgbClr val="CDCDC1"/>
                    </a:solidFill>
                  </a:tcPr>
                </a:tc>
                <a:tc>
                  <a:txBody>
                    <a:bodyPr/>
                    <a:lstStyle/>
                    <a:p>
                      <a:pPr algn="ctr"/>
                      <a:r>
                        <a:rPr lang="en-US" sz="2600" b="0" dirty="0"/>
                        <a:t>2</a:t>
                      </a:r>
                    </a:p>
                  </a:txBody>
                  <a:tcPr>
                    <a:solidFill>
                      <a:srgbClr val="CDCDC1"/>
                    </a:solidFill>
                  </a:tcPr>
                </a:tc>
                <a:tc>
                  <a:txBody>
                    <a:bodyPr/>
                    <a:lstStyle/>
                    <a:p>
                      <a:r>
                        <a:rPr lang="en-US" sz="2600" b="0" dirty="0"/>
                        <a:t>Mean duration from birth to solid food transition</a:t>
                      </a:r>
                    </a:p>
                  </a:txBody>
                  <a:tcPr>
                    <a:solidFill>
                      <a:srgbClr val="CDCDC1"/>
                    </a:solidFill>
                  </a:tcPr>
                </a:tc>
                <a:tc>
                  <a:txBody>
                    <a:bodyPr/>
                    <a:lstStyle/>
                    <a:p>
                      <a:r>
                        <a:rPr lang="en-US" sz="2600" b="0" dirty="0"/>
                        <a:t>[2] defines as eating solid food, [7] as first solid food OR last nursing</a:t>
                      </a:r>
                    </a:p>
                  </a:txBody>
                  <a:tcPr>
                    <a:solidFill>
                      <a:srgbClr val="CDCDC1"/>
                    </a:solidFill>
                  </a:tcPr>
                </a:tc>
                <a:extLst>
                  <a:ext uri="{0D108BD9-81ED-4DB2-BD59-A6C34878D82A}">
                    <a16:rowId xmlns:a16="http://schemas.microsoft.com/office/drawing/2014/main" val="1699839922"/>
                  </a:ext>
                </a:extLst>
              </a:tr>
              <a:tr h="828730">
                <a:tc>
                  <a:txBody>
                    <a:bodyPr/>
                    <a:lstStyle/>
                    <a:p>
                      <a:r>
                        <a:rPr lang="en-US" sz="2600" b="0" dirty="0"/>
                        <a:t>IBI</a:t>
                      </a:r>
                    </a:p>
                  </a:txBody>
                  <a:tcPr>
                    <a:solidFill>
                      <a:srgbClr val="CDCDC1"/>
                    </a:solidFill>
                  </a:tcPr>
                </a:tc>
                <a:tc>
                  <a:txBody>
                    <a:bodyPr/>
                    <a:lstStyle/>
                    <a:p>
                      <a:pPr algn="ctr"/>
                      <a:r>
                        <a:rPr lang="en-US" sz="2600" b="0" dirty="0"/>
                        <a:t>4</a:t>
                      </a:r>
                    </a:p>
                  </a:txBody>
                  <a:tcPr>
                    <a:solidFill>
                      <a:srgbClr val="CDCDC1"/>
                    </a:solidFill>
                  </a:tcPr>
                </a:tc>
                <a:tc>
                  <a:txBody>
                    <a:bodyPr/>
                    <a:lstStyle/>
                    <a:p>
                      <a:r>
                        <a:rPr lang="en-US" sz="2600" b="0" dirty="0"/>
                        <a:t>Mean duration between successive births</a:t>
                      </a:r>
                    </a:p>
                  </a:txBody>
                  <a:tcPr>
                    <a:solidFill>
                      <a:srgbClr val="CDCDC1"/>
                    </a:solidFill>
                  </a:tcPr>
                </a:tc>
                <a:tc>
                  <a:txBody>
                    <a:bodyPr/>
                    <a:lstStyle/>
                    <a:p>
                      <a:r>
                        <a:rPr lang="en-US" sz="2600" b="0" dirty="0"/>
                        <a:t>[2] records litters/year, [7] specifies between successful births</a:t>
                      </a:r>
                    </a:p>
                  </a:txBody>
                  <a:tcPr>
                    <a:solidFill>
                      <a:srgbClr val="CDCDC1"/>
                    </a:solidFill>
                  </a:tcPr>
                </a:tc>
                <a:extLst>
                  <a:ext uri="{0D108BD9-81ED-4DB2-BD59-A6C34878D82A}">
                    <a16:rowId xmlns:a16="http://schemas.microsoft.com/office/drawing/2014/main" val="1346406341"/>
                  </a:ext>
                </a:extLst>
              </a:tr>
              <a:tr h="828730">
                <a:tc>
                  <a:txBody>
                    <a:bodyPr/>
                    <a:lstStyle/>
                    <a:p>
                      <a:r>
                        <a:rPr lang="en-US" sz="2600" b="0" dirty="0"/>
                        <a:t>Gestation Length</a:t>
                      </a:r>
                    </a:p>
                  </a:txBody>
                  <a:tcPr>
                    <a:solidFill>
                      <a:srgbClr val="CDCDC1"/>
                    </a:solidFill>
                  </a:tcPr>
                </a:tc>
                <a:tc>
                  <a:txBody>
                    <a:bodyPr/>
                    <a:lstStyle/>
                    <a:p>
                      <a:pPr algn="ctr"/>
                      <a:r>
                        <a:rPr lang="en-US" sz="2600" b="0" dirty="0"/>
                        <a:t>2</a:t>
                      </a:r>
                    </a:p>
                  </a:txBody>
                  <a:tcPr>
                    <a:solidFill>
                      <a:srgbClr val="CDCDC1"/>
                    </a:solidFill>
                  </a:tcPr>
                </a:tc>
                <a:tc>
                  <a:txBody>
                    <a:bodyPr/>
                    <a:lstStyle/>
                    <a:p>
                      <a:r>
                        <a:rPr lang="en-US" sz="2600" b="0" dirty="0"/>
                        <a:t>Mean duration between conception and birth</a:t>
                      </a:r>
                    </a:p>
                  </a:txBody>
                  <a:tcPr>
                    <a:solidFill>
                      <a:srgbClr val="CDCDC1"/>
                    </a:solidFill>
                  </a:tcPr>
                </a:tc>
                <a:tc>
                  <a:txBody>
                    <a:bodyPr/>
                    <a:lstStyle/>
                    <a:p>
                      <a:r>
                        <a:rPr lang="en-US" sz="2600" b="0" dirty="0"/>
                        <a:t>[2] specifies live offspring, [7] specifies “non-inactive” fetal growth</a:t>
                      </a:r>
                    </a:p>
                  </a:txBody>
                  <a:tcPr>
                    <a:solidFill>
                      <a:srgbClr val="CDCDC1"/>
                    </a:solidFill>
                  </a:tcPr>
                </a:tc>
                <a:extLst>
                  <a:ext uri="{0D108BD9-81ED-4DB2-BD59-A6C34878D82A}">
                    <a16:rowId xmlns:a16="http://schemas.microsoft.com/office/drawing/2014/main" val="1869094669"/>
                  </a:ext>
                </a:extLst>
              </a:tr>
            </a:tbl>
          </a:graphicData>
        </a:graphic>
      </p:graphicFrame>
      <p:sp>
        <p:nvSpPr>
          <p:cNvPr id="27" name="TextBox 26">
            <a:extLst>
              <a:ext uri="{FF2B5EF4-FFF2-40B4-BE49-F238E27FC236}">
                <a16:creationId xmlns:a16="http://schemas.microsoft.com/office/drawing/2014/main" id="{B43F7CFC-7592-878E-53F7-EDAD4EDD4DD2}"/>
              </a:ext>
            </a:extLst>
          </p:cNvPr>
          <p:cNvSpPr txBox="1"/>
          <p:nvPr/>
        </p:nvSpPr>
        <p:spPr>
          <a:xfrm>
            <a:off x="13645156" y="33698224"/>
            <a:ext cx="15292691" cy="830997"/>
          </a:xfrm>
          <a:prstGeom prst="rect">
            <a:avLst/>
          </a:prstGeom>
          <a:noFill/>
          <a:ln w="38100">
            <a:noFill/>
          </a:ln>
        </p:spPr>
        <p:txBody>
          <a:bodyPr wrap="square" rtlCol="0">
            <a:spAutoFit/>
          </a:bodyPr>
          <a:lstStyle/>
          <a:p>
            <a:r>
              <a:rPr lang="en-US" sz="2400" b="1" dirty="0">
                <a:latin typeface="Arial" panose="020B0604020202020204" pitchFamily="34" charset="0"/>
                <a:cs typeface="Arial" panose="020B0604020202020204" pitchFamily="34" charset="0"/>
              </a:rPr>
              <a:t>Table 2.</a:t>
            </a:r>
            <a:r>
              <a:rPr lang="en-US" sz="2400" dirty="0">
                <a:latin typeface="Arial" panose="020B0604020202020204" pitchFamily="34" charset="0"/>
                <a:cs typeface="Arial" panose="020B0604020202020204" pitchFamily="34" charset="0"/>
              </a:rPr>
              <a:t> Example discrepancies in how key LH traits are recorded differently between databases. IBI = Inter-birth interval.</a:t>
            </a:r>
            <a:endParaRPr lang="en-US" sz="2400" b="1"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7354875"/>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8123</TotalTime>
  <Words>1489</Words>
  <Application>Microsoft Office PowerPoint</Application>
  <PresentationFormat>Custom</PresentationFormat>
  <Paragraphs>114</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Wingdings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Gentry Miller</dc:creator>
  <cp:lastModifiedBy>Gentry Miller</cp:lastModifiedBy>
  <cp:revision>34</cp:revision>
  <dcterms:created xsi:type="dcterms:W3CDTF">2026-02-18T13:57:43Z</dcterms:created>
  <dcterms:modified xsi:type="dcterms:W3CDTF">2026-03-16T22:52:36Z</dcterms:modified>
</cp:coreProperties>
</file>