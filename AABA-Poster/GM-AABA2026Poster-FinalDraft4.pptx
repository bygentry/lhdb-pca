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38404800" cy="38404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B47AD3-BAA8-1403-BBE9-B16EFDA3DDB7}" name="Gentry Miller" initials="GM" userId="b12f4fb44f4b815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4DEEE"/>
    <a:srgbClr val="C31016"/>
    <a:srgbClr val="CCD2D8"/>
    <a:srgbClr val="E7EA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34" autoAdjust="0"/>
    <p:restoredTop sz="95757" autoAdjust="0"/>
  </p:normalViewPr>
  <p:slideViewPr>
    <p:cSldViewPr snapToGrid="0">
      <p:cViewPr>
        <p:scale>
          <a:sx n="31" d="100"/>
          <a:sy n="31" d="100"/>
        </p:scale>
        <p:origin x="156" y="-3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931723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30819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tint val="82000"/>
                  </a:schemeClr>
                </a:solidFill>
              </a:defRPr>
            </a:lvl1pPr>
            <a:lvl2pPr marL="1920240" indent="0">
              <a:buNone/>
              <a:defRPr sz="8400">
                <a:solidFill>
                  <a:schemeClr val="tx1">
                    <a:tint val="82000"/>
                  </a:schemeClr>
                </a:solidFill>
              </a:defRPr>
            </a:lvl2pPr>
            <a:lvl3pPr marL="3840480" indent="0">
              <a:buNone/>
              <a:defRPr sz="7560">
                <a:solidFill>
                  <a:schemeClr val="tx1">
                    <a:tint val="82000"/>
                  </a:schemeClr>
                </a:solidFill>
              </a:defRPr>
            </a:lvl3pPr>
            <a:lvl4pPr marL="5760720" indent="0">
              <a:buNone/>
              <a:defRPr sz="6720">
                <a:solidFill>
                  <a:schemeClr val="tx1">
                    <a:tint val="82000"/>
                  </a:schemeClr>
                </a:solidFill>
              </a:defRPr>
            </a:lvl4pPr>
            <a:lvl5pPr marL="7680960" indent="0">
              <a:buNone/>
              <a:defRPr sz="6720">
                <a:solidFill>
                  <a:schemeClr val="tx1">
                    <a:tint val="82000"/>
                  </a:schemeClr>
                </a:solidFill>
              </a:defRPr>
            </a:lvl5pPr>
            <a:lvl6pPr marL="9601200" indent="0">
              <a:buNone/>
              <a:defRPr sz="6720">
                <a:solidFill>
                  <a:schemeClr val="tx1">
                    <a:tint val="82000"/>
                  </a:schemeClr>
                </a:solidFill>
              </a:defRPr>
            </a:lvl6pPr>
            <a:lvl7pPr marL="11521440" indent="0">
              <a:buNone/>
              <a:defRPr sz="6720">
                <a:solidFill>
                  <a:schemeClr val="tx1">
                    <a:tint val="82000"/>
                  </a:schemeClr>
                </a:solidFill>
              </a:defRPr>
            </a:lvl7pPr>
            <a:lvl8pPr marL="13441680" indent="0">
              <a:buNone/>
              <a:defRPr sz="6720">
                <a:solidFill>
                  <a:schemeClr val="tx1">
                    <a:tint val="82000"/>
                  </a:schemeClr>
                </a:solidFill>
              </a:defRPr>
            </a:lvl8pPr>
            <a:lvl9pPr marL="15361920" indent="0">
              <a:buNone/>
              <a:defRPr sz="67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9EFA1-6199-496A-BC1D-DE705E3EBA0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646900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19EFA1-6199-496A-BC1D-DE705E3EBA0B}"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65822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19EFA1-6199-496A-BC1D-DE705E3EBA0B}"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07300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19EFA1-6199-496A-BC1D-DE705E3EBA0B}"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9742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9EFA1-6199-496A-BC1D-DE705E3EBA0B}"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507559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97610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67014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405275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836739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82000"/>
                  </a:schemeClr>
                </a:solidFill>
              </a:defRPr>
            </a:lvl1pPr>
          </a:lstStyle>
          <a:p>
            <a:fld id="{0E19EFA1-6199-496A-BC1D-DE705E3EBA0B}" type="datetimeFigureOut">
              <a:rPr lang="en-US" smtClean="0"/>
              <a:t>3/15/2026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82000"/>
                  </a:schemeClr>
                </a:solidFill>
              </a:defRPr>
            </a:lvl1pPr>
          </a:lstStyle>
          <a:p>
            <a:fld id="{D5270E11-5C9F-4FE7-A0AA-0B76F42F7266}" type="slidenum">
              <a:rPr lang="en-US" smtClean="0"/>
              <a:t>‹#›</a:t>
            </a:fld>
            <a:endParaRPr lang="en-US"/>
          </a:p>
        </p:txBody>
      </p:sp>
    </p:spTree>
    <p:extLst>
      <p:ext uri="{BB962C8B-B14F-4D97-AF65-F5344CB8AC3E}">
        <p14:creationId xmlns:p14="http://schemas.microsoft.com/office/powerpoint/2010/main" val="845923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016/j.tree.2024.06.001" TargetMode="External"/><Relationship Id="rId13" Type="http://schemas.openxmlformats.org/officeDocument/2006/relationships/image" Target="../media/image4.png"/><Relationship Id="rId3" Type="http://schemas.openxmlformats.org/officeDocument/2006/relationships/hyperlink" Target="https://doi.org/10.1890/02-9002" TargetMode="External"/><Relationship Id="rId7" Type="http://schemas.openxmlformats.org/officeDocument/2006/relationships/hyperlink" Target="https://doi.org/10.2307/2389364" TargetMode="External"/><Relationship Id="rId12" Type="http://schemas.openxmlformats.org/officeDocument/2006/relationships/image" Target="../media/image3.png"/><Relationship Id="rId2" Type="http://schemas.openxmlformats.org/officeDocument/2006/relationships/hyperlink" Target="https://doi.org/10.1371/journal.pone.0067200" TargetMode="External"/><Relationship Id="rId1" Type="http://schemas.openxmlformats.org/officeDocument/2006/relationships/slideLayout" Target="../slideLayouts/slideLayout7.xml"/><Relationship Id="rId6" Type="http://schemas.openxmlformats.org/officeDocument/2006/relationships/hyperlink" Target="https://doi.org/10.1890/15-0846R.1" TargetMode="External"/><Relationship Id="rId11" Type="http://schemas.openxmlformats.org/officeDocument/2006/relationships/image" Target="../media/image2.jpeg"/><Relationship Id="rId5" Type="http://schemas.openxmlformats.org/officeDocument/2006/relationships/hyperlink" Target="https://doi.org/10.1890/08-1494.1" TargetMode="External"/><Relationship Id="rId10" Type="http://schemas.openxmlformats.org/officeDocument/2006/relationships/image" Target="../media/image1.png"/><Relationship Id="rId4" Type="http://schemas.openxmlformats.org/officeDocument/2006/relationships/hyperlink" Target="https://doi.org/10.1111/j.1558-5646.1985.tb00395.x" TargetMode="External"/><Relationship Id="rId9" Type="http://schemas.openxmlformats.org/officeDocument/2006/relationships/hyperlink" Target="https://doi.org/10.1111/j.2041-210x.2010.00023.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ED290C9-5DB7-45A7-6407-B7A920521685}"/>
              </a:ext>
            </a:extLst>
          </p:cNvPr>
          <p:cNvSpPr/>
          <p:nvPr/>
        </p:nvSpPr>
        <p:spPr>
          <a:xfrm>
            <a:off x="4584700" y="294968"/>
            <a:ext cx="33561717" cy="37970347"/>
          </a:xfrm>
          <a:prstGeom prst="rect">
            <a:avLst/>
          </a:prstGeom>
          <a:solidFill>
            <a:srgbClr val="A4DEEE"/>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402F4D8-F2E4-DFE8-C697-4B3CD7A7D412}"/>
              </a:ext>
            </a:extLst>
          </p:cNvPr>
          <p:cNvSpPr txBox="1"/>
          <p:nvPr/>
        </p:nvSpPr>
        <p:spPr>
          <a:xfrm>
            <a:off x="299864" y="5466463"/>
            <a:ext cx="3931920" cy="24468237"/>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Lst>
            <a:ahLst/>
            <a:cxnLst>
              <a:cxn ang="0">
                <a:pos x="csX0" y="csY0"/>
              </a:cxn>
              <a:cxn ang="0">
                <a:pos x="csX1" y="csY1"/>
              </a:cxn>
              <a:cxn ang="0">
                <a:pos x="csX2" y="csY2"/>
              </a:cxn>
              <a:cxn ang="0">
                <a:pos x="csX3" y="csY3"/>
              </a:cxn>
              <a:cxn ang="0">
                <a:pos x="csX4" y="csY4"/>
              </a:cxn>
            </a:cxnLst>
            <a:rect l="l" t="t" r="r" b="b"/>
            <a:pathLst>
              <a:path w="2759229" h="36646118">
                <a:moveTo>
                  <a:pt x="7510" y="20740"/>
                </a:moveTo>
                <a:lnTo>
                  <a:pt x="2759229" y="0"/>
                </a:lnTo>
                <a:cubicBezTo>
                  <a:pt x="2753367" y="12215373"/>
                  <a:pt x="2747506" y="24430745"/>
                  <a:pt x="2741644" y="36646118"/>
                </a:cubicBezTo>
                <a:cubicBezTo>
                  <a:pt x="1827002" y="36594971"/>
                  <a:pt x="914642" y="36632213"/>
                  <a:pt x="0" y="36615276"/>
                </a:cubicBezTo>
                <a:cubicBezTo>
                  <a:pt x="8467" y="25646460"/>
                  <a:pt x="-957" y="10989556"/>
                  <a:pt x="7510" y="20740"/>
                </a:cubicBezTo>
                <a:close/>
              </a:path>
            </a:pathLst>
          </a:custGeom>
          <a:noFill/>
          <a:ln w="38100">
            <a:solidFill>
              <a:schemeClr val="tx1"/>
            </a:solidFill>
          </a:ln>
        </p:spPr>
        <p:txBody>
          <a:bodyPr wrap="square" rtlCol="0">
            <a:spAutoFit/>
          </a:bodyPr>
          <a:lstStyle/>
          <a:p>
            <a:pPr marL="460375" indent="-460375" algn="ctr">
              <a:lnSpc>
                <a:spcPct val="150000"/>
              </a:lnSpc>
            </a:pPr>
            <a:r>
              <a:rPr lang="en-US" sz="2400" b="1" u="sng" dirty="0">
                <a:latin typeface="Arial" panose="020B0604020202020204" pitchFamily="34" charset="0"/>
                <a:cs typeface="Arial" panose="020B0604020202020204" pitchFamily="34" charset="0"/>
              </a:rPr>
              <a:t>REFERENCES</a:t>
            </a:r>
            <a:endParaRPr lang="en-US" sz="2800" b="1" u="sng"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Borries, C., Gordon, A. D., &amp; Koenig, A. (2013). Beware of Primate Life History Data: A Plea for Data Standards and a Repository. PLOS ONE, 8(6), e67200. </a:t>
            </a:r>
            <a:r>
              <a:rPr lang="en-US" u="sng" dirty="0">
                <a:latin typeface="Arial" panose="020B0604020202020204" pitchFamily="34" charset="0"/>
                <a:cs typeface="Arial" panose="020B0604020202020204" pitchFamily="34" charset="0"/>
                <a:hlinkClick r:id="rId2"/>
              </a:rPr>
              <a:t>https://doi.org/10.1371/journal.pone.0067200</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Ernest, S.K.M. (2003), LIFE HISTORY CHARACTERISTICS OF PLACENTAL NONVOLANT MAMMALS. Ecology, 84: 3402-3402. </a:t>
            </a:r>
            <a:r>
              <a:rPr lang="en-US" u="sng" dirty="0">
                <a:latin typeface="Arial" panose="020B0604020202020204" pitchFamily="34" charset="0"/>
                <a:cs typeface="Arial" panose="020B0604020202020204" pitchFamily="34" charset="0"/>
                <a:hlinkClick r:id="rId3"/>
              </a:rPr>
              <a:t>https://doi.org/10.1890/02-9002</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de Magalhães JP, Costa J. A database of vertebrate longevity records and their relation to other life-history traits. J Evol Biol. 2009 Aug;22(8):1770-4. </a:t>
            </a:r>
          </a:p>
          <a:p>
            <a:pPr marL="460375" indent="-460375">
              <a:buFont typeface="+mj-lt"/>
              <a:buAutoNum type="arabicPeriod"/>
            </a:pPr>
            <a:r>
              <a:rPr lang="en-US" dirty="0">
                <a:latin typeface="Arial" panose="020B0604020202020204" pitchFamily="34" charset="0"/>
                <a:cs typeface="Arial" panose="020B0604020202020204" pitchFamily="34" charset="0"/>
              </a:rPr>
              <a:t>de Magalhães, J. P., Abidi, Z., Dos Santos, G. A., et al. (2024) "Human Ageing Genomic Resources: updates on key databases in ageing research." Nucleic Acids Research 52(D1):D900-D908.</a:t>
            </a:r>
          </a:p>
          <a:p>
            <a:pPr marL="460375" indent="-460375">
              <a:buFont typeface="+mj-lt"/>
              <a:buAutoNum type="arabicPeriod"/>
            </a:pPr>
            <a:r>
              <a:rPr lang="en-US" dirty="0">
                <a:latin typeface="Arial" panose="020B0604020202020204" pitchFamily="34" charset="0"/>
                <a:cs typeface="Arial" panose="020B0604020202020204" pitchFamily="34" charset="0"/>
              </a:rPr>
              <a:t>Harvey, P. H., &amp; Clutton-Brock, T. H. (1985). Life History Variation in Primates. Evolution, 39(3), 559–581. </a:t>
            </a:r>
            <a:r>
              <a:rPr lang="en-US" dirty="0">
                <a:latin typeface="Arial" panose="020B0604020202020204" pitchFamily="34" charset="0"/>
                <a:cs typeface="Arial" panose="020B0604020202020204" pitchFamily="34" charset="0"/>
                <a:hlinkClick r:id="rId4"/>
              </a:rPr>
              <a:t>https://doi.org/10.1111/j.1558-5646.1985.tb00395.x</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Mittermeier, R. (2025). 2024-2025 Report of the Primate Specialist Group. In: IUCN SSC and Secretariat. Species: Annual Report of the IUCN Species Survival Commission and Secretariat 2024-2025. Gland, Switzerland: IUCN. 12 pp.</a:t>
            </a:r>
          </a:p>
          <a:p>
            <a:pPr marL="460375" indent="-460375">
              <a:buFont typeface="+mj-lt"/>
              <a:buAutoNum type="arabicPeriod"/>
            </a:pPr>
            <a:r>
              <a:rPr lang="en-US" dirty="0">
                <a:latin typeface="Arial" panose="020B0604020202020204" pitchFamily="34" charset="0"/>
                <a:cs typeface="Arial" panose="020B0604020202020204" pitchFamily="34" charset="0"/>
              </a:rPr>
              <a:t>Jones, K. E., Bielby, J., Cardillo, M., et al. (2009). PanTHERIA: A species-level database of life history, ecology, and geography of extant and recently extinct mammals. Ecology, 90(9), 2648–2648. </a:t>
            </a:r>
            <a:r>
              <a:rPr lang="en-US" u="sng" dirty="0">
                <a:latin typeface="Arial" panose="020B0604020202020204" pitchFamily="34" charset="0"/>
                <a:cs typeface="Arial" panose="020B0604020202020204" pitchFamily="34" charset="0"/>
                <a:hlinkClick r:id="rId5"/>
              </a:rPr>
              <a:t>https://doi.org/10.1890/08-1494.1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Kappeler, P. M., Pereira, M. E., &amp; Schaik, C. P. v. (2003). Primate life histories and socioecology. In P. M. Kappeler &amp; M. E. Pereira (Eds.), </a:t>
            </a:r>
            <a:r>
              <a:rPr lang="en-US" i="1" dirty="0">
                <a:latin typeface="Arial" panose="020B0604020202020204" pitchFamily="34" charset="0"/>
                <a:cs typeface="Arial" panose="020B0604020202020204" pitchFamily="34" charset="0"/>
              </a:rPr>
              <a:t>Primate life histories and socioecology</a:t>
            </a:r>
            <a:r>
              <a:rPr lang="en-US" dirty="0">
                <a:latin typeface="Arial" panose="020B0604020202020204" pitchFamily="34" charset="0"/>
                <a:cs typeface="Arial" panose="020B0604020202020204" pitchFamily="34" charset="0"/>
              </a:rPr>
              <a:t> (pp. 1–20). The University of Chicago Press.</a:t>
            </a:r>
          </a:p>
          <a:p>
            <a:pPr marL="460375" indent="-460375">
              <a:buFont typeface="+mj-lt"/>
              <a:buAutoNum type="arabicPeriod"/>
            </a:pPr>
            <a:r>
              <a:rPr lang="en-US" dirty="0">
                <a:latin typeface="Arial" panose="020B0604020202020204" pitchFamily="34" charset="0"/>
                <a:cs typeface="Arial" panose="020B0604020202020204" pitchFamily="34" charset="0"/>
              </a:rPr>
              <a:t>Myhrvold, N.P., Baldridge, E., Chan, B., et al. (2015), An amniote life-history database to perform comparative analyses with birds, mammals, and reptiles. Ecology, 96: 3109-3109. </a:t>
            </a:r>
            <a:r>
              <a:rPr lang="en-US" dirty="0">
                <a:latin typeface="Arial" panose="020B0604020202020204" pitchFamily="34" charset="0"/>
                <a:cs typeface="Arial" panose="020B0604020202020204" pitchFamily="34" charset="0"/>
                <a:hlinkClick r:id="rId6"/>
              </a:rPr>
              <a:t>https://doi.org/10.1890/15-0846R.1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Stearns, S. C. (1989). Trade-Offs in Life-History Evolution. Functional Ecology, 3(3), 259. </a:t>
            </a:r>
            <a:r>
              <a:rPr lang="en-US" dirty="0">
                <a:latin typeface="Arial" panose="020B0604020202020204" pitchFamily="34" charset="0"/>
                <a:cs typeface="Arial" panose="020B0604020202020204" pitchFamily="34" charset="0"/>
                <a:hlinkClick r:id="rId7"/>
              </a:rPr>
              <a:t>https://doi.org/10.2307/2389364</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Stott, I., Salguero-Gómez, R., Jones, O. R., et al. (2024). Life histories are not just fast or slow. </a:t>
            </a:r>
            <a:r>
              <a:rPr lang="en-US" i="1" dirty="0">
                <a:latin typeface="Arial" panose="020B0604020202020204" pitchFamily="34" charset="0"/>
                <a:cs typeface="Arial" panose="020B0604020202020204" pitchFamily="34" charset="0"/>
              </a:rPr>
              <a:t>Trends in Ecology &amp; Evolution</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39</a:t>
            </a:r>
            <a:r>
              <a:rPr lang="en-US" dirty="0">
                <a:latin typeface="Arial" panose="020B0604020202020204" pitchFamily="34" charset="0"/>
                <a:cs typeface="Arial" panose="020B0604020202020204" pitchFamily="34" charset="0"/>
              </a:rPr>
              <a:t>(9), 830–840. </a:t>
            </a:r>
            <a:r>
              <a:rPr lang="en-US" dirty="0">
                <a:latin typeface="Arial" panose="020B0604020202020204" pitchFamily="34" charset="0"/>
                <a:cs typeface="Arial" panose="020B0604020202020204" pitchFamily="34" charset="0"/>
                <a:hlinkClick r:id="rId8"/>
              </a:rPr>
              <a:t>https://doi.org/10.1016/j.tree.2024.06.001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err="1">
                <a:latin typeface="Arial" panose="020B0604020202020204" pitchFamily="34" charset="0"/>
                <a:cs typeface="Arial" panose="020B0604020202020204" pitchFamily="34" charset="0"/>
              </a:rPr>
              <a:t>Strier</a:t>
            </a:r>
            <a:r>
              <a:rPr lang="en-US" dirty="0">
                <a:latin typeface="Arial" panose="020B0604020202020204" pitchFamily="34" charset="0"/>
                <a:cs typeface="Arial" panose="020B0604020202020204" pitchFamily="34" charset="0"/>
              </a:rPr>
              <a:t> KB, Altmann J, Brockman DK, et al. (2010) The Primate Life History Database: A unique shared ecological data resource. Methods Ecol Evol., 1(2):199-211. </a:t>
            </a:r>
            <a:r>
              <a:rPr lang="en-US" dirty="0">
                <a:latin typeface="Arial" panose="020B0604020202020204" pitchFamily="34" charset="0"/>
                <a:cs typeface="Arial" panose="020B0604020202020204" pitchFamily="34" charset="0"/>
                <a:hlinkClick r:id="rId9"/>
              </a:rPr>
              <a:t>https://doi.org/10.1111/j.2041-210x.2010.00023.x</a:t>
            </a:r>
            <a:endParaRPr lang="en-US"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3A4B056-3450-05C8-6E30-61A6201AB91E}"/>
              </a:ext>
            </a:extLst>
          </p:cNvPr>
          <p:cNvSpPr txBox="1"/>
          <p:nvPr/>
        </p:nvSpPr>
        <p:spPr>
          <a:xfrm>
            <a:off x="4892224" y="743804"/>
            <a:ext cx="32855890" cy="4292650"/>
          </a:xfrm>
          <a:prstGeom prst="rect">
            <a:avLst/>
          </a:prstGeom>
          <a:noFill/>
          <a:ln w="38100">
            <a:solidFill>
              <a:schemeClr val="tx1"/>
            </a:solidFill>
          </a:ln>
        </p:spPr>
        <p:txBody>
          <a:bodyPr wrap="square" rtlCol="0">
            <a:spAutoFit/>
          </a:bodyPr>
          <a:lstStyle/>
          <a:p>
            <a:pPr marL="457200" algn="ctr">
              <a:lnSpc>
                <a:spcPct val="150000"/>
              </a:lnSpc>
              <a:tabLst>
                <a:tab pos="342900" algn="l"/>
                <a:tab pos="33947100" algn="l"/>
              </a:tabLst>
            </a:pPr>
            <a:r>
              <a:rPr lang="en-US" sz="9600" b="1" dirty="0">
                <a:ln w="6350">
                  <a:noFill/>
                </a:ln>
                <a:latin typeface="Arial" panose="020B0604020202020204" pitchFamily="34" charset="0"/>
                <a:cs typeface="Arial" panose="020B0604020202020204" pitchFamily="34" charset="0"/>
              </a:rPr>
              <a:t>An investigation of primate life-history database quality</a:t>
            </a:r>
          </a:p>
          <a:p>
            <a:pPr marL="457200" algn="ctr">
              <a:lnSpc>
                <a:spcPct val="150000"/>
              </a:lnSpc>
              <a:tabLst>
                <a:tab pos="342900" algn="l"/>
                <a:tab pos="33947100" algn="l"/>
              </a:tabLst>
            </a:pPr>
            <a:r>
              <a:rPr lang="en-US" sz="4800" dirty="0">
                <a:latin typeface="Arial" panose="020B0604020202020204" pitchFamily="34" charset="0"/>
                <a:cs typeface="Arial" panose="020B0604020202020204" pitchFamily="34" charset="0"/>
              </a:rPr>
              <a:t>G. L. Gentry Miller</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Nicole Merullo</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Carolyn Hodges-Simeon</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Benjamin J Finkel</a:t>
            </a:r>
            <a:r>
              <a:rPr lang="en-US" sz="4800" baseline="30000" dirty="0">
                <a:latin typeface="Arial" panose="020B0604020202020204" pitchFamily="34" charset="0"/>
                <a:cs typeface="Arial" panose="020B0604020202020204" pitchFamily="34" charset="0"/>
              </a:rPr>
              <a:t>2</a:t>
            </a:r>
          </a:p>
          <a:p>
            <a:pPr marL="457200" algn="ctr">
              <a:lnSpc>
                <a:spcPct val="150000"/>
              </a:lnSpc>
              <a:tabLst>
                <a:tab pos="342900" algn="l"/>
                <a:tab pos="33947100" algn="l"/>
              </a:tabLst>
            </a:pPr>
            <a:r>
              <a:rPr lang="en-US" sz="4200" i="1" baseline="30000" dirty="0">
                <a:latin typeface="Arial" panose="020B0604020202020204" pitchFamily="34" charset="0"/>
                <a:cs typeface="Arial" panose="020B0604020202020204" pitchFamily="34" charset="0"/>
              </a:rPr>
              <a:t>1</a:t>
            </a:r>
            <a:r>
              <a:rPr lang="en-US" sz="4200" i="1" dirty="0">
                <a:latin typeface="Arial" panose="020B0604020202020204" pitchFamily="34" charset="0"/>
                <a:cs typeface="Arial" panose="020B0604020202020204" pitchFamily="34" charset="0"/>
              </a:rPr>
              <a:t> Department of Anthropology, Boston University, </a:t>
            </a:r>
            <a:r>
              <a:rPr lang="en-US" sz="4200" i="1" baseline="30000" dirty="0">
                <a:latin typeface="Arial" panose="020B0604020202020204" pitchFamily="34" charset="0"/>
                <a:cs typeface="Arial" panose="020B0604020202020204" pitchFamily="34" charset="0"/>
              </a:rPr>
              <a:t>2</a:t>
            </a:r>
            <a:r>
              <a:rPr lang="en-US" sz="4200" i="1" dirty="0">
                <a:latin typeface="Arial" panose="020B0604020202020204" pitchFamily="34" charset="0"/>
                <a:cs typeface="Arial" panose="020B0604020202020204" pitchFamily="34" charset="0"/>
              </a:rPr>
              <a:t> Department of Anthropology, Dartmouth College</a:t>
            </a:r>
            <a:endParaRPr lang="en-US" sz="4200" i="1" baseline="300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DE606C51-76EA-3BA2-671D-EB28B6F34AB3}"/>
              </a:ext>
            </a:extLst>
          </p:cNvPr>
          <p:cNvSpPr txBox="1"/>
          <p:nvPr/>
        </p:nvSpPr>
        <p:spPr>
          <a:xfrm>
            <a:off x="28991530" y="5466463"/>
            <a:ext cx="9022919" cy="20848320"/>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Lst>
            <a:ahLst/>
            <a:cxnLst>
              <a:cxn ang="0">
                <a:pos x="csX0" y="csY0"/>
              </a:cxn>
              <a:cxn ang="0">
                <a:pos x="csX1" y="csY1"/>
              </a:cxn>
              <a:cxn ang="0">
                <a:pos x="csX2" y="csY2"/>
              </a:cxn>
              <a:cxn ang="0">
                <a:pos x="csX3" y="csY3"/>
              </a:cxn>
              <a:cxn ang="0">
                <a:pos x="csX4" y="csY4"/>
              </a:cxn>
            </a:cxnLst>
            <a:rect l="l" t="t" r="r" b="b"/>
            <a:pathLst>
              <a:path w="2761512" h="36646118">
                <a:moveTo>
                  <a:pt x="9793" y="20740"/>
                </a:moveTo>
                <a:lnTo>
                  <a:pt x="2761512" y="0"/>
                </a:lnTo>
                <a:cubicBezTo>
                  <a:pt x="2755650" y="12215373"/>
                  <a:pt x="2749789" y="24430745"/>
                  <a:pt x="2743927" y="36646118"/>
                </a:cubicBezTo>
                <a:lnTo>
                  <a:pt x="0" y="36492678"/>
                </a:lnTo>
                <a:cubicBezTo>
                  <a:pt x="8467" y="25523862"/>
                  <a:pt x="1326" y="10989556"/>
                  <a:pt x="9793" y="20740"/>
                </a:cubicBezTo>
                <a:close/>
              </a:path>
            </a:pathLst>
          </a:cu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METHODS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selected datasets based on those used in [1] and through literature review, choosing [3,4] and [9] because they contain a large range of primary data.</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 structures of the datasets and selected seven key LH traits commonly studied in primates and shared across all or most datasets.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these datasets using three metrics: The presence of values, taxonomic representation, and metadata accessibility and content.</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For each database, we quantified the proportion of values equivalent to “NA” for all available key traits for each species.</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quantified the relative proportions of primate species and compared each database to examine biases in species coverage.</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designed a rubric to objectively score the metadata availability, accessibility, and content of each dataset.</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categorically scored the proportion of variables described by the authors and evaluated the detail of description based on the presence of variable units, measurement type, and citation.</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attempted to validate the division of age of sexual maturity (ASM) into sex classes by comparison to the dimorphism rates of adult body mass using Wilcoxon rank sum and signed rank tests with continuity corrections.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evaluated the difference between ASM and age at first reproduction (AFR) when a species has data for both.</a:t>
            </a:r>
          </a:p>
        </p:txBody>
      </p:sp>
      <p:sp>
        <p:nvSpPr>
          <p:cNvPr id="2" name="TextBox 1">
            <a:extLst>
              <a:ext uri="{FF2B5EF4-FFF2-40B4-BE49-F238E27FC236}">
                <a16:creationId xmlns:a16="http://schemas.microsoft.com/office/drawing/2014/main" id="{49990ABF-3927-BA45-C861-577BCE70BBEB}"/>
              </a:ext>
            </a:extLst>
          </p:cNvPr>
          <p:cNvSpPr txBox="1">
            <a:spLocks noChangeAspect="1"/>
          </p:cNvSpPr>
          <p:nvPr/>
        </p:nvSpPr>
        <p:spPr>
          <a:xfrm>
            <a:off x="4736692" y="5485289"/>
            <a:ext cx="8488295" cy="12292789"/>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INTRODUCTION</a:t>
            </a:r>
          </a:p>
          <a:p>
            <a:pPr marL="457200" indent="-457200">
              <a:lnSpc>
                <a:spcPct val="150000"/>
              </a:lnSpc>
              <a:buFont typeface="Wingdings" panose="05000000000000000000" pitchFamily="2" charset="2"/>
              <a:buChar char="v"/>
            </a:pPr>
            <a:r>
              <a:rPr lang="en-US" sz="2800" b="1" dirty="0">
                <a:latin typeface="Arial" panose="020B0604020202020204" pitchFamily="34" charset="0"/>
                <a:cs typeface="Arial" panose="020B0604020202020204" pitchFamily="34" charset="0"/>
              </a:rPr>
              <a:t>Life history (LH) theory </a:t>
            </a:r>
            <a:r>
              <a:rPr lang="en-US" sz="2800" dirty="0">
                <a:latin typeface="Arial" panose="020B0604020202020204" pitchFamily="34" charset="0"/>
                <a:cs typeface="Arial" panose="020B0604020202020204" pitchFamily="34" charset="0"/>
              </a:rPr>
              <a:t>provides us with a lexicon of variables that characterize the timing and durations of growth and reproduction to maximize fitness. [5, 10]</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Quantifying life history traits requires </a:t>
            </a:r>
            <a:r>
              <a:rPr lang="en-US" sz="2800" b="1" dirty="0">
                <a:latin typeface="Arial" panose="020B0604020202020204" pitchFamily="34" charset="0"/>
                <a:cs typeface="Arial" panose="020B0604020202020204" pitchFamily="34" charset="0"/>
              </a:rPr>
              <a:t>abundant, high-quality, longitudinal data</a:t>
            </a:r>
            <a:r>
              <a:rPr lang="en-US" sz="2800" dirty="0">
                <a:latin typeface="Arial" panose="020B0604020202020204" pitchFamily="34" charset="0"/>
                <a:cs typeface="Arial" panose="020B0604020202020204" pitchFamily="34" charset="0"/>
              </a:rPr>
              <a:t> to observe and infer population-level rates. [5, 11]</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Life history strategies are defined by covariation [11], complicating investigations when </a:t>
            </a:r>
            <a:r>
              <a:rPr lang="en-US" sz="2800" b="1" dirty="0">
                <a:latin typeface="Arial" panose="020B0604020202020204" pitchFamily="34" charset="0"/>
                <a:cs typeface="Arial" panose="020B0604020202020204" pitchFamily="34" charset="0"/>
              </a:rPr>
              <a:t>some traits are unrecorded</a:t>
            </a:r>
            <a:r>
              <a:rPr lang="en-US" sz="2800" dirty="0">
                <a:latin typeface="Arial" panose="020B0604020202020204" pitchFamily="34" charset="0"/>
                <a:cs typeface="Arial" panose="020B0604020202020204" pitchFamily="34" charset="0"/>
              </a:rPr>
              <a:t> for a focal species.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Researchers face consistent </a:t>
            </a:r>
            <a:r>
              <a:rPr lang="en-US" sz="2800" b="1" dirty="0">
                <a:latin typeface="Arial" panose="020B0604020202020204" pitchFamily="34" charset="0"/>
                <a:cs typeface="Arial" panose="020B0604020202020204" pitchFamily="34" charset="0"/>
              </a:rPr>
              <a:t>methodological challenges</a:t>
            </a:r>
            <a:r>
              <a:rPr lang="en-US" sz="2800" dirty="0">
                <a:latin typeface="Arial" panose="020B0604020202020204" pitchFamily="34" charset="0"/>
                <a:cs typeface="Arial" panose="020B0604020202020204" pitchFamily="34" charset="0"/>
              </a:rPr>
              <a:t> in collating LH data for inter-species comparisons [1, 5, 11, 12], such as:</a:t>
            </a:r>
            <a:r>
              <a:rPr lang="en-US" sz="2800" strike="sngStrike"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 </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Access to a substantial taxonomic range</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Differences in variable definitions and units </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Discrepancies in data quality</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Choosing appropriate variables for their study</a:t>
            </a:r>
          </a:p>
        </p:txBody>
      </p:sp>
      <p:sp>
        <p:nvSpPr>
          <p:cNvPr id="3" name="TextBox 2">
            <a:extLst>
              <a:ext uri="{FF2B5EF4-FFF2-40B4-BE49-F238E27FC236}">
                <a16:creationId xmlns:a16="http://schemas.microsoft.com/office/drawing/2014/main" id="{D530FF74-573D-9BB9-2173-A600E69DB60E}"/>
              </a:ext>
            </a:extLst>
          </p:cNvPr>
          <p:cNvSpPr txBox="1"/>
          <p:nvPr/>
        </p:nvSpPr>
        <p:spPr>
          <a:xfrm>
            <a:off x="4736692" y="18038623"/>
            <a:ext cx="8488295" cy="6475812"/>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OBJECTIVES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examine the primate LH characteristics of the Ernest [2], AnAge [3, 4], PanTHERIA [7],  Kappeler &amp; Pereira [8], and Amniotes [9] databases.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address consistency and usage issues for researchers who want to employ life history data</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offer recommendations for best practices when using collated primate LH data</a:t>
            </a:r>
          </a:p>
        </p:txBody>
      </p:sp>
      <p:pic>
        <p:nvPicPr>
          <p:cNvPr id="8" name="Picture 7" descr="Unleashing the Power of the Dartmouth Student Mobile App: A Game-Changer  for Campus Life">
            <a:extLst>
              <a:ext uri="{FF2B5EF4-FFF2-40B4-BE49-F238E27FC236}">
                <a16:creationId xmlns:a16="http://schemas.microsoft.com/office/drawing/2014/main" id="{F435002B-F534-E6FF-FBC6-B602EC4F2876}"/>
              </a:ext>
            </a:extLst>
          </p:cNvPr>
          <p:cNvPicPr>
            <a:picLocks noChangeAspect="1"/>
          </p:cNvPicPr>
          <p:nvPr/>
        </p:nvPicPr>
        <p:blipFill>
          <a:blip r:embed="rId10"/>
          <a:stretch>
            <a:fillRect/>
          </a:stretch>
        </p:blipFill>
        <p:spPr>
          <a:xfrm>
            <a:off x="1165021" y="3118858"/>
            <a:ext cx="2310304" cy="1862886"/>
          </a:xfrm>
          <a:prstGeom prst="rect">
            <a:avLst/>
          </a:prstGeom>
          <a:ln w="38100">
            <a:noFill/>
          </a:ln>
        </p:spPr>
      </p:pic>
      <p:pic>
        <p:nvPicPr>
          <p:cNvPr id="9" name="Picture 8" descr="Boston University Logo (BU | 01) - PNG Logo Vector Brand Downloads (SVG,  EPS)">
            <a:extLst>
              <a:ext uri="{FF2B5EF4-FFF2-40B4-BE49-F238E27FC236}">
                <a16:creationId xmlns:a16="http://schemas.microsoft.com/office/drawing/2014/main" id="{66327D06-2B37-B6FF-2092-AEBD08BB5E7E}"/>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9821" t="5245" r="9855" b="5017"/>
          <a:stretch>
            <a:fillRect/>
          </a:stretch>
        </p:blipFill>
        <p:spPr bwMode="auto">
          <a:xfrm>
            <a:off x="1165021" y="689094"/>
            <a:ext cx="2310304" cy="1613141"/>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B30E7401-8F1B-C119-06FD-2BC3B6E95159}"/>
              </a:ext>
            </a:extLst>
          </p:cNvPr>
          <p:cNvPicPr>
            <a:picLocks noChangeAspect="1"/>
          </p:cNvPicPr>
          <p:nvPr/>
        </p:nvPicPr>
        <p:blipFill>
          <a:blip r:embed="rId12"/>
          <a:srcRect t="576" r="632" b="531"/>
          <a:stretch>
            <a:fillRect/>
          </a:stretch>
        </p:blipFill>
        <p:spPr>
          <a:xfrm>
            <a:off x="13534601" y="5466463"/>
            <a:ext cx="15292691" cy="12801600"/>
          </a:xfrm>
          <a:prstGeom prst="rect">
            <a:avLst/>
          </a:prstGeom>
          <a:ln w="38100">
            <a:solidFill>
              <a:schemeClr val="tx1"/>
            </a:solidFill>
          </a:ln>
        </p:spPr>
      </p:pic>
      <p:sp>
        <p:nvSpPr>
          <p:cNvPr id="36" name="TextBox 35">
            <a:extLst>
              <a:ext uri="{FF2B5EF4-FFF2-40B4-BE49-F238E27FC236}">
                <a16:creationId xmlns:a16="http://schemas.microsoft.com/office/drawing/2014/main" id="{B0C006A3-0555-EF52-B967-80EF11C2D561}"/>
              </a:ext>
            </a:extLst>
          </p:cNvPr>
          <p:cNvSpPr txBox="1"/>
          <p:nvPr/>
        </p:nvSpPr>
        <p:spPr>
          <a:xfrm>
            <a:off x="13574534" y="18167545"/>
            <a:ext cx="15343254" cy="1685846"/>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Figure 1. </a:t>
            </a:r>
            <a:r>
              <a:rPr lang="en-US" sz="2400" dirty="0">
                <a:latin typeface="Arial" panose="020B0604020202020204" pitchFamily="34" charset="0"/>
                <a:cs typeface="Arial" panose="020B0604020202020204" pitchFamily="34" charset="0"/>
              </a:rPr>
              <a:t>Heat map of missing values for key life history traits across all five databases. Low heat (yellow) signifies few missing values while high heat (red) signifies many missing values. Grey indicates that the trait was not recorded in a particular source.</a:t>
            </a:r>
            <a:r>
              <a:rPr lang="en-US" sz="2400" b="1" dirty="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307BDAD4-9051-79C7-FD33-65CAD4462D63}"/>
              </a:ext>
            </a:extLst>
          </p:cNvPr>
          <p:cNvSpPr txBox="1"/>
          <p:nvPr/>
        </p:nvSpPr>
        <p:spPr>
          <a:xfrm>
            <a:off x="15367434" y="25817043"/>
            <a:ext cx="10382467" cy="12292789"/>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RESULTS</a:t>
            </a:r>
            <a:endParaRPr lang="en-US" sz="5600" dirty="0">
              <a:latin typeface="Arial" panose="020B0604020202020204" pitchFamily="34" charset="0"/>
              <a:cs typeface="Arial" panose="020B0604020202020204" pitchFamily="34" charset="0"/>
            </a:endParaRPr>
          </a:p>
          <a:p>
            <a:pPr marL="685800" indent="-6858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No dataset represented more than </a:t>
            </a:r>
            <a:r>
              <a:rPr lang="en-US" sz="2800" dirty="0">
                <a:solidFill>
                  <a:srgbClr val="FF0000"/>
                </a:solidFill>
                <a:latin typeface="Arial" panose="020B0604020202020204" pitchFamily="34" charset="0"/>
                <a:cs typeface="Arial" panose="020B0604020202020204" pitchFamily="34" charset="0"/>
              </a:rPr>
              <a:t>70%</a:t>
            </a:r>
            <a:r>
              <a:rPr lang="en-US" sz="2800" dirty="0">
                <a:latin typeface="Arial" panose="020B0604020202020204" pitchFamily="34" charset="0"/>
                <a:cs typeface="Arial" panose="020B0604020202020204" pitchFamily="34" charset="0"/>
              </a:rPr>
              <a:t> of recognized primate species.</a:t>
            </a:r>
          </a:p>
          <a:p>
            <a:pPr marL="685800" indent="-6858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All</a:t>
            </a:r>
            <a:r>
              <a:rPr lang="en-US" sz="2800" b="1"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datasets did not record </a:t>
            </a:r>
            <a:r>
              <a:rPr lang="en-US" sz="2800" dirty="0">
                <a:solidFill>
                  <a:srgbClr val="FF0000"/>
                </a:solidFill>
                <a:latin typeface="Arial" panose="020B0604020202020204" pitchFamily="34" charset="0"/>
                <a:cs typeface="Arial" panose="020B0604020202020204" pitchFamily="34" charset="0"/>
              </a:rPr>
              <a:t>at least two</a:t>
            </a:r>
            <a:r>
              <a:rPr lang="en-US" sz="2800" dirty="0">
                <a:latin typeface="Arial" panose="020B0604020202020204" pitchFamily="34" charset="0"/>
                <a:cs typeface="Arial" panose="020B0604020202020204" pitchFamily="34" charset="0"/>
              </a:rPr>
              <a:t> of our “key” LH traits.</a:t>
            </a:r>
          </a:p>
          <a:p>
            <a:pPr marL="685800" indent="-6858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Between datasets, mean proportions of missing values for key traits ranged from </a:t>
            </a:r>
            <a:r>
              <a:rPr lang="en-US" sz="2800" dirty="0">
                <a:solidFill>
                  <a:srgbClr val="FF0000"/>
                </a:solidFill>
                <a:latin typeface="Arial" panose="020B0604020202020204" pitchFamily="34" charset="0"/>
                <a:cs typeface="Arial" panose="020B0604020202020204" pitchFamily="34" charset="0"/>
              </a:rPr>
              <a:t>30.7 to 68.8%.</a:t>
            </a:r>
          </a:p>
          <a:p>
            <a:pPr marL="1143000" lvl="1" indent="-6858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[8] demonstrated the highest proportion of missing values</a:t>
            </a:r>
          </a:p>
          <a:p>
            <a:pPr marL="1143000" lvl="1" indent="-6858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Of the traits recorded in multiple datasets, </a:t>
            </a:r>
            <a:r>
              <a:rPr lang="en-US" sz="2800" dirty="0">
                <a:solidFill>
                  <a:srgbClr val="FF0000"/>
                </a:solidFill>
                <a:latin typeface="Arial" panose="020B0604020202020204" pitchFamily="34" charset="0"/>
                <a:cs typeface="Arial" panose="020B0604020202020204" pitchFamily="34" charset="0"/>
              </a:rPr>
              <a:t>AFR was the least complete among pooled data </a:t>
            </a:r>
            <a:r>
              <a:rPr lang="en-US" sz="2800" dirty="0">
                <a:latin typeface="Arial" panose="020B0604020202020204" pitchFamily="34" charset="0"/>
                <a:cs typeface="Arial" panose="020B0604020202020204" pitchFamily="34" charset="0"/>
              </a:rPr>
              <a:t>with a proportion of missing values equal to .653.</a:t>
            </a:r>
          </a:p>
          <a:p>
            <a:pPr marL="685800" indent="-6858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Metadata content varied from complete and detailed to largely unavailable. For those with available metadata, quality and detail also ranged.</a:t>
            </a:r>
          </a:p>
          <a:p>
            <a:pPr marL="685800" indent="-6858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ASM was significantly less dimorphic than adult mass across primates and within species (p &lt; .00001 &amp; p &lt; .001).</a:t>
            </a:r>
          </a:p>
          <a:p>
            <a:pPr marL="685800" indent="-6858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Despite dramatic differences in the number of species recorded, all datasets maintain relatively equal proportions of cladistic representation.</a:t>
            </a:r>
          </a:p>
        </p:txBody>
      </p:sp>
      <p:sp>
        <p:nvSpPr>
          <p:cNvPr id="39" name="TextBox 38">
            <a:extLst>
              <a:ext uri="{FF2B5EF4-FFF2-40B4-BE49-F238E27FC236}">
                <a16:creationId xmlns:a16="http://schemas.microsoft.com/office/drawing/2014/main" id="{4919C69F-CEBD-2D09-7893-35D33E032D80}"/>
              </a:ext>
            </a:extLst>
          </p:cNvPr>
          <p:cNvSpPr txBox="1"/>
          <p:nvPr/>
        </p:nvSpPr>
        <p:spPr>
          <a:xfrm>
            <a:off x="26028186" y="26463374"/>
            <a:ext cx="11914576" cy="11646458"/>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DISCUSSION</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Existing datasets lack consistency in which traits are recorded, which species are included, and how traits are defined and measured.</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 [2], [7], and [8] report AFR while [3,4] and [9] report ASM. Of the 117 species with data for both, AFR is younger than ASM for 82%. </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 IBI descriptions for Amniotes &amp; PanTHERIA specify live offspring, while KP doesn’t specify; AnAge lacks any description of IBI, and Ernest does not record data for IBI.</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When designing a study, researchers should carefully consider which variables to use and how their specific source defines them.</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When collating many datasets, researchers should be aware of redundant data points and inconsistent recording methods.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When compiling life history data, researchers should maintain thorough and accessible metadata to aid researchers using their dataset.</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Going forward, anthropologists must come together to establish LH data collection protocols and a standardized repository filled with reliable and accurate data. </a:t>
            </a:r>
          </a:p>
        </p:txBody>
      </p:sp>
      <p:sp>
        <p:nvSpPr>
          <p:cNvPr id="40" name="TextBox 39">
            <a:extLst>
              <a:ext uri="{FF2B5EF4-FFF2-40B4-BE49-F238E27FC236}">
                <a16:creationId xmlns:a16="http://schemas.microsoft.com/office/drawing/2014/main" id="{D8C5C630-D635-5B1C-8E3B-D13CA61E00A6}"/>
              </a:ext>
            </a:extLst>
          </p:cNvPr>
          <p:cNvSpPr txBox="1"/>
          <p:nvPr/>
        </p:nvSpPr>
        <p:spPr>
          <a:xfrm>
            <a:off x="299864" y="30953964"/>
            <a:ext cx="3931921" cy="7185365"/>
          </a:xfrm>
          <a:prstGeom prst="rect">
            <a:avLst/>
          </a:prstGeom>
          <a:noFill/>
          <a:ln w="38100">
            <a:solidFill>
              <a:schemeClr val="tx1"/>
            </a:solidFill>
          </a:ln>
        </p:spPr>
        <p:txBody>
          <a:bodyPr wrap="square" rtlCol="0">
            <a:spAutoFit/>
          </a:bodyPr>
          <a:lstStyle/>
          <a:p>
            <a:pPr algn="ctr">
              <a:lnSpc>
                <a:spcPct val="150000"/>
              </a:lnSpc>
            </a:pPr>
            <a:r>
              <a:rPr lang="en-US" sz="2400" b="1" u="sng" dirty="0">
                <a:latin typeface="Arial" panose="020B0604020202020204" pitchFamily="34" charset="0"/>
                <a:cs typeface="Arial" panose="020B0604020202020204" pitchFamily="34" charset="0"/>
              </a:rPr>
              <a:t>ACKNOWLEDGEMENTS</a:t>
            </a:r>
          </a:p>
          <a:p>
            <a:pPr>
              <a:lnSpc>
                <a:spcPct val="150000"/>
              </a:lnSpc>
            </a:pPr>
            <a:r>
              <a:rPr lang="en-US" sz="2200" dirty="0">
                <a:latin typeface="Arial" panose="020B0604020202020204" pitchFamily="34" charset="0"/>
                <a:cs typeface="Arial" panose="020B0604020202020204" pitchFamily="34" charset="0"/>
              </a:rPr>
              <a:t>Special thanks to Dr. Finkel and Dr. Hodges-Simeon for their continued support and to Nicole Merullo for her commitment and mentorship. We are grateful to Boston University and Dartmouth College, the American Association of Biological Anthropologists (AABA), and the AABA Committee of Diversity for facilitating scientific inquiry. </a:t>
            </a:r>
          </a:p>
        </p:txBody>
      </p:sp>
      <p:pic>
        <p:nvPicPr>
          <p:cNvPr id="11" name="Picture 10">
            <a:extLst>
              <a:ext uri="{FF2B5EF4-FFF2-40B4-BE49-F238E27FC236}">
                <a16:creationId xmlns:a16="http://schemas.microsoft.com/office/drawing/2014/main" id="{3422488E-57F3-7910-F955-AE55A30FD5E9}"/>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4853236" y="30676005"/>
            <a:ext cx="10119365" cy="6969521"/>
          </a:xfrm>
          <a:prstGeom prst="rect">
            <a:avLst/>
          </a:prstGeom>
          <a:ln w="38100">
            <a:solidFill>
              <a:schemeClr val="tx1"/>
            </a:solidFill>
          </a:ln>
        </p:spPr>
      </p:pic>
      <p:graphicFrame>
        <p:nvGraphicFramePr>
          <p:cNvPr id="6" name="Table 5">
            <a:extLst>
              <a:ext uri="{FF2B5EF4-FFF2-40B4-BE49-F238E27FC236}">
                <a16:creationId xmlns:a16="http://schemas.microsoft.com/office/drawing/2014/main" id="{210694A0-A394-18DA-555B-5EF8C2E9B080}"/>
              </a:ext>
            </a:extLst>
          </p:cNvPr>
          <p:cNvGraphicFramePr>
            <a:graphicFrameLocks noGrp="1"/>
          </p:cNvGraphicFramePr>
          <p:nvPr>
            <p:extLst>
              <p:ext uri="{D42A27DB-BD31-4B8C-83A1-F6EECF244321}">
                <p14:modId xmlns:p14="http://schemas.microsoft.com/office/powerpoint/2010/main" val="267540917"/>
              </p:ext>
            </p:extLst>
          </p:nvPr>
        </p:nvGraphicFramePr>
        <p:xfrm>
          <a:off x="13833349" y="21665104"/>
          <a:ext cx="14843910" cy="3718560"/>
        </p:xfrm>
        <a:graphic>
          <a:graphicData uri="http://schemas.openxmlformats.org/drawingml/2006/table">
            <a:tbl>
              <a:tblPr firstRow="1" bandRow="1">
                <a:tableStyleId>{5C22544A-7EE6-4342-B048-85BDC9FD1C3A}</a:tableStyleId>
              </a:tblPr>
              <a:tblGrid>
                <a:gridCol w="2420766">
                  <a:extLst>
                    <a:ext uri="{9D8B030D-6E8A-4147-A177-3AD203B41FA5}">
                      <a16:colId xmlns:a16="http://schemas.microsoft.com/office/drawing/2014/main" val="2495585869"/>
                    </a:ext>
                  </a:extLst>
                </a:gridCol>
                <a:gridCol w="1574765">
                  <a:extLst>
                    <a:ext uri="{9D8B030D-6E8A-4147-A177-3AD203B41FA5}">
                      <a16:colId xmlns:a16="http://schemas.microsoft.com/office/drawing/2014/main" val="984202891"/>
                    </a:ext>
                  </a:extLst>
                </a:gridCol>
                <a:gridCol w="2318404">
                  <a:extLst>
                    <a:ext uri="{9D8B030D-6E8A-4147-A177-3AD203B41FA5}">
                      <a16:colId xmlns:a16="http://schemas.microsoft.com/office/drawing/2014/main" val="1450671555"/>
                    </a:ext>
                  </a:extLst>
                </a:gridCol>
                <a:gridCol w="1911689">
                  <a:extLst>
                    <a:ext uri="{9D8B030D-6E8A-4147-A177-3AD203B41FA5}">
                      <a16:colId xmlns:a16="http://schemas.microsoft.com/office/drawing/2014/main" val="2092606652"/>
                    </a:ext>
                  </a:extLst>
                </a:gridCol>
                <a:gridCol w="2000595">
                  <a:extLst>
                    <a:ext uri="{9D8B030D-6E8A-4147-A177-3AD203B41FA5}">
                      <a16:colId xmlns:a16="http://schemas.microsoft.com/office/drawing/2014/main" val="3671337353"/>
                    </a:ext>
                  </a:extLst>
                </a:gridCol>
                <a:gridCol w="2327266">
                  <a:extLst>
                    <a:ext uri="{9D8B030D-6E8A-4147-A177-3AD203B41FA5}">
                      <a16:colId xmlns:a16="http://schemas.microsoft.com/office/drawing/2014/main" val="1165741138"/>
                    </a:ext>
                  </a:extLst>
                </a:gridCol>
                <a:gridCol w="2290425">
                  <a:extLst>
                    <a:ext uri="{9D8B030D-6E8A-4147-A177-3AD203B41FA5}">
                      <a16:colId xmlns:a16="http://schemas.microsoft.com/office/drawing/2014/main" val="3607082557"/>
                    </a:ext>
                  </a:extLst>
                </a:gridCol>
              </a:tblGrid>
              <a:tr h="578529">
                <a:tc>
                  <a:txBody>
                    <a:bodyPr/>
                    <a:lstStyle/>
                    <a:p>
                      <a:r>
                        <a:rPr lang="en-US" sz="2600" b="0" dirty="0">
                          <a:latin typeface="Arial" panose="020B0604020202020204" pitchFamily="34" charset="0"/>
                          <a:cs typeface="Arial" panose="020B0604020202020204" pitchFamily="34" charset="0"/>
                        </a:rPr>
                        <a:t>Source</a:t>
                      </a:r>
                    </a:p>
                  </a:txBody>
                  <a:tcPr/>
                </a:tc>
                <a:tc>
                  <a:txBody>
                    <a:bodyPr/>
                    <a:lstStyle/>
                    <a:p>
                      <a:r>
                        <a:rPr lang="en-US" sz="2600" b="0" dirty="0">
                          <a:latin typeface="Arial" panose="020B0604020202020204" pitchFamily="34" charset="0"/>
                          <a:cs typeface="Arial" panose="020B0604020202020204" pitchFamily="34" charset="0"/>
                        </a:rPr>
                        <a:t>N species</a:t>
                      </a:r>
                    </a:p>
                  </a:txBody>
                  <a:tcPr/>
                </a:tc>
                <a:tc>
                  <a:txBody>
                    <a:bodyPr/>
                    <a:lstStyle/>
                    <a:p>
                      <a:r>
                        <a:rPr lang="en-US" sz="2600" b="0" dirty="0">
                          <a:latin typeface="Arial" panose="020B0604020202020204" pitchFamily="34" charset="0"/>
                          <a:cs typeface="Arial" panose="020B0604020202020204" pitchFamily="34" charset="0"/>
                        </a:rPr>
                        <a:t>P species represented</a:t>
                      </a:r>
                    </a:p>
                  </a:txBody>
                  <a:tcPr/>
                </a:tc>
                <a:tc>
                  <a:txBody>
                    <a:bodyPr/>
                    <a:lstStyle/>
                    <a:p>
                      <a:r>
                        <a:rPr lang="en-US" sz="2600" b="0" dirty="0">
                          <a:latin typeface="Arial" panose="020B0604020202020204" pitchFamily="34" charset="0"/>
                          <a:cs typeface="Arial" panose="020B0604020202020204" pitchFamily="34" charset="0"/>
                        </a:rPr>
                        <a:t>Meta-data Score (x/8)</a:t>
                      </a:r>
                    </a:p>
                  </a:txBody>
                  <a:tcPr/>
                </a:tc>
                <a:tc>
                  <a:txBody>
                    <a:bodyPr/>
                    <a:lstStyle/>
                    <a:p>
                      <a:r>
                        <a:rPr lang="en-US" sz="2600" b="0" dirty="0">
                          <a:latin typeface="Arial" panose="020B0604020202020204" pitchFamily="34" charset="0"/>
                          <a:cs typeface="Arial" panose="020B0604020202020204" pitchFamily="34" charset="0"/>
                        </a:rPr>
                        <a:t>N LH vars</a:t>
                      </a:r>
                    </a:p>
                  </a:txBody>
                  <a:tcPr/>
                </a:tc>
                <a:tc>
                  <a:txBody>
                    <a:bodyPr/>
                    <a:lstStyle/>
                    <a:p>
                      <a:r>
                        <a:rPr lang="en-US" sz="2600" b="0" dirty="0">
                          <a:latin typeface="Arial" panose="020B0604020202020204" pitchFamily="34" charset="0"/>
                          <a:cs typeface="Arial" panose="020B0604020202020204" pitchFamily="34" charset="0"/>
                        </a:rPr>
                        <a:t>P missing values (Key)</a:t>
                      </a:r>
                    </a:p>
                  </a:txBody>
                  <a:tcPr/>
                </a:tc>
                <a:tc>
                  <a:txBody>
                    <a:bodyPr/>
                    <a:lstStyle/>
                    <a:p>
                      <a:r>
                        <a:rPr lang="en-US" sz="2600" b="0" dirty="0">
                          <a:latin typeface="Arial" panose="020B0604020202020204" pitchFamily="34" charset="0"/>
                          <a:cs typeface="Arial" panose="020B0604020202020204" pitchFamily="34" charset="0"/>
                        </a:rPr>
                        <a:t>P missing values (All)</a:t>
                      </a:r>
                    </a:p>
                  </a:txBody>
                  <a:tcPr/>
                </a:tc>
                <a:extLst>
                  <a:ext uri="{0D108BD9-81ED-4DB2-BD59-A6C34878D82A}">
                    <a16:rowId xmlns:a16="http://schemas.microsoft.com/office/drawing/2014/main" val="3004830895"/>
                  </a:ext>
                </a:extLst>
              </a:tr>
              <a:tr h="366463">
                <a:tc>
                  <a:txBody>
                    <a:bodyPr/>
                    <a:lstStyle/>
                    <a:p>
                      <a:r>
                        <a:rPr lang="en-US" sz="2600" dirty="0">
                          <a:latin typeface="Arial" panose="020B0604020202020204" pitchFamily="34" charset="0"/>
                          <a:cs typeface="Arial" panose="020B0604020202020204" pitchFamily="34" charset="0"/>
                        </a:rPr>
                        <a:t>Amniotes</a:t>
                      </a:r>
                    </a:p>
                  </a:txBody>
                  <a:tcPr/>
                </a:tc>
                <a:tc>
                  <a:txBody>
                    <a:bodyPr/>
                    <a:lstStyle/>
                    <a:p>
                      <a:r>
                        <a:rPr lang="en-US" sz="2600" dirty="0">
                          <a:latin typeface="Arial" panose="020B0604020202020204" pitchFamily="34" charset="0"/>
                          <a:cs typeface="Arial" panose="020B0604020202020204" pitchFamily="34" charset="0"/>
                        </a:rPr>
                        <a:t>365</a:t>
                      </a:r>
                    </a:p>
                  </a:txBody>
                  <a:tcPr/>
                </a:tc>
                <a:tc>
                  <a:txBody>
                    <a:bodyPr/>
                    <a:lstStyle/>
                    <a:p>
                      <a:r>
                        <a:rPr lang="en-US" sz="2600" dirty="0">
                          <a:latin typeface="Arial" panose="020B0604020202020204" pitchFamily="34" charset="0"/>
                          <a:cs typeface="Arial" panose="020B0604020202020204" pitchFamily="34" charset="0"/>
                        </a:rPr>
                        <a:t>.68</a:t>
                      </a:r>
                    </a:p>
                  </a:txBody>
                  <a:tcPr/>
                </a:tc>
                <a:tc>
                  <a:txBody>
                    <a:bodyPr/>
                    <a:lstStyle/>
                    <a:p>
                      <a:r>
                        <a:rPr lang="en-US" sz="2600" dirty="0">
                          <a:latin typeface="Arial" panose="020B0604020202020204" pitchFamily="34" charset="0"/>
                          <a:cs typeface="Arial" panose="020B0604020202020204" pitchFamily="34" charset="0"/>
                        </a:rPr>
                        <a:t>8</a:t>
                      </a:r>
                    </a:p>
                  </a:txBody>
                  <a:tcPr/>
                </a:tc>
                <a:tc>
                  <a:txBody>
                    <a:bodyPr/>
                    <a:lstStyle/>
                    <a:p>
                      <a:r>
                        <a:rPr lang="en-US" sz="2600" dirty="0">
                          <a:latin typeface="Arial" panose="020B0604020202020204" pitchFamily="34" charset="0"/>
                          <a:cs typeface="Arial" panose="020B0604020202020204" pitchFamily="34" charset="0"/>
                        </a:rPr>
                        <a:t>23</a:t>
                      </a:r>
                    </a:p>
                  </a:txBody>
                  <a:tcPr/>
                </a:tc>
                <a:tc>
                  <a:txBody>
                    <a:bodyPr/>
                    <a:lstStyle/>
                    <a:p>
                      <a:r>
                        <a:rPr lang="en-US" sz="2600" dirty="0">
                          <a:latin typeface="Arial" panose="020B0604020202020204" pitchFamily="34" charset="0"/>
                          <a:cs typeface="Arial" panose="020B0604020202020204" pitchFamily="34" charset="0"/>
                        </a:rPr>
                        <a:t>.34</a:t>
                      </a:r>
                    </a:p>
                  </a:txBody>
                  <a:tcPr/>
                </a:tc>
                <a:tc>
                  <a:txBody>
                    <a:bodyPr/>
                    <a:lstStyle/>
                    <a:p>
                      <a:r>
                        <a:rPr lang="en-US" sz="2600" dirty="0">
                          <a:latin typeface="Arial" panose="020B0604020202020204" pitchFamily="34" charset="0"/>
                          <a:cs typeface="Arial" panose="020B0604020202020204" pitchFamily="34" charset="0"/>
                        </a:rPr>
                        <a:t>.54</a:t>
                      </a:r>
                    </a:p>
                  </a:txBody>
                  <a:tcPr/>
                </a:tc>
                <a:extLst>
                  <a:ext uri="{0D108BD9-81ED-4DB2-BD59-A6C34878D82A}">
                    <a16:rowId xmlns:a16="http://schemas.microsoft.com/office/drawing/2014/main" val="1504921128"/>
                  </a:ext>
                </a:extLst>
              </a:tr>
              <a:tr h="366463">
                <a:tc>
                  <a:txBody>
                    <a:bodyPr/>
                    <a:lstStyle/>
                    <a:p>
                      <a:r>
                        <a:rPr lang="en-US" sz="2600" dirty="0">
                          <a:latin typeface="Arial" panose="020B0604020202020204" pitchFamily="34" charset="0"/>
                          <a:cs typeface="Arial" panose="020B0604020202020204" pitchFamily="34" charset="0"/>
                        </a:rPr>
                        <a:t>AnAge</a:t>
                      </a:r>
                    </a:p>
                  </a:txBody>
                  <a:tcPr/>
                </a:tc>
                <a:tc>
                  <a:txBody>
                    <a:bodyPr/>
                    <a:lstStyle/>
                    <a:p>
                      <a:r>
                        <a:rPr lang="en-US" sz="2600" dirty="0">
                          <a:latin typeface="Arial" panose="020B0604020202020204" pitchFamily="34" charset="0"/>
                          <a:cs typeface="Arial" panose="020B0604020202020204" pitchFamily="34" charset="0"/>
                        </a:rPr>
                        <a:t>174</a:t>
                      </a:r>
                    </a:p>
                  </a:txBody>
                  <a:tcPr/>
                </a:tc>
                <a:tc>
                  <a:txBody>
                    <a:bodyPr/>
                    <a:lstStyle/>
                    <a:p>
                      <a:r>
                        <a:rPr lang="en-US" sz="2600" dirty="0">
                          <a:latin typeface="Arial" panose="020B0604020202020204" pitchFamily="34" charset="0"/>
                          <a:cs typeface="Arial" panose="020B0604020202020204" pitchFamily="34" charset="0"/>
                        </a:rPr>
                        <a:t>.33</a:t>
                      </a:r>
                    </a:p>
                  </a:txBody>
                  <a:tcPr/>
                </a:tc>
                <a:tc>
                  <a:txBody>
                    <a:bodyPr/>
                    <a:lstStyle/>
                    <a:p>
                      <a:r>
                        <a:rPr lang="en-US" sz="2600" dirty="0">
                          <a:latin typeface="Arial" panose="020B0604020202020204" pitchFamily="34" charset="0"/>
                          <a:cs typeface="Arial" panose="020B0604020202020204" pitchFamily="34" charset="0"/>
                        </a:rPr>
                        <a:t>3</a:t>
                      </a:r>
                    </a:p>
                  </a:txBody>
                  <a:tcPr/>
                </a:tc>
                <a:tc>
                  <a:txBody>
                    <a:bodyPr/>
                    <a:lstStyle/>
                    <a:p>
                      <a:r>
                        <a:rPr lang="en-US" sz="2600" dirty="0">
                          <a:latin typeface="Arial" panose="020B0604020202020204" pitchFamily="34" charset="0"/>
                          <a:cs typeface="Arial" panose="020B0604020202020204" pitchFamily="34" charset="0"/>
                        </a:rPr>
                        <a:t>19</a:t>
                      </a:r>
                    </a:p>
                  </a:txBody>
                  <a:tcPr/>
                </a:tc>
                <a:tc>
                  <a:txBody>
                    <a:bodyPr/>
                    <a:lstStyle/>
                    <a:p>
                      <a:r>
                        <a:rPr lang="en-US" sz="2600" dirty="0">
                          <a:latin typeface="Arial" panose="020B0604020202020204" pitchFamily="34" charset="0"/>
                          <a:cs typeface="Arial" panose="020B0604020202020204" pitchFamily="34" charset="0"/>
                        </a:rPr>
                        <a:t>.37</a:t>
                      </a:r>
                    </a:p>
                  </a:txBody>
                  <a:tcPr/>
                </a:tc>
                <a:tc>
                  <a:txBody>
                    <a:bodyPr/>
                    <a:lstStyle/>
                    <a:p>
                      <a:r>
                        <a:rPr lang="en-US" sz="2600" dirty="0">
                          <a:latin typeface="Arial" panose="020B0604020202020204" pitchFamily="34" charset="0"/>
                          <a:cs typeface="Arial" panose="020B0604020202020204" pitchFamily="34" charset="0"/>
                        </a:rPr>
                        <a:t>.46</a:t>
                      </a:r>
                    </a:p>
                  </a:txBody>
                  <a:tcPr/>
                </a:tc>
                <a:extLst>
                  <a:ext uri="{0D108BD9-81ED-4DB2-BD59-A6C34878D82A}">
                    <a16:rowId xmlns:a16="http://schemas.microsoft.com/office/drawing/2014/main" val="1182304281"/>
                  </a:ext>
                </a:extLst>
              </a:tr>
              <a:tr h="366463">
                <a:tc>
                  <a:txBody>
                    <a:bodyPr/>
                    <a:lstStyle/>
                    <a:p>
                      <a:r>
                        <a:rPr lang="en-US" sz="2600" dirty="0">
                          <a:latin typeface="Arial" panose="020B0604020202020204" pitchFamily="34" charset="0"/>
                          <a:cs typeface="Arial" panose="020B0604020202020204" pitchFamily="34" charset="0"/>
                        </a:rPr>
                        <a:t>Ernest</a:t>
                      </a:r>
                    </a:p>
                  </a:txBody>
                  <a:tcPr/>
                </a:tc>
                <a:tc>
                  <a:txBody>
                    <a:bodyPr/>
                    <a:lstStyle/>
                    <a:p>
                      <a:r>
                        <a:rPr lang="en-US" sz="2600" dirty="0">
                          <a:latin typeface="Arial" panose="020B0604020202020204" pitchFamily="34" charset="0"/>
                          <a:cs typeface="Arial" panose="020B0604020202020204" pitchFamily="34" charset="0"/>
                        </a:rPr>
                        <a:t>156</a:t>
                      </a:r>
                    </a:p>
                  </a:txBody>
                  <a:tcPr/>
                </a:tc>
                <a:tc>
                  <a:txBody>
                    <a:bodyPr/>
                    <a:lstStyle/>
                    <a:p>
                      <a:r>
                        <a:rPr lang="en-US" sz="2600" dirty="0">
                          <a:latin typeface="Arial" panose="020B0604020202020204" pitchFamily="34" charset="0"/>
                          <a:cs typeface="Arial" panose="020B0604020202020204" pitchFamily="34" charset="0"/>
                        </a:rPr>
                        <a:t>.29</a:t>
                      </a:r>
                    </a:p>
                  </a:txBody>
                  <a:tcPr/>
                </a:tc>
                <a:tc>
                  <a:txBody>
                    <a:bodyPr/>
                    <a:lstStyle/>
                    <a:p>
                      <a:r>
                        <a:rPr lang="en-US" sz="2600" dirty="0">
                          <a:latin typeface="Arial" panose="020B0604020202020204" pitchFamily="34" charset="0"/>
                          <a:cs typeface="Arial" panose="020B0604020202020204" pitchFamily="34" charset="0"/>
                        </a:rPr>
                        <a:t>8</a:t>
                      </a:r>
                    </a:p>
                  </a:txBody>
                  <a:tcPr/>
                </a:tc>
                <a:tc>
                  <a:txBody>
                    <a:bodyPr/>
                    <a:lstStyle/>
                    <a:p>
                      <a:r>
                        <a:rPr lang="en-US" sz="2600" dirty="0">
                          <a:latin typeface="Arial" panose="020B0604020202020204" pitchFamily="34" charset="0"/>
                          <a:cs typeface="Arial" panose="020B0604020202020204" pitchFamily="34" charset="0"/>
                        </a:rPr>
                        <a:t>9</a:t>
                      </a:r>
                    </a:p>
                  </a:txBody>
                  <a:tcPr/>
                </a:tc>
                <a:tc>
                  <a:txBody>
                    <a:bodyPr/>
                    <a:lstStyle/>
                    <a:p>
                      <a:r>
                        <a:rPr lang="en-US" sz="2600" dirty="0">
                          <a:latin typeface="Arial" panose="020B0604020202020204" pitchFamily="34" charset="0"/>
                          <a:cs typeface="Arial" panose="020B0604020202020204" pitchFamily="34" charset="0"/>
                        </a:rPr>
                        <a:t>.31</a:t>
                      </a:r>
                    </a:p>
                  </a:txBody>
                  <a:tcPr/>
                </a:tc>
                <a:tc>
                  <a:txBody>
                    <a:bodyPr/>
                    <a:lstStyle/>
                    <a:p>
                      <a:r>
                        <a:rPr lang="en-US" sz="2600" dirty="0">
                          <a:latin typeface="Arial" panose="020B0604020202020204" pitchFamily="34" charset="0"/>
                          <a:cs typeface="Arial" panose="020B0604020202020204" pitchFamily="34" charset="0"/>
                        </a:rPr>
                        <a:t>.32</a:t>
                      </a:r>
                    </a:p>
                  </a:txBody>
                  <a:tcPr/>
                </a:tc>
                <a:extLst>
                  <a:ext uri="{0D108BD9-81ED-4DB2-BD59-A6C34878D82A}">
                    <a16:rowId xmlns:a16="http://schemas.microsoft.com/office/drawing/2014/main" val="4040463589"/>
                  </a:ext>
                </a:extLst>
              </a:tr>
              <a:tr h="664215">
                <a:tc>
                  <a:txBody>
                    <a:bodyPr/>
                    <a:lstStyle/>
                    <a:p>
                      <a:r>
                        <a:rPr lang="en-US" sz="2600" dirty="0">
                          <a:latin typeface="Arial" panose="020B0604020202020204" pitchFamily="34" charset="0"/>
                          <a:cs typeface="Arial" panose="020B0604020202020204" pitchFamily="34" charset="0"/>
                        </a:rPr>
                        <a:t>Kappeler &amp; Pereira</a:t>
                      </a:r>
                    </a:p>
                  </a:txBody>
                  <a:tcPr/>
                </a:tc>
                <a:tc>
                  <a:txBody>
                    <a:bodyPr/>
                    <a:lstStyle/>
                    <a:p>
                      <a:r>
                        <a:rPr lang="en-US" sz="2600" dirty="0">
                          <a:latin typeface="Arial" panose="020B0604020202020204" pitchFamily="34" charset="0"/>
                          <a:cs typeface="Arial" panose="020B0604020202020204" pitchFamily="34" charset="0"/>
                        </a:rPr>
                        <a:t>310</a:t>
                      </a:r>
                    </a:p>
                  </a:txBody>
                  <a:tcPr/>
                </a:tc>
                <a:tc>
                  <a:txBody>
                    <a:bodyPr/>
                    <a:lstStyle/>
                    <a:p>
                      <a:r>
                        <a:rPr lang="en-US" sz="2600" dirty="0">
                          <a:latin typeface="Arial" panose="020B0604020202020204" pitchFamily="34" charset="0"/>
                          <a:cs typeface="Arial" panose="020B0604020202020204" pitchFamily="34" charset="0"/>
                        </a:rPr>
                        <a:t>.58</a:t>
                      </a:r>
                    </a:p>
                  </a:txBody>
                  <a:tcPr/>
                </a:tc>
                <a:tc>
                  <a:txBody>
                    <a:bodyPr/>
                    <a:lstStyle/>
                    <a:p>
                      <a:r>
                        <a:rPr lang="en-US" sz="2600" dirty="0">
                          <a:latin typeface="Arial" panose="020B0604020202020204" pitchFamily="34" charset="0"/>
                          <a:cs typeface="Arial" panose="020B0604020202020204" pitchFamily="34" charset="0"/>
                        </a:rPr>
                        <a:t>5</a:t>
                      </a:r>
                    </a:p>
                  </a:txBody>
                  <a:tcPr/>
                </a:tc>
                <a:tc>
                  <a:txBody>
                    <a:bodyPr/>
                    <a:lstStyle/>
                    <a:p>
                      <a:r>
                        <a:rPr lang="en-US" sz="2600" dirty="0">
                          <a:latin typeface="Arial" panose="020B0604020202020204" pitchFamily="34" charset="0"/>
                          <a:cs typeface="Arial" panose="020B0604020202020204" pitchFamily="34" charset="0"/>
                        </a:rPr>
                        <a:t>13</a:t>
                      </a:r>
                    </a:p>
                  </a:txBody>
                  <a:tcPr/>
                </a:tc>
                <a:tc>
                  <a:txBody>
                    <a:bodyPr/>
                    <a:lstStyle/>
                    <a:p>
                      <a:r>
                        <a:rPr lang="en-US" sz="2600" dirty="0">
                          <a:latin typeface="Arial" panose="020B0604020202020204" pitchFamily="34" charset="0"/>
                          <a:cs typeface="Arial" panose="020B0604020202020204" pitchFamily="34" charset="0"/>
                        </a:rPr>
                        <a:t>.69</a:t>
                      </a:r>
                    </a:p>
                  </a:txBody>
                  <a:tcPr/>
                </a:tc>
                <a:tc>
                  <a:txBody>
                    <a:bodyPr/>
                    <a:lstStyle/>
                    <a:p>
                      <a:r>
                        <a:rPr lang="en-US" sz="2600" dirty="0">
                          <a:latin typeface="Arial" panose="020B0604020202020204" pitchFamily="34" charset="0"/>
                          <a:cs typeface="Arial" panose="020B0604020202020204" pitchFamily="34" charset="0"/>
                        </a:rPr>
                        <a:t>.76</a:t>
                      </a:r>
                    </a:p>
                  </a:txBody>
                  <a:tcPr/>
                </a:tc>
                <a:extLst>
                  <a:ext uri="{0D108BD9-81ED-4DB2-BD59-A6C34878D82A}">
                    <a16:rowId xmlns:a16="http://schemas.microsoft.com/office/drawing/2014/main" val="3353418559"/>
                  </a:ext>
                </a:extLst>
              </a:tr>
              <a:tr h="366463">
                <a:tc>
                  <a:txBody>
                    <a:bodyPr/>
                    <a:lstStyle/>
                    <a:p>
                      <a:r>
                        <a:rPr lang="en-US" sz="2600" dirty="0">
                          <a:latin typeface="Arial" panose="020B0604020202020204" pitchFamily="34" charset="0"/>
                          <a:cs typeface="Arial" panose="020B0604020202020204" pitchFamily="34" charset="0"/>
                        </a:rPr>
                        <a:t>PanTHERIA</a:t>
                      </a:r>
                    </a:p>
                  </a:txBody>
                  <a:tcPr/>
                </a:tc>
                <a:tc>
                  <a:txBody>
                    <a:bodyPr/>
                    <a:lstStyle/>
                    <a:p>
                      <a:r>
                        <a:rPr lang="en-US" sz="2600" dirty="0">
                          <a:latin typeface="Arial" panose="020B0604020202020204" pitchFamily="34" charset="0"/>
                          <a:cs typeface="Arial" panose="020B0604020202020204" pitchFamily="34" charset="0"/>
                        </a:rPr>
                        <a:t>376</a:t>
                      </a:r>
                    </a:p>
                  </a:txBody>
                  <a:tcPr/>
                </a:tc>
                <a:tc>
                  <a:txBody>
                    <a:bodyPr/>
                    <a:lstStyle/>
                    <a:p>
                      <a:r>
                        <a:rPr lang="en-US" sz="2600" dirty="0">
                          <a:latin typeface="Arial" panose="020B0604020202020204" pitchFamily="34" charset="0"/>
                          <a:cs typeface="Arial" panose="020B0604020202020204" pitchFamily="34" charset="0"/>
                        </a:rPr>
                        <a:t>.70</a:t>
                      </a:r>
                    </a:p>
                  </a:txBody>
                  <a:tcPr/>
                </a:tc>
                <a:tc>
                  <a:txBody>
                    <a:bodyPr/>
                    <a:lstStyle/>
                    <a:p>
                      <a:r>
                        <a:rPr lang="en-US" sz="2600" dirty="0">
                          <a:latin typeface="Arial" panose="020B0604020202020204" pitchFamily="34" charset="0"/>
                          <a:cs typeface="Arial" panose="020B0604020202020204" pitchFamily="34" charset="0"/>
                        </a:rPr>
                        <a:t>7</a:t>
                      </a:r>
                    </a:p>
                  </a:txBody>
                  <a:tcPr/>
                </a:tc>
                <a:tc>
                  <a:txBody>
                    <a:bodyPr/>
                    <a:lstStyle/>
                    <a:p>
                      <a:r>
                        <a:rPr lang="en-US" sz="2600" dirty="0">
                          <a:latin typeface="Arial" panose="020B0604020202020204" pitchFamily="34" charset="0"/>
                          <a:cs typeface="Arial" panose="020B0604020202020204" pitchFamily="34" charset="0"/>
                        </a:rPr>
                        <a:t>29</a:t>
                      </a:r>
                    </a:p>
                  </a:txBody>
                  <a:tcPr/>
                </a:tc>
                <a:tc>
                  <a:txBody>
                    <a:bodyPr/>
                    <a:lstStyle/>
                    <a:p>
                      <a:r>
                        <a:rPr lang="en-US" sz="2600" dirty="0">
                          <a:latin typeface="Arial" panose="020B0604020202020204" pitchFamily="34" charset="0"/>
                          <a:cs typeface="Arial" panose="020B0604020202020204" pitchFamily="34" charset="0"/>
                        </a:rPr>
                        <a:t>.63</a:t>
                      </a:r>
                    </a:p>
                  </a:txBody>
                  <a:tcPr/>
                </a:tc>
                <a:tc>
                  <a:txBody>
                    <a:bodyPr/>
                    <a:lstStyle/>
                    <a:p>
                      <a:r>
                        <a:rPr lang="en-US" sz="2600" dirty="0">
                          <a:latin typeface="Arial" panose="020B0604020202020204" pitchFamily="34" charset="0"/>
                          <a:cs typeface="Arial" panose="020B0604020202020204" pitchFamily="34" charset="0"/>
                        </a:rPr>
                        <a:t>.72</a:t>
                      </a:r>
                    </a:p>
                  </a:txBody>
                  <a:tcPr/>
                </a:tc>
                <a:extLst>
                  <a:ext uri="{0D108BD9-81ED-4DB2-BD59-A6C34878D82A}">
                    <a16:rowId xmlns:a16="http://schemas.microsoft.com/office/drawing/2014/main" val="1345818191"/>
                  </a:ext>
                </a:extLst>
              </a:tr>
            </a:tbl>
          </a:graphicData>
        </a:graphic>
      </p:graphicFrame>
      <p:sp>
        <p:nvSpPr>
          <p:cNvPr id="15" name="TextBox 14">
            <a:extLst>
              <a:ext uri="{FF2B5EF4-FFF2-40B4-BE49-F238E27FC236}">
                <a16:creationId xmlns:a16="http://schemas.microsoft.com/office/drawing/2014/main" id="{D27A7744-9494-CE5D-21E0-EC7C48E39EE3}"/>
              </a:ext>
            </a:extLst>
          </p:cNvPr>
          <p:cNvSpPr txBox="1"/>
          <p:nvPr/>
        </p:nvSpPr>
        <p:spPr>
          <a:xfrm>
            <a:off x="13833349" y="19901007"/>
            <a:ext cx="14843910" cy="1697644"/>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Table 1. </a:t>
            </a:r>
            <a:r>
              <a:rPr lang="en-US" sz="2400" dirty="0">
                <a:latin typeface="Arial" panose="020B0604020202020204" pitchFamily="34" charset="0"/>
                <a:cs typeface="Arial" panose="020B0604020202020204" pitchFamily="34" charset="0"/>
              </a:rPr>
              <a:t>Descriptive statistics of primate life-history statistics for each database. AnAge is the only database that is continually updated, with its last update in 2023. Each database has fewer missing values for our selected key life-history traits compared to all recorded statistics.</a:t>
            </a:r>
            <a:endParaRPr lang="en-US" sz="2400" dirty="0"/>
          </a:p>
        </p:txBody>
      </p:sp>
      <p:sp>
        <p:nvSpPr>
          <p:cNvPr id="16" name="TextBox 15">
            <a:extLst>
              <a:ext uri="{FF2B5EF4-FFF2-40B4-BE49-F238E27FC236}">
                <a16:creationId xmlns:a16="http://schemas.microsoft.com/office/drawing/2014/main" id="{93DF6F33-EBCA-A373-C636-B42DAC9A95E5}"/>
              </a:ext>
            </a:extLst>
          </p:cNvPr>
          <p:cNvSpPr txBox="1"/>
          <p:nvPr/>
        </p:nvSpPr>
        <p:spPr>
          <a:xfrm>
            <a:off x="4736689" y="37561479"/>
            <a:ext cx="10986532" cy="577850"/>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Figure 2. </a:t>
            </a:r>
            <a:r>
              <a:rPr lang="en-US" sz="2400" dirty="0">
                <a:latin typeface="Arial" panose="020B0604020202020204" pitchFamily="34" charset="0"/>
                <a:cs typeface="Arial" panose="020B0604020202020204" pitchFamily="34" charset="0"/>
              </a:rPr>
              <a:t>Relative proportions of different primate clades for each database. </a:t>
            </a:r>
            <a:endParaRPr lang="en-US" sz="2400" b="1" dirty="0">
              <a:latin typeface="Arial" panose="020B0604020202020204" pitchFamily="34" charset="0"/>
              <a:cs typeface="Arial" panose="020B0604020202020204" pitchFamily="34" charset="0"/>
            </a:endParaRPr>
          </a:p>
        </p:txBody>
      </p:sp>
      <p:graphicFrame>
        <p:nvGraphicFramePr>
          <p:cNvPr id="18" name="Table 17">
            <a:extLst>
              <a:ext uri="{FF2B5EF4-FFF2-40B4-BE49-F238E27FC236}">
                <a16:creationId xmlns:a16="http://schemas.microsoft.com/office/drawing/2014/main" id="{89EB3D43-2416-755D-0631-818DB781FAA2}"/>
              </a:ext>
            </a:extLst>
          </p:cNvPr>
          <p:cNvGraphicFramePr>
            <a:graphicFrameLocks noGrp="1"/>
          </p:cNvGraphicFramePr>
          <p:nvPr>
            <p:extLst>
              <p:ext uri="{D42A27DB-BD31-4B8C-83A1-F6EECF244321}">
                <p14:modId xmlns:p14="http://schemas.microsoft.com/office/powerpoint/2010/main" val="916654302"/>
              </p:ext>
            </p:extLst>
          </p:nvPr>
        </p:nvGraphicFramePr>
        <p:xfrm>
          <a:off x="4736689" y="25759939"/>
          <a:ext cx="10352460" cy="4724400"/>
        </p:xfrm>
        <a:graphic>
          <a:graphicData uri="http://schemas.openxmlformats.org/drawingml/2006/table">
            <a:tbl>
              <a:tblPr firstRow="1" bandRow="1">
                <a:tableStyleId>{5C22544A-7EE6-4342-B048-85BDC9FD1C3A}</a:tableStyleId>
              </a:tblPr>
              <a:tblGrid>
                <a:gridCol w="1799885">
                  <a:extLst>
                    <a:ext uri="{9D8B030D-6E8A-4147-A177-3AD203B41FA5}">
                      <a16:colId xmlns:a16="http://schemas.microsoft.com/office/drawing/2014/main" val="2953196259"/>
                    </a:ext>
                  </a:extLst>
                </a:gridCol>
                <a:gridCol w="1212330">
                  <a:extLst>
                    <a:ext uri="{9D8B030D-6E8A-4147-A177-3AD203B41FA5}">
                      <a16:colId xmlns:a16="http://schemas.microsoft.com/office/drawing/2014/main" val="2850544499"/>
                    </a:ext>
                  </a:extLst>
                </a:gridCol>
                <a:gridCol w="3176461">
                  <a:extLst>
                    <a:ext uri="{9D8B030D-6E8A-4147-A177-3AD203B41FA5}">
                      <a16:colId xmlns:a16="http://schemas.microsoft.com/office/drawing/2014/main" val="3719952992"/>
                    </a:ext>
                  </a:extLst>
                </a:gridCol>
                <a:gridCol w="4163784">
                  <a:extLst>
                    <a:ext uri="{9D8B030D-6E8A-4147-A177-3AD203B41FA5}">
                      <a16:colId xmlns:a16="http://schemas.microsoft.com/office/drawing/2014/main" val="569871792"/>
                    </a:ext>
                  </a:extLst>
                </a:gridCol>
              </a:tblGrid>
              <a:tr h="572218">
                <a:tc>
                  <a:txBody>
                    <a:bodyPr/>
                    <a:lstStyle/>
                    <a:p>
                      <a:r>
                        <a:rPr lang="en-US" sz="2600" b="0" dirty="0"/>
                        <a:t>Variable</a:t>
                      </a:r>
                    </a:p>
                  </a:txBody>
                  <a:tcPr/>
                </a:tc>
                <a:tc>
                  <a:txBody>
                    <a:bodyPr/>
                    <a:lstStyle/>
                    <a:p>
                      <a:r>
                        <a:rPr lang="en-US" sz="2600" b="0" dirty="0"/>
                        <a:t>N unit types</a:t>
                      </a:r>
                    </a:p>
                  </a:txBody>
                  <a:tcPr/>
                </a:tc>
                <a:tc>
                  <a:txBody>
                    <a:bodyPr/>
                    <a:lstStyle/>
                    <a:p>
                      <a:r>
                        <a:rPr lang="en-US" sz="2600" b="0" dirty="0"/>
                        <a:t>Description</a:t>
                      </a:r>
                    </a:p>
                  </a:txBody>
                  <a:tcPr/>
                </a:tc>
                <a:tc>
                  <a:txBody>
                    <a:bodyPr/>
                    <a:lstStyle/>
                    <a:p>
                      <a:r>
                        <a:rPr lang="en-US" sz="2600" b="0" dirty="0"/>
                        <a:t>Database Comparison</a:t>
                      </a:r>
                    </a:p>
                  </a:txBody>
                  <a:tcPr/>
                </a:tc>
                <a:extLst>
                  <a:ext uri="{0D108BD9-81ED-4DB2-BD59-A6C34878D82A}">
                    <a16:rowId xmlns:a16="http://schemas.microsoft.com/office/drawing/2014/main" val="120293628"/>
                  </a:ext>
                </a:extLst>
              </a:tr>
              <a:tr h="828730">
                <a:tc>
                  <a:txBody>
                    <a:bodyPr/>
                    <a:lstStyle/>
                    <a:p>
                      <a:r>
                        <a:rPr lang="en-US" sz="2600" b="0" dirty="0"/>
                        <a:t>Weaning Age</a:t>
                      </a:r>
                    </a:p>
                  </a:txBody>
                  <a:tcPr/>
                </a:tc>
                <a:tc>
                  <a:txBody>
                    <a:bodyPr/>
                    <a:lstStyle/>
                    <a:p>
                      <a:r>
                        <a:rPr lang="en-US" sz="2600" b="0" dirty="0"/>
                        <a:t>2</a:t>
                      </a:r>
                    </a:p>
                  </a:txBody>
                  <a:tcPr/>
                </a:tc>
                <a:tc>
                  <a:txBody>
                    <a:bodyPr/>
                    <a:lstStyle/>
                    <a:p>
                      <a:r>
                        <a:rPr lang="en-US" sz="2600" b="0" dirty="0"/>
                        <a:t>Mean duration from birth to solid food transition</a:t>
                      </a:r>
                    </a:p>
                  </a:txBody>
                  <a:tcPr/>
                </a:tc>
                <a:tc>
                  <a:txBody>
                    <a:bodyPr/>
                    <a:lstStyle/>
                    <a:p>
                      <a:r>
                        <a:rPr lang="en-US" sz="2600" b="0" dirty="0"/>
                        <a:t>[2] defines as eating solid food, [7] as first solid food OR last nursing</a:t>
                      </a:r>
                    </a:p>
                  </a:txBody>
                  <a:tcPr/>
                </a:tc>
                <a:extLst>
                  <a:ext uri="{0D108BD9-81ED-4DB2-BD59-A6C34878D82A}">
                    <a16:rowId xmlns:a16="http://schemas.microsoft.com/office/drawing/2014/main" val="1699839922"/>
                  </a:ext>
                </a:extLst>
              </a:tr>
              <a:tr h="828730">
                <a:tc>
                  <a:txBody>
                    <a:bodyPr/>
                    <a:lstStyle/>
                    <a:p>
                      <a:r>
                        <a:rPr lang="en-US" sz="2600" b="0" dirty="0"/>
                        <a:t>IBI</a:t>
                      </a:r>
                    </a:p>
                  </a:txBody>
                  <a:tcPr/>
                </a:tc>
                <a:tc>
                  <a:txBody>
                    <a:bodyPr/>
                    <a:lstStyle/>
                    <a:p>
                      <a:r>
                        <a:rPr lang="en-US" sz="2600" b="0" dirty="0"/>
                        <a:t>4</a:t>
                      </a:r>
                    </a:p>
                  </a:txBody>
                  <a:tcPr/>
                </a:tc>
                <a:tc>
                  <a:txBody>
                    <a:bodyPr/>
                    <a:lstStyle/>
                    <a:p>
                      <a:r>
                        <a:rPr lang="en-US" sz="2600" b="0" dirty="0"/>
                        <a:t>Mean duration between successive births</a:t>
                      </a:r>
                    </a:p>
                  </a:txBody>
                  <a:tcPr/>
                </a:tc>
                <a:tc>
                  <a:txBody>
                    <a:bodyPr/>
                    <a:lstStyle/>
                    <a:p>
                      <a:r>
                        <a:rPr lang="en-US" sz="2600" b="0" dirty="0"/>
                        <a:t>[2] records litters/year, [7] specifies between successful births</a:t>
                      </a:r>
                    </a:p>
                  </a:txBody>
                  <a:tcPr/>
                </a:tc>
                <a:extLst>
                  <a:ext uri="{0D108BD9-81ED-4DB2-BD59-A6C34878D82A}">
                    <a16:rowId xmlns:a16="http://schemas.microsoft.com/office/drawing/2014/main" val="1346406341"/>
                  </a:ext>
                </a:extLst>
              </a:tr>
              <a:tr h="828730">
                <a:tc>
                  <a:txBody>
                    <a:bodyPr/>
                    <a:lstStyle/>
                    <a:p>
                      <a:r>
                        <a:rPr lang="en-US" sz="2600" b="0" dirty="0"/>
                        <a:t>Gestation Length</a:t>
                      </a:r>
                    </a:p>
                  </a:txBody>
                  <a:tcPr/>
                </a:tc>
                <a:tc>
                  <a:txBody>
                    <a:bodyPr/>
                    <a:lstStyle/>
                    <a:p>
                      <a:r>
                        <a:rPr lang="en-US" sz="2600" b="0" dirty="0"/>
                        <a:t>2</a:t>
                      </a:r>
                    </a:p>
                  </a:txBody>
                  <a:tcPr/>
                </a:tc>
                <a:tc>
                  <a:txBody>
                    <a:bodyPr/>
                    <a:lstStyle/>
                    <a:p>
                      <a:r>
                        <a:rPr lang="en-US" sz="2600" b="0" dirty="0"/>
                        <a:t>Mean duration between conception and birth</a:t>
                      </a:r>
                    </a:p>
                  </a:txBody>
                  <a:tcPr/>
                </a:tc>
                <a:tc>
                  <a:txBody>
                    <a:bodyPr/>
                    <a:lstStyle/>
                    <a:p>
                      <a:r>
                        <a:rPr lang="en-US" sz="2600" b="0" dirty="0"/>
                        <a:t>[2] specifies live offspring, [7] specifies “non-inactive” fetal growth</a:t>
                      </a:r>
                    </a:p>
                  </a:txBody>
                  <a:tcPr/>
                </a:tc>
                <a:extLst>
                  <a:ext uri="{0D108BD9-81ED-4DB2-BD59-A6C34878D82A}">
                    <a16:rowId xmlns:a16="http://schemas.microsoft.com/office/drawing/2014/main" val="1869094669"/>
                  </a:ext>
                </a:extLst>
              </a:tr>
            </a:tbl>
          </a:graphicData>
        </a:graphic>
      </p:graphicFrame>
      <p:sp>
        <p:nvSpPr>
          <p:cNvPr id="27" name="TextBox 26">
            <a:extLst>
              <a:ext uri="{FF2B5EF4-FFF2-40B4-BE49-F238E27FC236}">
                <a16:creationId xmlns:a16="http://schemas.microsoft.com/office/drawing/2014/main" id="{B43F7CFC-7592-878E-53F7-EDAD4EDD4DD2}"/>
              </a:ext>
            </a:extLst>
          </p:cNvPr>
          <p:cNvSpPr txBox="1"/>
          <p:nvPr/>
        </p:nvSpPr>
        <p:spPr>
          <a:xfrm>
            <a:off x="4736689" y="24878777"/>
            <a:ext cx="9022918" cy="830997"/>
          </a:xfrm>
          <a:prstGeom prst="rect">
            <a:avLst/>
          </a:prstGeom>
          <a:noFill/>
          <a:ln w="38100">
            <a:noFill/>
          </a:ln>
        </p:spPr>
        <p:txBody>
          <a:bodyPr wrap="square" rtlCol="0">
            <a:spAutoFit/>
          </a:bodyPr>
          <a:lstStyle/>
          <a:p>
            <a:r>
              <a:rPr lang="en-US" sz="2400" b="1" dirty="0">
                <a:latin typeface="Arial" panose="020B0604020202020204" pitchFamily="34" charset="0"/>
                <a:cs typeface="Arial" panose="020B0604020202020204" pitchFamily="34" charset="0"/>
              </a:rPr>
              <a:t>Table 2.</a:t>
            </a:r>
            <a:r>
              <a:rPr lang="en-US" sz="2400" dirty="0">
                <a:latin typeface="Arial" panose="020B0604020202020204" pitchFamily="34" charset="0"/>
                <a:cs typeface="Arial" panose="020B0604020202020204" pitchFamily="34" charset="0"/>
              </a:rPr>
              <a:t> Example discrepancies in how key LH traits are recorded differently between databases. IBI = Inter-birth interval.</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73548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7634</TotalTime>
  <Words>1695</Words>
  <Application>Microsoft Office PowerPoint</Application>
  <PresentationFormat>Custom</PresentationFormat>
  <Paragraphs>120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Gentry Miller</dc:creator>
  <cp:lastModifiedBy>Gentry Miller</cp:lastModifiedBy>
  <cp:revision>27</cp:revision>
  <dcterms:created xsi:type="dcterms:W3CDTF">2026-02-18T13:57:43Z</dcterms:created>
  <dcterms:modified xsi:type="dcterms:W3CDTF">2026-03-16T13:56:56Z</dcterms:modified>
</cp:coreProperties>
</file>