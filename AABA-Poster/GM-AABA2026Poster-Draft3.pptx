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4DEEE"/>
    <a:srgbClr val="C31016"/>
    <a:srgbClr val="CCD2D8"/>
    <a:srgbClr val="E7EA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221" autoAdjust="0"/>
  </p:normalViewPr>
  <p:slideViewPr>
    <p:cSldViewPr snapToGrid="0">
      <p:cViewPr>
        <p:scale>
          <a:sx n="25" d="100"/>
          <a:sy n="25" d="100"/>
        </p:scale>
        <p:origin x="-1278" y="-15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3/15/2026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3/15/2026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3/15/2026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3/15/2026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bygentry.github.io/LHDB-PCA/Variable-Definitions.html" TargetMode="Externa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844361"/>
          </a:xfrm>
          <a:prstGeom prst="rect">
            <a:avLst/>
          </a:prstGeom>
          <a:solidFill>
            <a:srgbClr val="A4DEE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0590252"/>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1905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PanTHERIA: A species-level database of life history, ecology, and geography of extant and recently extinct mammals. Ecology, 90(9), 2648–2648. </a:t>
            </a: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a:t>
            </a: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a:t>
            </a: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Ecol Evol., 1(2):199-211.</a:t>
            </a:r>
          </a:p>
        </p:txBody>
      </p:sp>
      <p:sp>
        <p:nvSpPr>
          <p:cNvPr id="13" name="TextBox 12">
            <a:extLst>
              <a:ext uri="{FF2B5EF4-FFF2-40B4-BE49-F238E27FC236}">
                <a16:creationId xmlns:a16="http://schemas.microsoft.com/office/drawing/2014/main" id="{73A4B056-3450-05C8-6E30-61A6201AB91E}"/>
              </a:ext>
            </a:extLst>
          </p:cNvPr>
          <p:cNvSpPr txBox="1"/>
          <p:nvPr/>
        </p:nvSpPr>
        <p:spPr>
          <a:xfrm>
            <a:off x="4892224" y="743804"/>
            <a:ext cx="32855890" cy="4292650"/>
          </a:xfrm>
          <a:prstGeom prst="rect">
            <a:avLst/>
          </a:prstGeom>
          <a:noFill/>
          <a:ln w="1905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&lt;Department of Anthropology&gt;,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28991530" y="5466463"/>
            <a:ext cx="9022919" cy="20141091"/>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METHODS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datasets based on those used in [1] and through literature review, choosing [3,4] and [9] because they contain a large range of primary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generated descriptive statistics of the data to compare their structures and find common variables.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seven key LH traits commonly studied in primates and shared across all or most of our datasets.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three metrics: The presence of values, taxonomic representation, and metadata accessibility and content.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For each database, we quantified the proportion of values equivalent to “NA” for all available key traits for each species.</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quantified the relative proportions of primate species at the family level and compared each database to examine biases in species coverage.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designed a rubric to objectively score the metadata availability, accessibility, and content of each dataset.</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categorically scored the proportion of variables described by the authors and evaluated the detail of description based on the presence of variable units, measurement type, and citation.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Additionally, we attempted to validate the division of age of sexual maturity (ASM) into sex classes by comparison to the dimorphism rates of adult body mass using Wilcoxon rank sum and signed rank tests with continuity corrections .</a:t>
            </a:r>
          </a:p>
        </p:txBody>
      </p:sp>
      <p:sp>
        <p:nvSpPr>
          <p:cNvPr id="2" name="TextBox 1">
            <a:extLst>
              <a:ext uri="{FF2B5EF4-FFF2-40B4-BE49-F238E27FC236}">
                <a16:creationId xmlns:a16="http://schemas.microsoft.com/office/drawing/2014/main" id="{49990ABF-3927-BA45-C861-577BCE70BBEB}"/>
              </a:ext>
            </a:extLst>
          </p:cNvPr>
          <p:cNvSpPr txBox="1">
            <a:spLocks noChangeAspect="1"/>
          </p:cNvSpPr>
          <p:nvPr/>
        </p:nvSpPr>
        <p:spPr>
          <a:xfrm>
            <a:off x="4736692" y="5485290"/>
            <a:ext cx="8488295" cy="20848320"/>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INTRODUCTION</a:t>
            </a:r>
          </a:p>
          <a:p>
            <a:pPr marL="457200" indent="-457200">
              <a:lnSpc>
                <a:spcPct val="150000"/>
              </a:lnSpc>
              <a:buFont typeface="Wingdings" panose="05000000000000000000" pitchFamily="2" charset="2"/>
              <a:buChar char="v"/>
            </a:pPr>
            <a:r>
              <a:rPr lang="en-US" sz="2800" b="1" dirty="0">
                <a:latin typeface="Arial" panose="020B0604020202020204" pitchFamily="34" charset="0"/>
                <a:cs typeface="Arial" panose="020B0604020202020204" pitchFamily="34" charset="0"/>
              </a:rPr>
              <a:t>Life history (LH) theory </a:t>
            </a:r>
            <a:r>
              <a:rPr lang="en-US" sz="2800" dirty="0">
                <a:latin typeface="Arial" panose="020B0604020202020204" pitchFamily="34" charset="0"/>
                <a:cs typeface="Arial" panose="020B0604020202020204" pitchFamily="34" charset="0"/>
              </a:rPr>
              <a:t>provides us with a lexicon of variables that characterize the timing and durations of growth and reproduction to maximize fitness. [5, 10]</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t>
            </a:r>
            <a:r>
              <a:rPr lang="en-US" sz="2800" b="1" dirty="0">
                <a:latin typeface="Arial" panose="020B0604020202020204" pitchFamily="34" charset="0"/>
                <a:cs typeface="Arial" panose="020B0604020202020204" pitchFamily="34" charset="0"/>
              </a:rPr>
              <a:t>abundant, high-quality, longitudinal data</a:t>
            </a:r>
            <a:r>
              <a:rPr lang="en-US" sz="2800" dirty="0">
                <a:latin typeface="Arial" panose="020B0604020202020204" pitchFamily="34" charset="0"/>
                <a:cs typeface="Arial" panose="020B0604020202020204" pitchFamily="34" charset="0"/>
              </a:rPr>
              <a:t> to observe and infer population-level rates. [5, 11]</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are defined by covariation [11], complicating investigations when </a:t>
            </a:r>
            <a:r>
              <a:rPr lang="en-US" sz="2800" b="1" dirty="0">
                <a:latin typeface="Arial" panose="020B0604020202020204" pitchFamily="34" charset="0"/>
                <a:cs typeface="Arial" panose="020B0604020202020204" pitchFamily="34" charset="0"/>
              </a:rPr>
              <a:t>some traits are unrecorded</a:t>
            </a:r>
            <a:r>
              <a:rPr lang="en-US" sz="2800" dirty="0">
                <a:latin typeface="Arial" panose="020B0604020202020204" pitchFamily="34" charset="0"/>
                <a:cs typeface="Arial" panose="020B0604020202020204" pitchFamily="34" charset="0"/>
              </a:rPr>
              <a:t> for a focal species.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a:t>
            </a:r>
            <a:r>
              <a:rPr lang="en-US" sz="2800" b="1" dirty="0">
                <a:latin typeface="Arial" panose="020B0604020202020204" pitchFamily="34" charset="0"/>
                <a:cs typeface="Arial" panose="020B0604020202020204" pitchFamily="34" charset="0"/>
              </a:rPr>
              <a:t>methodological challenges</a:t>
            </a:r>
            <a:r>
              <a:rPr lang="en-US" sz="2800" dirty="0">
                <a:latin typeface="Arial" panose="020B0604020202020204" pitchFamily="34" charset="0"/>
                <a:cs typeface="Arial" panose="020B0604020202020204" pitchFamily="34" charset="0"/>
              </a:rPr>
              <a:t> in collating LH data for inter-species comparisons [1, 5, 11, 12],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Access to a substantial taxonomic range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 and units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5476886" y="18023771"/>
            <a:ext cx="7007905" cy="7878503"/>
          </a:xfrm>
          <a:prstGeom prst="rect">
            <a:avLst/>
          </a:prstGeom>
          <a:noFill/>
          <a:ln>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OBJECTIVES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[2], AnAge [3, 4], PanTHERIA [7],  Kappeler &amp; Pereira [8], and Amniotes [9] databases.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want to employ life history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sp>
        <p:nvSpPr>
          <p:cNvPr id="4" name="TextBox 3">
            <a:extLst>
              <a:ext uri="{FF2B5EF4-FFF2-40B4-BE49-F238E27FC236}">
                <a16:creationId xmlns:a16="http://schemas.microsoft.com/office/drawing/2014/main" id="{0620BADA-1FC1-3AFA-FD99-029D6F36C677}"/>
              </a:ext>
            </a:extLst>
          </p:cNvPr>
          <p:cNvSpPr txBox="1"/>
          <p:nvPr/>
        </p:nvSpPr>
        <p:spPr>
          <a:xfrm>
            <a:off x="14411818" y="30769285"/>
            <a:ext cx="7931966" cy="6654194"/>
          </a:xfrm>
          <a:prstGeom prst="rect">
            <a:avLst/>
          </a:prstGeom>
          <a:noFill/>
          <a:ln>
            <a:solidFill>
              <a:schemeClr val="tx1"/>
            </a:solidFill>
          </a:ln>
        </p:spPr>
        <p:txBody>
          <a:bodyPr wrap="square" rtlCol="0">
            <a:spAutoFit/>
          </a:bodyPr>
          <a:lstStyle/>
          <a:p>
            <a:pPr>
              <a:lnSpc>
                <a:spcPct val="150000"/>
              </a:lnSpc>
            </a:pPr>
            <a:r>
              <a:rPr lang="en-US" sz="4400" b="1" u="sng" dirty="0">
                <a:latin typeface="Arial" panose="020B0604020202020204" pitchFamily="34" charset="0"/>
                <a:cs typeface="Arial" panose="020B0604020202020204" pitchFamily="34" charset="0"/>
              </a:rPr>
              <a:t>&lt; Variable Definitions Table(s)&gt;</a:t>
            </a:r>
            <a:endParaRPr lang="en-US" sz="4400" dirty="0">
              <a:latin typeface="Arial" panose="020B0604020202020204" pitchFamily="34" charset="0"/>
              <a:cs typeface="Arial" panose="020B0604020202020204" pitchFamily="34" charset="0"/>
            </a:endParaRPr>
          </a:p>
          <a:p>
            <a:pPr>
              <a:lnSpc>
                <a:spcPct val="150000"/>
              </a:lnSpc>
            </a:pPr>
            <a:r>
              <a:rPr lang="en-US" dirty="0">
                <a:latin typeface="Arial" panose="020B0604020202020204" pitchFamily="34" charset="0"/>
                <a:cs typeface="Arial" panose="020B0604020202020204" pitchFamily="34" charset="0"/>
              </a:rPr>
              <a:t>HOW TO CONVERT THIS PAGE INTO ONE READABLE TABLE?</a:t>
            </a:r>
          </a:p>
          <a:p>
            <a:pPr>
              <a:lnSpc>
                <a:spcPct val="150000"/>
              </a:lnSpc>
            </a:pPr>
            <a:r>
              <a:rPr lang="en-US" dirty="0">
                <a:latin typeface="Arial" panose="020B0604020202020204" pitchFamily="34" charset="0"/>
                <a:cs typeface="Arial" panose="020B0604020202020204" pitchFamily="34" charset="0"/>
                <a:hlinkClick r:id="rId2"/>
              </a:rPr>
              <a:t>https://bygentry.github.io/LHDB-PCA/Variable-Definitions.html</a:t>
            </a:r>
            <a:endParaRPr lang="en-US"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remove notes column</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include unit discrepancies (</a:t>
            </a:r>
            <a:r>
              <a:rPr lang="en-US" dirty="0" err="1">
                <a:latin typeface="Arial" panose="020B0604020202020204" pitchFamily="34" charset="0"/>
                <a:cs typeface="Arial" panose="020B0604020202020204" pitchFamily="34" charset="0"/>
              </a:rPr>
              <a:t>mo</a:t>
            </a:r>
            <a:r>
              <a:rPr lang="en-US" dirty="0">
                <a:latin typeface="Arial" panose="020B0604020202020204" pitchFamily="34" charset="0"/>
                <a:cs typeface="Arial" panose="020B0604020202020204" pitchFamily="34" charset="0"/>
              </a:rPr>
              <a:t> vs days, grams vs kg, etc.)  to illustrate influence of researchers personal choices and callback </a:t>
            </a:r>
            <a:r>
              <a:rPr lang="en-US" dirty="0" err="1">
                <a:latin typeface="Arial" panose="020B0604020202020204" pitchFamily="34" charset="0"/>
                <a:cs typeface="Arial" panose="020B0604020202020204" pitchFamily="34" charset="0"/>
              </a:rPr>
              <a:t>borries</a:t>
            </a:r>
            <a:r>
              <a:rPr lang="en-US" dirty="0">
                <a:latin typeface="Arial" panose="020B0604020202020204" pitchFamily="34" charset="0"/>
                <a:cs typeface="Arial" panose="020B0604020202020204" pitchFamily="34" charset="0"/>
              </a:rPr>
              <a:t> statement </a:t>
            </a:r>
          </a:p>
          <a:p>
            <a:pPr marL="742950" lvl="1"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“one would assume that researchers have long since agreed upon life history definitions and are using </a:t>
            </a:r>
            <a:r>
              <a:rPr lang="en-US" b="1" u="sng" dirty="0">
                <a:latin typeface="Arial" panose="020B0604020202020204" pitchFamily="34" charset="0"/>
                <a:cs typeface="Arial" panose="020B0604020202020204" pitchFamily="34" charset="0"/>
              </a:rPr>
              <a:t>reliable</a:t>
            </a:r>
            <a:r>
              <a:rPr lang="en-US" dirty="0">
                <a:latin typeface="Arial" panose="020B0604020202020204" pitchFamily="34" charset="0"/>
                <a:cs typeface="Arial" panose="020B0604020202020204" pitchFamily="34" charset="0"/>
              </a:rPr>
              <a:t> and </a:t>
            </a:r>
            <a:r>
              <a:rPr lang="en-US" b="1" u="sng" dirty="0">
                <a:latin typeface="Arial" panose="020B0604020202020204" pitchFamily="34" charset="0"/>
                <a:cs typeface="Arial" panose="020B0604020202020204" pitchFamily="34" charset="0"/>
              </a:rPr>
              <a:t>accurate data </a:t>
            </a:r>
            <a:r>
              <a:rPr lang="en-US" dirty="0">
                <a:latin typeface="Arial" panose="020B0604020202020204" pitchFamily="34" charset="0"/>
                <a:cs typeface="Arial" panose="020B0604020202020204" pitchFamily="34" charset="0"/>
              </a:rPr>
              <a:t>stored </a:t>
            </a:r>
            <a:r>
              <a:rPr lang="en-US" b="1" u="sng" dirty="0">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b="1" u="sng" dirty="0">
                <a:latin typeface="Arial" panose="020B0604020202020204" pitchFamily="34" charset="0"/>
                <a:cs typeface="Arial" panose="020B0604020202020204" pitchFamily="34" charset="0"/>
              </a:rPr>
              <a:t>standardized repositories”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is the best way to have 7 small 5x3 tables (one for each key LH trait) with the 3 fields being source, unit, description?</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highlight that no database reports  both ASM and AFR</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3"/>
          <a:stretch>
            <a:fillRect/>
          </a:stretch>
        </p:blipFill>
        <p:spPr>
          <a:xfrm>
            <a:off x="1165021" y="3118858"/>
            <a:ext cx="2310304" cy="1862886"/>
          </a:xfrm>
          <a:prstGeom prst="rect">
            <a:avLst/>
          </a:prstGeom>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5"/>
          <a:srcRect t="576" r="632" b="531"/>
          <a:stretch>
            <a:fillRect/>
          </a:stretch>
        </p:blipFill>
        <p:spPr>
          <a:xfrm>
            <a:off x="13534601" y="5466463"/>
            <a:ext cx="15324961" cy="12828613"/>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694799" y="18329217"/>
            <a:ext cx="15343254" cy="1969193"/>
          </a:xfrm>
          <a:prstGeom prst="rect">
            <a:avLst/>
          </a:prstGeom>
          <a:noFill/>
          <a:ln>
            <a:noFill/>
          </a:ln>
        </p:spPr>
        <p:txBody>
          <a:bodyPr wrap="square" rtlCol="0">
            <a:spAutoFit/>
          </a:bodyPr>
          <a:lstStyle/>
          <a:p>
            <a:pPr>
              <a:lnSpc>
                <a:spcPct val="150000"/>
              </a:lnSpc>
            </a:pPr>
            <a:r>
              <a:rPr lang="en-US" sz="2800" b="1" dirty="0">
                <a:latin typeface="Arial" panose="020B0604020202020204" pitchFamily="34" charset="0"/>
                <a:cs typeface="Arial" panose="020B0604020202020204" pitchFamily="34" charset="0"/>
              </a:rPr>
              <a:t>Figure 1. </a:t>
            </a:r>
            <a:r>
              <a:rPr lang="en-US" sz="28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800" b="1" dirty="0">
                <a:latin typeface="Arial" panose="020B0604020202020204" pitchFamily="34" charset="0"/>
                <a:cs typeface="Arial" panose="020B0604020202020204" pitchFamily="34" charset="0"/>
              </a:rPr>
              <a:t> </a:t>
            </a:r>
            <a:endParaRPr lang="en-US" sz="28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29014414" y="25680880"/>
            <a:ext cx="8977149" cy="12385122"/>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RESULTS</a:t>
            </a:r>
            <a:endParaRPr lang="en-US" dirty="0">
              <a:latin typeface="Arial" panose="020B0604020202020204" pitchFamily="34" charset="0"/>
              <a:cs typeface="Arial" panose="020B0604020202020204" pitchFamily="34" charset="0"/>
            </a:endParaRP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No dataset represented more than </a:t>
            </a:r>
            <a:r>
              <a:rPr lang="en-US" sz="2800" dirty="0">
                <a:solidFill>
                  <a:srgbClr val="FF0000"/>
                </a:solidFill>
                <a:latin typeface="Arial" panose="020B0604020202020204" pitchFamily="34" charset="0"/>
                <a:cs typeface="Arial" panose="020B0604020202020204" pitchFamily="34" charset="0"/>
              </a:rPr>
              <a:t>70%</a:t>
            </a:r>
            <a:r>
              <a:rPr lang="en-US" sz="2800" dirty="0">
                <a:latin typeface="Arial" panose="020B0604020202020204" pitchFamily="34" charset="0"/>
                <a:cs typeface="Arial" panose="020B0604020202020204" pitchFamily="34" charset="0"/>
              </a:rPr>
              <a:t> of recognized primate species.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All</a:t>
            </a:r>
            <a:r>
              <a:rPr lang="en-US" sz="2800" b="1"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datasets did not record </a:t>
            </a:r>
            <a:r>
              <a:rPr lang="en-US" sz="2800" dirty="0">
                <a:solidFill>
                  <a:srgbClr val="FF0000"/>
                </a:solidFill>
                <a:latin typeface="Arial" panose="020B0604020202020204" pitchFamily="34" charset="0"/>
                <a:cs typeface="Arial" panose="020B0604020202020204" pitchFamily="34" charset="0"/>
              </a:rPr>
              <a:t>at least two</a:t>
            </a:r>
            <a:r>
              <a:rPr lang="en-US" sz="2800" dirty="0">
                <a:latin typeface="Arial" panose="020B0604020202020204" pitchFamily="34" charset="0"/>
                <a:cs typeface="Arial" panose="020B0604020202020204" pitchFamily="34" charset="0"/>
              </a:rPr>
              <a:t> of our “key” LH traits.</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Between datasets, mean proportions of missing values for key traits ranged from </a:t>
            </a:r>
            <a:r>
              <a:rPr lang="en-US" sz="2800" dirty="0">
                <a:solidFill>
                  <a:srgbClr val="FF0000"/>
                </a:solidFill>
                <a:latin typeface="Arial" panose="020B0604020202020204" pitchFamily="34" charset="0"/>
                <a:cs typeface="Arial" panose="020B0604020202020204" pitchFamily="34" charset="0"/>
              </a:rPr>
              <a:t>30.7 to 68.8%.</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[8] had the most missing values (68.8%).</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Of the traits recorded in multiple datasets, </a:t>
            </a:r>
            <a:r>
              <a:rPr lang="en-US" sz="2800" dirty="0">
                <a:solidFill>
                  <a:srgbClr val="FF0000"/>
                </a:solidFill>
                <a:latin typeface="Arial" panose="020B0604020202020204" pitchFamily="34" charset="0"/>
                <a:cs typeface="Arial" panose="020B0604020202020204" pitchFamily="34" charset="0"/>
              </a:rPr>
              <a:t>AFR was the least complete among pooled data </a:t>
            </a:r>
            <a:r>
              <a:rPr lang="en-US" sz="2800" dirty="0">
                <a:latin typeface="Arial" panose="020B0604020202020204" pitchFamily="34" charset="0"/>
                <a:cs typeface="Arial" panose="020B0604020202020204" pitchFamily="34" charset="0"/>
              </a:rPr>
              <a:t>with a proportion of missing values equal to .653.</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content varied from complete and detailed to largely unavailable. </a:t>
            </a:r>
          </a:p>
          <a:p>
            <a:pPr marL="1143000" lvl="1"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For those with available metadata, quality and detail also ranged.</a:t>
            </a:r>
          </a:p>
          <a:p>
            <a:pPr marL="685800" indent="-6858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ASM was significantly less dimorphic than adult mass across primates and within species (p &lt; </a:t>
            </a:r>
            <a:r>
              <a:rPr lang="en-US" sz="2800">
                <a:latin typeface="Arial" panose="020B0604020202020204" pitchFamily="34" charset="0"/>
                <a:cs typeface="Arial" panose="020B0604020202020204" pitchFamily="34" charset="0"/>
              </a:rPr>
              <a:t>.00001 &amp; p &lt; .001).</a:t>
            </a:r>
            <a:endParaRPr lang="en-US" sz="2800" dirty="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4919C69F-CEBD-2D09-7893-35D33E032D80}"/>
              </a:ext>
            </a:extLst>
          </p:cNvPr>
          <p:cNvSpPr txBox="1"/>
          <p:nvPr/>
        </p:nvSpPr>
        <p:spPr>
          <a:xfrm>
            <a:off x="13733432" y="33192353"/>
            <a:ext cx="14392814" cy="3503523"/>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DISCUSSION</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Ex: IBI descriptions for Amniotes &amp; PanTHERIA specify live offspring, while KP doesn’t specify; AnAge lacks any description of IBI, and Ernest does not record data for IBI.</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26541434"/>
            <a:ext cx="3931921" cy="593047"/>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endParaRPr lang="en-US" dirty="0">
              <a:latin typeface="Arial" panose="020B0604020202020204" pitchFamily="34" charset="0"/>
              <a:cs typeface="Arial" panose="020B0604020202020204" pitchFamily="34" charset="0"/>
            </a:endParaRPr>
          </a:p>
        </p:txBody>
      </p:sp>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2889211633"/>
              </p:ext>
            </p:extLst>
          </p:nvPr>
        </p:nvGraphicFramePr>
        <p:xfrm>
          <a:off x="13667857" y="22161523"/>
          <a:ext cx="15102725" cy="4138398"/>
        </p:xfrm>
        <a:graphic>
          <a:graphicData uri="http://schemas.openxmlformats.org/drawingml/2006/table">
            <a:tbl>
              <a:tblPr firstRow="1" bandRow="1">
                <a:tableStyleId>{5C22544A-7EE6-4342-B048-85BDC9FD1C3A}</a:tableStyleId>
              </a:tblPr>
              <a:tblGrid>
                <a:gridCol w="2197387">
                  <a:extLst>
                    <a:ext uri="{9D8B030D-6E8A-4147-A177-3AD203B41FA5}">
                      <a16:colId xmlns:a16="http://schemas.microsoft.com/office/drawing/2014/main" val="2495585869"/>
                    </a:ext>
                  </a:extLst>
                </a:gridCol>
                <a:gridCol w="1851702">
                  <a:extLst>
                    <a:ext uri="{9D8B030D-6E8A-4147-A177-3AD203B41FA5}">
                      <a16:colId xmlns:a16="http://schemas.microsoft.com/office/drawing/2014/main" val="3601265924"/>
                    </a:ext>
                  </a:extLst>
                </a:gridCol>
                <a:gridCol w="1562373">
                  <a:extLst>
                    <a:ext uri="{9D8B030D-6E8A-4147-A177-3AD203B41FA5}">
                      <a16:colId xmlns:a16="http://schemas.microsoft.com/office/drawing/2014/main" val="984202891"/>
                    </a:ext>
                  </a:extLst>
                </a:gridCol>
                <a:gridCol w="2112098">
                  <a:extLst>
                    <a:ext uri="{9D8B030D-6E8A-4147-A177-3AD203B41FA5}">
                      <a16:colId xmlns:a16="http://schemas.microsoft.com/office/drawing/2014/main" val="1450671555"/>
                    </a:ext>
                  </a:extLst>
                </a:gridCol>
                <a:gridCol w="2112098">
                  <a:extLst>
                    <a:ext uri="{9D8B030D-6E8A-4147-A177-3AD203B41FA5}">
                      <a16:colId xmlns:a16="http://schemas.microsoft.com/office/drawing/2014/main" val="2092606652"/>
                    </a:ext>
                  </a:extLst>
                </a:gridCol>
                <a:gridCol w="1070515">
                  <a:extLst>
                    <a:ext uri="{9D8B030D-6E8A-4147-A177-3AD203B41FA5}">
                      <a16:colId xmlns:a16="http://schemas.microsoft.com/office/drawing/2014/main" val="3671337353"/>
                    </a:ext>
                  </a:extLst>
                </a:gridCol>
                <a:gridCol w="2155470">
                  <a:extLst>
                    <a:ext uri="{9D8B030D-6E8A-4147-A177-3AD203B41FA5}">
                      <a16:colId xmlns:a16="http://schemas.microsoft.com/office/drawing/2014/main" val="1165741138"/>
                    </a:ext>
                  </a:extLst>
                </a:gridCol>
                <a:gridCol w="2041082">
                  <a:extLst>
                    <a:ext uri="{9D8B030D-6E8A-4147-A177-3AD203B41FA5}">
                      <a16:colId xmlns:a16="http://schemas.microsoft.com/office/drawing/2014/main" val="3607082557"/>
                    </a:ext>
                  </a:extLst>
                </a:gridCol>
              </a:tblGrid>
              <a:tr h="826167">
                <a:tc>
                  <a:txBody>
                    <a:bodyPr/>
                    <a:lstStyle/>
                    <a:p>
                      <a:r>
                        <a:rPr lang="en-US" sz="2600" b="1" dirty="0">
                          <a:latin typeface="Arial" panose="020B0604020202020204" pitchFamily="34" charset="0"/>
                          <a:cs typeface="Arial" panose="020B0604020202020204" pitchFamily="34" charset="0"/>
                        </a:rPr>
                        <a:t>Source</a:t>
                      </a:r>
                    </a:p>
                  </a:txBody>
                  <a:tcPr/>
                </a:tc>
                <a:tc>
                  <a:txBody>
                    <a:bodyPr/>
                    <a:lstStyle/>
                    <a:p>
                      <a:r>
                        <a:rPr lang="en-US" sz="2600" dirty="0">
                          <a:latin typeface="Arial" panose="020B0604020202020204" pitchFamily="34" charset="0"/>
                          <a:cs typeface="Arial" panose="020B0604020202020204" pitchFamily="34" charset="0"/>
                        </a:rPr>
                        <a:t>Actively Updated?</a:t>
                      </a:r>
                    </a:p>
                  </a:txBody>
                  <a:tcPr/>
                </a:tc>
                <a:tc>
                  <a:txBody>
                    <a:bodyPr/>
                    <a:lstStyle/>
                    <a:p>
                      <a:r>
                        <a:rPr lang="en-US" sz="2600" dirty="0">
                          <a:latin typeface="Arial" panose="020B0604020202020204" pitchFamily="34" charset="0"/>
                          <a:cs typeface="Arial" panose="020B0604020202020204" pitchFamily="34" charset="0"/>
                        </a:rPr>
                        <a:t>N species</a:t>
                      </a:r>
                    </a:p>
                  </a:txBody>
                  <a:tcPr/>
                </a:tc>
                <a:tc>
                  <a:txBody>
                    <a:bodyPr/>
                    <a:lstStyle/>
                    <a:p>
                      <a:r>
                        <a:rPr lang="en-US" sz="2600" dirty="0">
                          <a:latin typeface="Arial" panose="020B0604020202020204" pitchFamily="34" charset="0"/>
                          <a:cs typeface="Arial" panose="020B0604020202020204" pitchFamily="34" charset="0"/>
                        </a:rPr>
                        <a:t>P species represented</a:t>
                      </a:r>
                    </a:p>
                  </a:txBody>
                  <a:tcPr/>
                </a:tc>
                <a:tc>
                  <a:txBody>
                    <a:bodyPr/>
                    <a:lstStyle/>
                    <a:p>
                      <a:r>
                        <a:rPr lang="en-US" sz="2600" dirty="0">
                          <a:latin typeface="Arial" panose="020B0604020202020204" pitchFamily="34" charset="0"/>
                          <a:cs typeface="Arial" panose="020B0604020202020204" pitchFamily="34" charset="0"/>
                        </a:rPr>
                        <a:t>Metadata Score (x/8)</a:t>
                      </a:r>
                    </a:p>
                  </a:txBody>
                  <a:tcPr/>
                </a:tc>
                <a:tc>
                  <a:txBody>
                    <a:bodyPr/>
                    <a:lstStyle/>
                    <a:p>
                      <a:r>
                        <a:rPr lang="en-US" sz="2600" dirty="0">
                          <a:latin typeface="Arial" panose="020B0604020202020204" pitchFamily="34" charset="0"/>
                          <a:cs typeface="Arial" panose="020B0604020202020204" pitchFamily="34" charset="0"/>
                        </a:rPr>
                        <a:t>N LH stats</a:t>
                      </a:r>
                    </a:p>
                  </a:txBody>
                  <a:tcPr/>
                </a:tc>
                <a:tc>
                  <a:txBody>
                    <a:bodyPr/>
                    <a:lstStyle/>
                    <a:p>
                      <a:r>
                        <a:rPr lang="en-US" sz="2600" dirty="0">
                          <a:latin typeface="Arial" panose="020B0604020202020204" pitchFamily="34" charset="0"/>
                          <a:cs typeface="Arial" panose="020B0604020202020204" pitchFamily="34" charset="0"/>
                        </a:rPr>
                        <a:t>P missing values (Key)</a:t>
                      </a:r>
                    </a:p>
                  </a:txBody>
                  <a:tcPr/>
                </a:tc>
                <a:tc>
                  <a:txBody>
                    <a:bodyPr/>
                    <a:lstStyle/>
                    <a:p>
                      <a:r>
                        <a:rPr lang="en-US" sz="2600" dirty="0">
                          <a:latin typeface="Arial" panose="020B0604020202020204" pitchFamily="34" charset="0"/>
                          <a:cs typeface="Arial" panose="020B0604020202020204" pitchFamily="34" charset="0"/>
                        </a:rPr>
                        <a:t>P missing values (All)</a:t>
                      </a:r>
                    </a:p>
                  </a:txBody>
                  <a:tcPr/>
                </a:tc>
                <a:extLst>
                  <a:ext uri="{0D108BD9-81ED-4DB2-BD59-A6C34878D82A}">
                    <a16:rowId xmlns:a16="http://schemas.microsoft.com/office/drawing/2014/main" val="3004830895"/>
                  </a:ext>
                </a:extLst>
              </a:tr>
              <a:tr h="559910">
                <a:tc>
                  <a:txBody>
                    <a:bodyPr/>
                    <a:lstStyle/>
                    <a:p>
                      <a:r>
                        <a:rPr lang="en-US" sz="2600" dirty="0">
                          <a:latin typeface="Arial" panose="020B0604020202020204" pitchFamily="34" charset="0"/>
                          <a:cs typeface="Arial" panose="020B0604020202020204" pitchFamily="34" charset="0"/>
                        </a:rPr>
                        <a:t>Amniotes</a:t>
                      </a:r>
                    </a:p>
                  </a:txBody>
                  <a:tcPr/>
                </a:tc>
                <a:tc>
                  <a:txBody>
                    <a:bodyPr/>
                    <a:lstStyle/>
                    <a:p>
                      <a:r>
                        <a:rPr lang="en-US" sz="2600" dirty="0">
                          <a:latin typeface="Arial" panose="020B0604020202020204" pitchFamily="34" charset="0"/>
                          <a:cs typeface="Arial" panose="020B0604020202020204" pitchFamily="34" charset="0"/>
                        </a:rPr>
                        <a:t>No</a:t>
                      </a:r>
                    </a:p>
                  </a:txBody>
                  <a:tcPr/>
                </a:tc>
                <a:tc>
                  <a:txBody>
                    <a:bodyPr/>
                    <a:lstStyle/>
                    <a:p>
                      <a:r>
                        <a:rPr lang="en-US" sz="2600" dirty="0">
                          <a:latin typeface="Arial" panose="020B0604020202020204" pitchFamily="34" charset="0"/>
                          <a:cs typeface="Arial" panose="020B0604020202020204" pitchFamily="34" charset="0"/>
                        </a:rPr>
                        <a:t>365</a:t>
                      </a:r>
                    </a:p>
                  </a:txBody>
                  <a:tcPr/>
                </a:tc>
                <a:tc>
                  <a:txBody>
                    <a:bodyPr/>
                    <a:lstStyle/>
                    <a:p>
                      <a:r>
                        <a:rPr lang="en-US" sz="2600" dirty="0">
                          <a:latin typeface="Arial" panose="020B0604020202020204" pitchFamily="34" charset="0"/>
                          <a:cs typeface="Arial" panose="020B0604020202020204" pitchFamily="34" charset="0"/>
                        </a:rPr>
                        <a:t>.68</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23</a:t>
                      </a:r>
                    </a:p>
                  </a:txBody>
                  <a:tcPr/>
                </a:tc>
                <a:tc>
                  <a:txBody>
                    <a:bodyPr/>
                    <a:lstStyle/>
                    <a:p>
                      <a:r>
                        <a:rPr lang="en-US" sz="2600" dirty="0">
                          <a:latin typeface="Arial" panose="020B0604020202020204" pitchFamily="34" charset="0"/>
                          <a:cs typeface="Arial" panose="020B0604020202020204" pitchFamily="34" charset="0"/>
                        </a:rPr>
                        <a:t>.34</a:t>
                      </a:r>
                    </a:p>
                  </a:txBody>
                  <a:tcPr/>
                </a:tc>
                <a:tc>
                  <a:txBody>
                    <a:bodyPr/>
                    <a:lstStyle/>
                    <a:p>
                      <a:r>
                        <a:rPr lang="en-US" sz="2600" dirty="0">
                          <a:latin typeface="Arial" panose="020B0604020202020204" pitchFamily="34" charset="0"/>
                          <a:cs typeface="Arial" panose="020B0604020202020204" pitchFamily="34" charset="0"/>
                        </a:rPr>
                        <a:t>.54</a:t>
                      </a:r>
                    </a:p>
                  </a:txBody>
                  <a:tcPr/>
                </a:tc>
                <a:extLst>
                  <a:ext uri="{0D108BD9-81ED-4DB2-BD59-A6C34878D82A}">
                    <a16:rowId xmlns:a16="http://schemas.microsoft.com/office/drawing/2014/main" val="1504921128"/>
                  </a:ext>
                </a:extLst>
              </a:tr>
              <a:tr h="559910">
                <a:tc>
                  <a:txBody>
                    <a:bodyPr/>
                    <a:lstStyle/>
                    <a:p>
                      <a:r>
                        <a:rPr lang="en-US" sz="2600" dirty="0">
                          <a:latin typeface="Arial" panose="020B0604020202020204" pitchFamily="34" charset="0"/>
                          <a:cs typeface="Arial" panose="020B0604020202020204" pitchFamily="34" charset="0"/>
                        </a:rPr>
                        <a:t>AnAge</a:t>
                      </a:r>
                    </a:p>
                  </a:txBody>
                  <a:tcPr/>
                </a:tc>
                <a:tc>
                  <a:txBody>
                    <a:bodyPr/>
                    <a:lstStyle/>
                    <a:p>
                      <a:r>
                        <a:rPr lang="en-US" sz="2600" dirty="0">
                          <a:latin typeface="Arial" panose="020B0604020202020204" pitchFamily="34" charset="0"/>
                          <a:cs typeface="Arial" panose="020B0604020202020204" pitchFamily="34" charset="0"/>
                        </a:rPr>
                        <a:t>Yes</a:t>
                      </a:r>
                    </a:p>
                  </a:txBody>
                  <a:tcPr/>
                </a:tc>
                <a:tc>
                  <a:txBody>
                    <a:bodyPr/>
                    <a:lstStyle/>
                    <a:p>
                      <a:r>
                        <a:rPr lang="en-US" sz="2600" dirty="0">
                          <a:latin typeface="Arial" panose="020B0604020202020204" pitchFamily="34" charset="0"/>
                          <a:cs typeface="Arial" panose="020B0604020202020204" pitchFamily="34" charset="0"/>
                        </a:rPr>
                        <a:t>174</a:t>
                      </a:r>
                    </a:p>
                  </a:txBody>
                  <a:tcPr/>
                </a:tc>
                <a:tc>
                  <a:txBody>
                    <a:bodyPr/>
                    <a:lstStyle/>
                    <a:p>
                      <a:r>
                        <a:rPr lang="en-US" sz="2600" dirty="0">
                          <a:latin typeface="Arial" panose="020B0604020202020204" pitchFamily="34" charset="0"/>
                          <a:cs typeface="Arial" panose="020B0604020202020204" pitchFamily="34" charset="0"/>
                        </a:rPr>
                        <a:t>.33</a:t>
                      </a:r>
                    </a:p>
                  </a:txBody>
                  <a:tcPr/>
                </a:tc>
                <a:tc>
                  <a:txBody>
                    <a:bodyPr/>
                    <a:lstStyle/>
                    <a:p>
                      <a:r>
                        <a:rPr lang="en-US" sz="2600" dirty="0">
                          <a:latin typeface="Arial" panose="020B0604020202020204" pitchFamily="34" charset="0"/>
                          <a:cs typeface="Arial" panose="020B0604020202020204" pitchFamily="34" charset="0"/>
                        </a:rPr>
                        <a:t>3</a:t>
                      </a:r>
                    </a:p>
                  </a:txBody>
                  <a:tcPr/>
                </a:tc>
                <a:tc>
                  <a:txBody>
                    <a:bodyPr/>
                    <a:lstStyle/>
                    <a:p>
                      <a:r>
                        <a:rPr lang="en-US" sz="2600" dirty="0">
                          <a:latin typeface="Arial" panose="020B0604020202020204" pitchFamily="34" charset="0"/>
                          <a:cs typeface="Arial" panose="020B0604020202020204" pitchFamily="34" charset="0"/>
                        </a:rPr>
                        <a:t>19</a:t>
                      </a:r>
                    </a:p>
                  </a:txBody>
                  <a:tcPr/>
                </a:tc>
                <a:tc>
                  <a:txBody>
                    <a:bodyPr/>
                    <a:lstStyle/>
                    <a:p>
                      <a:r>
                        <a:rPr lang="en-US" sz="2600" dirty="0">
                          <a:latin typeface="Arial" panose="020B0604020202020204" pitchFamily="34" charset="0"/>
                          <a:cs typeface="Arial" panose="020B0604020202020204" pitchFamily="34" charset="0"/>
                        </a:rPr>
                        <a:t>.37</a:t>
                      </a:r>
                    </a:p>
                  </a:txBody>
                  <a:tcPr/>
                </a:tc>
                <a:tc>
                  <a:txBody>
                    <a:bodyPr/>
                    <a:lstStyle/>
                    <a:p>
                      <a:r>
                        <a:rPr lang="en-US" sz="2600" dirty="0">
                          <a:latin typeface="Arial" panose="020B0604020202020204" pitchFamily="34" charset="0"/>
                          <a:cs typeface="Arial" panose="020B0604020202020204" pitchFamily="34" charset="0"/>
                        </a:rPr>
                        <a:t>.46</a:t>
                      </a:r>
                    </a:p>
                  </a:txBody>
                  <a:tcPr/>
                </a:tc>
                <a:extLst>
                  <a:ext uri="{0D108BD9-81ED-4DB2-BD59-A6C34878D82A}">
                    <a16:rowId xmlns:a16="http://schemas.microsoft.com/office/drawing/2014/main" val="1182304281"/>
                  </a:ext>
                </a:extLst>
              </a:tr>
              <a:tr h="559910">
                <a:tc>
                  <a:txBody>
                    <a:bodyPr/>
                    <a:lstStyle/>
                    <a:p>
                      <a:r>
                        <a:rPr lang="en-US" sz="2600" dirty="0">
                          <a:latin typeface="Arial" panose="020B0604020202020204" pitchFamily="34" charset="0"/>
                          <a:cs typeface="Arial" panose="020B0604020202020204" pitchFamily="34" charset="0"/>
                        </a:rPr>
                        <a:t>Ernest</a:t>
                      </a:r>
                    </a:p>
                  </a:txBody>
                  <a:tcPr/>
                </a:tc>
                <a:tc>
                  <a:txBody>
                    <a:bodyPr/>
                    <a:lstStyle/>
                    <a:p>
                      <a:r>
                        <a:rPr lang="en-US" sz="2600" dirty="0">
                          <a:latin typeface="Arial" panose="020B0604020202020204" pitchFamily="34" charset="0"/>
                          <a:cs typeface="Arial" panose="020B0604020202020204" pitchFamily="34" charset="0"/>
                        </a:rPr>
                        <a:t>No</a:t>
                      </a:r>
                    </a:p>
                  </a:txBody>
                  <a:tcPr/>
                </a:tc>
                <a:tc>
                  <a:txBody>
                    <a:bodyPr/>
                    <a:lstStyle/>
                    <a:p>
                      <a:r>
                        <a:rPr lang="en-US" sz="2600" dirty="0">
                          <a:latin typeface="Arial" panose="020B0604020202020204" pitchFamily="34" charset="0"/>
                          <a:cs typeface="Arial" panose="020B0604020202020204" pitchFamily="34" charset="0"/>
                        </a:rPr>
                        <a:t>156</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8</a:t>
                      </a:r>
                    </a:p>
                  </a:txBody>
                  <a:tcPr/>
                </a:tc>
                <a:tc>
                  <a:txBody>
                    <a:bodyPr/>
                    <a:lstStyle/>
                    <a:p>
                      <a:r>
                        <a:rPr lang="en-US" sz="2600" dirty="0">
                          <a:latin typeface="Arial" panose="020B0604020202020204" pitchFamily="34" charset="0"/>
                          <a:cs typeface="Arial" panose="020B0604020202020204" pitchFamily="34" charset="0"/>
                        </a:rPr>
                        <a:t>9</a:t>
                      </a:r>
                    </a:p>
                  </a:txBody>
                  <a:tcPr/>
                </a:tc>
                <a:tc>
                  <a:txBody>
                    <a:bodyPr/>
                    <a:lstStyle/>
                    <a:p>
                      <a:r>
                        <a:rPr lang="en-US" sz="2600" dirty="0">
                          <a:latin typeface="Arial" panose="020B0604020202020204" pitchFamily="34" charset="0"/>
                          <a:cs typeface="Arial" panose="020B0604020202020204" pitchFamily="34" charset="0"/>
                        </a:rPr>
                        <a:t>.31</a:t>
                      </a:r>
                    </a:p>
                  </a:txBody>
                  <a:tcPr/>
                </a:tc>
                <a:tc>
                  <a:txBody>
                    <a:bodyPr/>
                    <a:lstStyle/>
                    <a:p>
                      <a:r>
                        <a:rPr lang="en-US" sz="2600" dirty="0">
                          <a:latin typeface="Arial" panose="020B0604020202020204" pitchFamily="34" charset="0"/>
                          <a:cs typeface="Arial" panose="020B0604020202020204" pitchFamily="34" charset="0"/>
                        </a:rPr>
                        <a:t>.32</a:t>
                      </a:r>
                    </a:p>
                  </a:txBody>
                  <a:tcPr/>
                </a:tc>
                <a:extLst>
                  <a:ext uri="{0D108BD9-81ED-4DB2-BD59-A6C34878D82A}">
                    <a16:rowId xmlns:a16="http://schemas.microsoft.com/office/drawing/2014/main" val="4040463589"/>
                  </a:ext>
                </a:extLst>
              </a:tr>
              <a:tr h="1014838">
                <a:tc>
                  <a:txBody>
                    <a:bodyPr/>
                    <a:lstStyle/>
                    <a:p>
                      <a:r>
                        <a:rPr lang="en-US" sz="2600" dirty="0">
                          <a:latin typeface="Arial" panose="020B0604020202020204" pitchFamily="34" charset="0"/>
                          <a:cs typeface="Arial" panose="020B0604020202020204" pitchFamily="34" charset="0"/>
                        </a:rPr>
                        <a:t>Kappeler &amp; Pereira</a:t>
                      </a:r>
                    </a:p>
                  </a:txBody>
                  <a:tcPr/>
                </a:tc>
                <a:tc>
                  <a:txBody>
                    <a:bodyPr/>
                    <a:lstStyle/>
                    <a:p>
                      <a:r>
                        <a:rPr lang="en-US" sz="2600" dirty="0">
                          <a:latin typeface="Arial" panose="020B0604020202020204" pitchFamily="34" charset="0"/>
                          <a:cs typeface="Arial" panose="020B0604020202020204" pitchFamily="34" charset="0"/>
                        </a:rPr>
                        <a:t>No</a:t>
                      </a:r>
                    </a:p>
                  </a:txBody>
                  <a:tcPr/>
                </a:tc>
                <a:tc>
                  <a:txBody>
                    <a:bodyPr/>
                    <a:lstStyle/>
                    <a:p>
                      <a:r>
                        <a:rPr lang="en-US" sz="2600" dirty="0">
                          <a:latin typeface="Arial" panose="020B0604020202020204" pitchFamily="34" charset="0"/>
                          <a:cs typeface="Arial" panose="020B0604020202020204" pitchFamily="34" charset="0"/>
                        </a:rPr>
                        <a:t>310</a:t>
                      </a:r>
                    </a:p>
                  </a:txBody>
                  <a:tcPr/>
                </a:tc>
                <a:tc>
                  <a:txBody>
                    <a:bodyPr/>
                    <a:lstStyle/>
                    <a:p>
                      <a:r>
                        <a:rPr lang="en-US" sz="2600" dirty="0">
                          <a:latin typeface="Arial" panose="020B0604020202020204" pitchFamily="34" charset="0"/>
                          <a:cs typeface="Arial" panose="020B0604020202020204" pitchFamily="34" charset="0"/>
                        </a:rPr>
                        <a:t>.58</a:t>
                      </a:r>
                    </a:p>
                  </a:txBody>
                  <a:tcPr/>
                </a:tc>
                <a:tc>
                  <a:txBody>
                    <a:bodyPr/>
                    <a:lstStyle/>
                    <a:p>
                      <a:r>
                        <a:rPr lang="en-US" sz="2600" dirty="0">
                          <a:latin typeface="Arial" panose="020B0604020202020204" pitchFamily="34" charset="0"/>
                          <a:cs typeface="Arial" panose="020B0604020202020204" pitchFamily="34" charset="0"/>
                        </a:rPr>
                        <a:t>5</a:t>
                      </a:r>
                    </a:p>
                  </a:txBody>
                  <a:tcPr/>
                </a:tc>
                <a:tc>
                  <a:txBody>
                    <a:bodyPr/>
                    <a:lstStyle/>
                    <a:p>
                      <a:r>
                        <a:rPr lang="en-US" sz="2600" dirty="0">
                          <a:latin typeface="Arial" panose="020B0604020202020204" pitchFamily="34" charset="0"/>
                          <a:cs typeface="Arial" panose="020B0604020202020204" pitchFamily="34" charset="0"/>
                        </a:rPr>
                        <a:t>13</a:t>
                      </a:r>
                    </a:p>
                  </a:txBody>
                  <a:tcPr/>
                </a:tc>
                <a:tc>
                  <a:txBody>
                    <a:bodyPr/>
                    <a:lstStyle/>
                    <a:p>
                      <a:r>
                        <a:rPr lang="en-US" sz="2600" dirty="0">
                          <a:latin typeface="Arial" panose="020B0604020202020204" pitchFamily="34" charset="0"/>
                          <a:cs typeface="Arial" panose="020B0604020202020204" pitchFamily="34" charset="0"/>
                        </a:rPr>
                        <a:t>.69</a:t>
                      </a:r>
                    </a:p>
                  </a:txBody>
                  <a:tcPr/>
                </a:tc>
                <a:tc>
                  <a:txBody>
                    <a:bodyPr/>
                    <a:lstStyle/>
                    <a:p>
                      <a:r>
                        <a:rPr lang="en-US" sz="2600" dirty="0">
                          <a:latin typeface="Arial" panose="020B0604020202020204" pitchFamily="34" charset="0"/>
                          <a:cs typeface="Arial" panose="020B0604020202020204" pitchFamily="34" charset="0"/>
                        </a:rPr>
                        <a:t>.76</a:t>
                      </a:r>
                    </a:p>
                  </a:txBody>
                  <a:tcPr/>
                </a:tc>
                <a:extLst>
                  <a:ext uri="{0D108BD9-81ED-4DB2-BD59-A6C34878D82A}">
                    <a16:rowId xmlns:a16="http://schemas.microsoft.com/office/drawing/2014/main" val="3353418559"/>
                  </a:ext>
                </a:extLst>
              </a:tr>
              <a:tr h="559910">
                <a:tc>
                  <a:txBody>
                    <a:bodyPr/>
                    <a:lstStyle/>
                    <a:p>
                      <a:r>
                        <a:rPr lang="en-US" sz="2600" dirty="0">
                          <a:latin typeface="Arial" panose="020B0604020202020204" pitchFamily="34" charset="0"/>
                          <a:cs typeface="Arial" panose="020B0604020202020204" pitchFamily="34" charset="0"/>
                        </a:rPr>
                        <a:t>PanTHERIA</a:t>
                      </a:r>
                    </a:p>
                  </a:txBody>
                  <a:tcPr/>
                </a:tc>
                <a:tc>
                  <a:txBody>
                    <a:bodyPr/>
                    <a:lstStyle/>
                    <a:p>
                      <a:r>
                        <a:rPr lang="en-US" sz="2600" dirty="0">
                          <a:latin typeface="Arial" panose="020B0604020202020204" pitchFamily="34" charset="0"/>
                          <a:cs typeface="Arial" panose="020B0604020202020204" pitchFamily="34" charset="0"/>
                        </a:rPr>
                        <a:t>No</a:t>
                      </a:r>
                    </a:p>
                  </a:txBody>
                  <a:tcPr/>
                </a:tc>
                <a:tc>
                  <a:txBody>
                    <a:bodyPr/>
                    <a:lstStyle/>
                    <a:p>
                      <a:r>
                        <a:rPr lang="en-US" sz="2600" dirty="0">
                          <a:latin typeface="Arial" panose="020B0604020202020204" pitchFamily="34" charset="0"/>
                          <a:cs typeface="Arial" panose="020B0604020202020204" pitchFamily="34" charset="0"/>
                        </a:rPr>
                        <a:t>376</a:t>
                      </a:r>
                    </a:p>
                  </a:txBody>
                  <a:tcPr/>
                </a:tc>
                <a:tc>
                  <a:txBody>
                    <a:bodyPr/>
                    <a:lstStyle/>
                    <a:p>
                      <a:r>
                        <a:rPr lang="en-US" sz="2600" dirty="0">
                          <a:latin typeface="Arial" panose="020B0604020202020204" pitchFamily="34" charset="0"/>
                          <a:cs typeface="Arial" panose="020B0604020202020204" pitchFamily="34" charset="0"/>
                        </a:rPr>
                        <a:t>.70</a:t>
                      </a:r>
                    </a:p>
                  </a:txBody>
                  <a:tcPr/>
                </a:tc>
                <a:tc>
                  <a:txBody>
                    <a:bodyPr/>
                    <a:lstStyle/>
                    <a:p>
                      <a:r>
                        <a:rPr lang="en-US" sz="2600" dirty="0">
                          <a:latin typeface="Arial" panose="020B0604020202020204" pitchFamily="34" charset="0"/>
                          <a:cs typeface="Arial" panose="020B0604020202020204" pitchFamily="34" charset="0"/>
                        </a:rPr>
                        <a:t>7</a:t>
                      </a:r>
                    </a:p>
                  </a:txBody>
                  <a:tcPr/>
                </a:tc>
                <a:tc>
                  <a:txBody>
                    <a:bodyPr/>
                    <a:lstStyle/>
                    <a:p>
                      <a:r>
                        <a:rPr lang="en-US" sz="2600" dirty="0">
                          <a:latin typeface="Arial" panose="020B0604020202020204" pitchFamily="34" charset="0"/>
                          <a:cs typeface="Arial" panose="020B0604020202020204" pitchFamily="34" charset="0"/>
                        </a:rPr>
                        <a:t>29</a:t>
                      </a:r>
                    </a:p>
                  </a:txBody>
                  <a:tcPr/>
                </a:tc>
                <a:tc>
                  <a:txBody>
                    <a:bodyPr/>
                    <a:lstStyle/>
                    <a:p>
                      <a:r>
                        <a:rPr lang="en-US" sz="2600" dirty="0">
                          <a:latin typeface="Arial" panose="020B0604020202020204" pitchFamily="34" charset="0"/>
                          <a:cs typeface="Arial" panose="020B0604020202020204" pitchFamily="34" charset="0"/>
                        </a:rPr>
                        <a:t>.63</a:t>
                      </a:r>
                    </a:p>
                  </a:txBody>
                  <a:tcPr/>
                </a:tc>
                <a:tc>
                  <a:txBody>
                    <a:bodyPr/>
                    <a:lstStyle/>
                    <a:p>
                      <a:r>
                        <a:rPr lang="en-US" sz="2600" dirty="0">
                          <a:latin typeface="Arial" panose="020B0604020202020204" pitchFamily="34" charset="0"/>
                          <a:cs typeface="Arial" panose="020B0604020202020204" pitchFamily="34" charset="0"/>
                        </a:rPr>
                        <a:t>.72</a:t>
                      </a:r>
                    </a:p>
                  </a:txBody>
                  <a:tcPr/>
                </a:tc>
                <a:extLst>
                  <a:ext uri="{0D108BD9-81ED-4DB2-BD59-A6C34878D82A}">
                    <a16:rowId xmlns:a16="http://schemas.microsoft.com/office/drawing/2014/main" val="1345818191"/>
                  </a:ext>
                </a:extLst>
              </a:tr>
            </a:tbl>
          </a:graphicData>
        </a:graphic>
      </p:graphicFrame>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4892222" y="30218561"/>
            <a:ext cx="8488295" cy="6187438"/>
          </a:xfrm>
          <a:prstGeom prst="rect">
            <a:avLst/>
          </a:prstGeom>
          <a:ln w="38100">
            <a:solidFill>
              <a:schemeClr val="tx1"/>
            </a:solidFill>
          </a:ln>
        </p:spPr>
      </p:pic>
      <p:sp>
        <p:nvSpPr>
          <p:cNvPr id="15" name="TextBox 14">
            <a:extLst>
              <a:ext uri="{FF2B5EF4-FFF2-40B4-BE49-F238E27FC236}">
                <a16:creationId xmlns:a16="http://schemas.microsoft.com/office/drawing/2014/main" id="{D27A7744-9494-CE5D-21E0-EC7C48E39EE3}"/>
              </a:ext>
            </a:extLst>
          </p:cNvPr>
          <p:cNvSpPr txBox="1"/>
          <p:nvPr/>
        </p:nvSpPr>
        <p:spPr>
          <a:xfrm>
            <a:off x="13694799" y="20225437"/>
            <a:ext cx="15102725" cy="1965282"/>
          </a:xfrm>
          <a:prstGeom prst="rect">
            <a:avLst/>
          </a:prstGeom>
          <a:noFill/>
        </p:spPr>
        <p:txBody>
          <a:bodyPr wrap="square" rtlCol="0">
            <a:spAutoFit/>
          </a:bodyPr>
          <a:lstStyle/>
          <a:p>
            <a:pPr>
              <a:lnSpc>
                <a:spcPct val="150000"/>
              </a:lnSpc>
            </a:pPr>
            <a:r>
              <a:rPr lang="en-US" sz="2800" b="1" dirty="0">
                <a:latin typeface="Arial" panose="020B0604020202020204" pitchFamily="34" charset="0"/>
                <a:cs typeface="Arial" panose="020B0604020202020204" pitchFamily="34" charset="0"/>
              </a:rPr>
              <a:t>Table 1. </a:t>
            </a:r>
            <a:r>
              <a:rPr lang="en-US" sz="2800" dirty="0">
                <a:latin typeface="Arial" panose="020B0604020202020204" pitchFamily="34" charset="0"/>
                <a:cs typeface="Arial" panose="020B0604020202020204" pitchFamily="34" charset="0"/>
              </a:rPr>
              <a:t>Descriptive statistics of primate life-history statistics for each database. AnAge is the only database that is continually updated, with its last update in 2023. Each database has fewer missing values for our selected key life-history traits compared to all recorded statistics.</a:t>
            </a:r>
            <a:endParaRPr lang="en-US" sz="2800" dirty="0"/>
          </a:p>
        </p:txBody>
      </p:sp>
      <p:sp>
        <p:nvSpPr>
          <p:cNvPr id="16" name="TextBox 15">
            <a:extLst>
              <a:ext uri="{FF2B5EF4-FFF2-40B4-BE49-F238E27FC236}">
                <a16:creationId xmlns:a16="http://schemas.microsoft.com/office/drawing/2014/main" id="{93DF6F33-EBCA-A373-C636-B42DAC9A95E5}"/>
              </a:ext>
            </a:extLst>
          </p:cNvPr>
          <p:cNvSpPr txBox="1"/>
          <p:nvPr/>
        </p:nvSpPr>
        <p:spPr>
          <a:xfrm>
            <a:off x="4892222" y="36405999"/>
            <a:ext cx="8488295" cy="1305165"/>
          </a:xfrm>
          <a:prstGeom prst="rect">
            <a:avLst/>
          </a:prstGeom>
          <a:noFill/>
        </p:spPr>
        <p:txBody>
          <a:bodyPr wrap="square" rtlCol="0">
            <a:spAutoFit/>
          </a:bodyPr>
          <a:lstStyle/>
          <a:p>
            <a:pPr>
              <a:lnSpc>
                <a:spcPct val="150000"/>
              </a:lnSpc>
            </a:pPr>
            <a:r>
              <a:rPr lang="en-US" sz="2800" b="1" dirty="0">
                <a:latin typeface="Arial" panose="020B0604020202020204" pitchFamily="34" charset="0"/>
                <a:cs typeface="Arial" panose="020B0604020202020204" pitchFamily="34" charset="0"/>
              </a:rPr>
              <a:t>Figure 2. </a:t>
            </a:r>
            <a:r>
              <a:rPr lang="en-US" sz="2800" dirty="0">
                <a:latin typeface="Arial" panose="020B0604020202020204" pitchFamily="34" charset="0"/>
                <a:cs typeface="Arial" panose="020B0604020202020204" pitchFamily="34" charset="0"/>
              </a:rPr>
              <a:t>Relative proportions of different primate clades for each database. </a:t>
            </a:r>
            <a:endParaRPr lang="en-US" sz="28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6880</TotalTime>
  <Words>1412</Words>
  <Application>Microsoft Office PowerPoint</Application>
  <PresentationFormat>Custom</PresentationFormat>
  <Paragraphs>113</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23</cp:revision>
  <dcterms:created xsi:type="dcterms:W3CDTF">2026-02-18T13:57:43Z</dcterms:created>
  <dcterms:modified xsi:type="dcterms:W3CDTF">2026-03-16T01:22:40Z</dcterms:modified>
</cp:coreProperties>
</file>