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38404800" cy="38404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B47AD3-BAA8-1403-BBE9-B16EFDA3DDB7}" name="Gentry Miller" initials="GM" userId="b12f4fb44f4b815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4DEEE"/>
    <a:srgbClr val="C31016"/>
    <a:srgbClr val="CCD2D8"/>
    <a:srgbClr val="E7EA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734" autoAdjust="0"/>
    <p:restoredTop sz="94660"/>
  </p:normalViewPr>
  <p:slideViewPr>
    <p:cSldViewPr snapToGrid="0">
      <p:cViewPr>
        <p:scale>
          <a:sx n="25" d="100"/>
          <a:sy n="25" d="100"/>
        </p:scale>
        <p:origin x="2202" y="-8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endParaRPr lang="en-US" dirty="0"/>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931723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30819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endParaRPr lang="en-US" dirty="0"/>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tint val="82000"/>
                  </a:schemeClr>
                </a:solidFill>
              </a:defRPr>
            </a:lvl1pPr>
            <a:lvl2pPr marL="1920240" indent="0">
              <a:buNone/>
              <a:defRPr sz="8400">
                <a:solidFill>
                  <a:schemeClr val="tx1">
                    <a:tint val="82000"/>
                  </a:schemeClr>
                </a:solidFill>
              </a:defRPr>
            </a:lvl2pPr>
            <a:lvl3pPr marL="3840480" indent="0">
              <a:buNone/>
              <a:defRPr sz="7560">
                <a:solidFill>
                  <a:schemeClr val="tx1">
                    <a:tint val="82000"/>
                  </a:schemeClr>
                </a:solidFill>
              </a:defRPr>
            </a:lvl3pPr>
            <a:lvl4pPr marL="5760720" indent="0">
              <a:buNone/>
              <a:defRPr sz="6720">
                <a:solidFill>
                  <a:schemeClr val="tx1">
                    <a:tint val="82000"/>
                  </a:schemeClr>
                </a:solidFill>
              </a:defRPr>
            </a:lvl4pPr>
            <a:lvl5pPr marL="7680960" indent="0">
              <a:buNone/>
              <a:defRPr sz="6720">
                <a:solidFill>
                  <a:schemeClr val="tx1">
                    <a:tint val="82000"/>
                  </a:schemeClr>
                </a:solidFill>
              </a:defRPr>
            </a:lvl5pPr>
            <a:lvl6pPr marL="9601200" indent="0">
              <a:buNone/>
              <a:defRPr sz="6720">
                <a:solidFill>
                  <a:schemeClr val="tx1">
                    <a:tint val="82000"/>
                  </a:schemeClr>
                </a:solidFill>
              </a:defRPr>
            </a:lvl6pPr>
            <a:lvl7pPr marL="11521440" indent="0">
              <a:buNone/>
              <a:defRPr sz="6720">
                <a:solidFill>
                  <a:schemeClr val="tx1">
                    <a:tint val="82000"/>
                  </a:schemeClr>
                </a:solidFill>
              </a:defRPr>
            </a:lvl7pPr>
            <a:lvl8pPr marL="13441680" indent="0">
              <a:buNone/>
              <a:defRPr sz="6720">
                <a:solidFill>
                  <a:schemeClr val="tx1">
                    <a:tint val="82000"/>
                  </a:schemeClr>
                </a:solidFill>
              </a:defRPr>
            </a:lvl8pPr>
            <a:lvl9pPr marL="15361920" indent="0">
              <a:buNone/>
              <a:defRPr sz="67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9EFA1-6199-496A-BC1D-DE705E3EBA0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2646900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19EFA1-6199-496A-BC1D-DE705E3EBA0B}"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658225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19EFA1-6199-496A-BC1D-DE705E3EBA0B}" type="datetimeFigureOut">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07300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19EFA1-6199-496A-BC1D-DE705E3EBA0B}"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97423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19EFA1-6199-496A-BC1D-DE705E3EBA0B}" type="datetimeFigureOut">
              <a:rPr lang="en-US" smtClean="0"/>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507559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0E19EFA1-6199-496A-BC1D-DE705E3EBA0B}"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976101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0E19EFA1-6199-496A-BC1D-DE705E3EBA0B}"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67014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405275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2836739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82000"/>
                  </a:schemeClr>
                </a:solidFill>
              </a:defRPr>
            </a:lvl1pPr>
          </a:lstStyle>
          <a:p>
            <a:fld id="{0E19EFA1-6199-496A-BC1D-DE705E3EBA0B}" type="datetimeFigureOut">
              <a:rPr lang="en-US" smtClean="0"/>
              <a:t>3/12/2026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82000"/>
                  </a:schemeClr>
                </a:solidFill>
              </a:defRPr>
            </a:lvl1pPr>
          </a:lstStyle>
          <a:p>
            <a:fld id="{D5270E11-5C9F-4FE7-A0AA-0B76F42F7266}" type="slidenum">
              <a:rPr lang="en-US" smtClean="0"/>
              <a:t>‹#›</a:t>
            </a:fld>
            <a:endParaRPr lang="en-US"/>
          </a:p>
        </p:txBody>
      </p:sp>
    </p:spTree>
    <p:extLst>
      <p:ext uri="{BB962C8B-B14F-4D97-AF65-F5344CB8AC3E}">
        <p14:creationId xmlns:p14="http://schemas.microsoft.com/office/powerpoint/2010/main" val="845923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bygentry.github.io/LHDB-PCA/Variable-Definitions.html"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ED290C9-5DB7-45A7-6407-B7A920521685}"/>
              </a:ext>
            </a:extLst>
          </p:cNvPr>
          <p:cNvSpPr/>
          <p:nvPr/>
        </p:nvSpPr>
        <p:spPr>
          <a:xfrm>
            <a:off x="4584700" y="294968"/>
            <a:ext cx="33561717" cy="37844361"/>
          </a:xfrm>
          <a:prstGeom prst="rect">
            <a:avLst/>
          </a:prstGeom>
          <a:solidFill>
            <a:srgbClr val="A4DE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F3661E49-5892-B4AA-D399-65B7959839C7}"/>
              </a:ext>
            </a:extLst>
          </p:cNvPr>
          <p:cNvPicPr>
            <a:picLocks noChangeAspect="1"/>
          </p:cNvPicPr>
          <p:nvPr/>
        </p:nvPicPr>
        <p:blipFill>
          <a:blip r:embed="rId2"/>
          <a:stretch>
            <a:fillRect/>
          </a:stretch>
        </p:blipFill>
        <p:spPr>
          <a:xfrm>
            <a:off x="5280996" y="27366629"/>
            <a:ext cx="8272140" cy="6128775"/>
          </a:xfrm>
          <a:prstGeom prst="rect">
            <a:avLst/>
          </a:prstGeom>
        </p:spPr>
      </p:pic>
      <p:sp>
        <p:nvSpPr>
          <p:cNvPr id="12" name="TextBox 11">
            <a:extLst>
              <a:ext uri="{FF2B5EF4-FFF2-40B4-BE49-F238E27FC236}">
                <a16:creationId xmlns:a16="http://schemas.microsoft.com/office/drawing/2014/main" id="{7402F4D8-F2E4-DFE8-C697-4B3CD7A7D412}"/>
              </a:ext>
            </a:extLst>
          </p:cNvPr>
          <p:cNvSpPr txBox="1"/>
          <p:nvPr/>
        </p:nvSpPr>
        <p:spPr>
          <a:xfrm>
            <a:off x="299864" y="5466463"/>
            <a:ext cx="3931920" cy="20590252"/>
          </a:xfrm>
          <a:custGeom>
            <a:avLst/>
            <a:gdLst>
              <a:gd name="csX0" fmla="*/ 0 w 3881535"/>
              <a:gd name="csY0" fmla="*/ 0 h 18072847"/>
              <a:gd name="csX1" fmla="*/ 3881535 w 3881535"/>
              <a:gd name="csY1" fmla="*/ 0 h 18072847"/>
              <a:gd name="csX2" fmla="*/ 3881535 w 3881535"/>
              <a:gd name="csY2" fmla="*/ 18072847 h 18072847"/>
              <a:gd name="csX3" fmla="*/ 0 w 3881535"/>
              <a:gd name="csY3" fmla="*/ 18072847 h 18072847"/>
              <a:gd name="csX4" fmla="*/ 0 w 3881535"/>
              <a:gd name="csY4" fmla="*/ 0 h 18072847"/>
              <a:gd name="csX0" fmla="*/ 0 w 3881535"/>
              <a:gd name="csY0" fmla="*/ 0 h 29172648"/>
              <a:gd name="csX1" fmla="*/ 3881535 w 3881535"/>
              <a:gd name="csY1" fmla="*/ 0 h 29172648"/>
              <a:gd name="csX2" fmla="*/ 3652935 w 3881535"/>
              <a:gd name="csY2" fmla="*/ 29172648 h 29172648"/>
              <a:gd name="csX3" fmla="*/ 0 w 3881535"/>
              <a:gd name="csY3" fmla="*/ 18072847 h 29172648"/>
              <a:gd name="csX4" fmla="*/ 0 w 3881535"/>
              <a:gd name="csY4" fmla="*/ 0 h 29172648"/>
              <a:gd name="csX0" fmla="*/ 0 w 4008535"/>
              <a:gd name="csY0" fmla="*/ 0 h 32957248"/>
              <a:gd name="csX1" fmla="*/ 3881535 w 4008535"/>
              <a:gd name="csY1" fmla="*/ 0 h 32957248"/>
              <a:gd name="csX2" fmla="*/ 4008535 w 4008535"/>
              <a:gd name="csY2" fmla="*/ 32957248 h 32957248"/>
              <a:gd name="csX3" fmla="*/ 0 w 4008535"/>
              <a:gd name="csY3" fmla="*/ 18072847 h 32957248"/>
              <a:gd name="csX4" fmla="*/ 0 w 4008535"/>
              <a:gd name="csY4" fmla="*/ 0 h 32957248"/>
              <a:gd name="csX0" fmla="*/ 25400 w 4033935"/>
              <a:gd name="csY0" fmla="*/ 0 h 32957248"/>
              <a:gd name="csX1" fmla="*/ 3906935 w 4033935"/>
              <a:gd name="csY1" fmla="*/ 0 h 32957248"/>
              <a:gd name="csX2" fmla="*/ 4033935 w 4033935"/>
              <a:gd name="csY2" fmla="*/ 32957248 h 32957248"/>
              <a:gd name="csX3" fmla="*/ 0 w 4033935"/>
              <a:gd name="csY3" fmla="*/ 32906448 h 32957248"/>
              <a:gd name="csX4" fmla="*/ 25400 w 4033935"/>
              <a:gd name="csY4" fmla="*/ 0 h 32957248"/>
              <a:gd name="csX0" fmla="*/ 25400 w 4033935"/>
              <a:gd name="csY0" fmla="*/ 5486400 h 38443648"/>
              <a:gd name="csX1" fmla="*/ 3957735 w 4033935"/>
              <a:gd name="csY1" fmla="*/ 0 h 38443648"/>
              <a:gd name="csX2" fmla="*/ 4033935 w 4033935"/>
              <a:gd name="csY2" fmla="*/ 38443648 h 38443648"/>
              <a:gd name="csX3" fmla="*/ 0 w 4033935"/>
              <a:gd name="csY3" fmla="*/ 38392848 h 38443648"/>
              <a:gd name="csX4" fmla="*/ 25400 w 4033935"/>
              <a:gd name="csY4" fmla="*/ 5486400 h 38443648"/>
              <a:gd name="csX0" fmla="*/ 101600 w 4033935"/>
              <a:gd name="csY0" fmla="*/ 0 h 38469048"/>
              <a:gd name="csX1" fmla="*/ 3957735 w 4033935"/>
              <a:gd name="csY1" fmla="*/ 25400 h 38469048"/>
              <a:gd name="csX2" fmla="*/ 4033935 w 4033935"/>
              <a:gd name="csY2" fmla="*/ 38469048 h 38469048"/>
              <a:gd name="csX3" fmla="*/ 0 w 4033935"/>
              <a:gd name="csY3" fmla="*/ 38418248 h 38469048"/>
              <a:gd name="csX4" fmla="*/ 101600 w 4033935"/>
              <a:gd name="csY4" fmla="*/ 0 h 38469048"/>
              <a:gd name="csX0" fmla="*/ 101600 w 4033935"/>
              <a:gd name="csY0" fmla="*/ 130910 h 38599958"/>
              <a:gd name="csX1" fmla="*/ 3746720 w 4033935"/>
              <a:gd name="csY1" fmla="*/ 0 h 38599958"/>
              <a:gd name="csX2" fmla="*/ 4033935 w 4033935"/>
              <a:gd name="csY2" fmla="*/ 38599958 h 38599958"/>
              <a:gd name="csX3" fmla="*/ 0 w 4033935"/>
              <a:gd name="csY3" fmla="*/ 38549158 h 38599958"/>
              <a:gd name="csX4" fmla="*/ 101600 w 4033935"/>
              <a:gd name="csY4" fmla="*/ 130910 h 38599958"/>
              <a:gd name="csX0" fmla="*/ 101600 w 3746720"/>
              <a:gd name="csY0" fmla="*/ 130910 h 38549158"/>
              <a:gd name="csX1" fmla="*/ 3746720 w 3746720"/>
              <a:gd name="csY1" fmla="*/ 0 h 38549158"/>
              <a:gd name="csX2" fmla="*/ 3650982 w 3746720"/>
              <a:gd name="csY2" fmla="*/ 36646118 h 38549158"/>
              <a:gd name="csX3" fmla="*/ 0 w 3746720"/>
              <a:gd name="csY3" fmla="*/ 38549158 h 38549158"/>
              <a:gd name="csX4" fmla="*/ 101600 w 3746720"/>
              <a:gd name="csY4" fmla="*/ 130910 h 38549158"/>
              <a:gd name="csX0" fmla="*/ 101600 w 3668567"/>
              <a:gd name="csY0" fmla="*/ 130910 h 38549158"/>
              <a:gd name="csX1" fmla="*/ 3668567 w 3668567"/>
              <a:gd name="csY1" fmla="*/ 0 h 38549158"/>
              <a:gd name="csX2" fmla="*/ 3650982 w 3668567"/>
              <a:gd name="csY2" fmla="*/ 36646118 h 38549158"/>
              <a:gd name="csX3" fmla="*/ 0 w 3668567"/>
              <a:gd name="csY3" fmla="*/ 38549158 h 38549158"/>
              <a:gd name="csX4" fmla="*/ 101600 w 3668567"/>
              <a:gd name="csY4" fmla="*/ 130910 h 38549158"/>
              <a:gd name="csX0" fmla="*/ 53861 w 3620828"/>
              <a:gd name="csY0" fmla="*/ 130910 h 36646118"/>
              <a:gd name="csX1" fmla="*/ 3620828 w 3620828"/>
              <a:gd name="csY1" fmla="*/ 0 h 36646118"/>
              <a:gd name="csX2" fmla="*/ 3603243 w 3620828"/>
              <a:gd name="csY2" fmla="*/ 36646118 h 36646118"/>
              <a:gd name="csX3" fmla="*/ 0 w 3620828"/>
              <a:gd name="csY3" fmla="*/ 36309058 h 36646118"/>
              <a:gd name="csX4" fmla="*/ 53861 w 3620828"/>
              <a:gd name="csY4" fmla="*/ 130910 h 36646118"/>
              <a:gd name="csX0" fmla="*/ 840 w 3567807"/>
              <a:gd name="csY0" fmla="*/ 130910 h 36646118"/>
              <a:gd name="csX1" fmla="*/ 3567807 w 3567807"/>
              <a:gd name="csY1" fmla="*/ 0 h 36646118"/>
              <a:gd name="csX2" fmla="*/ 3550222 w 3567807"/>
              <a:gd name="csY2" fmla="*/ 36646118 h 36646118"/>
              <a:gd name="csX3" fmla="*/ 42459 w 3567807"/>
              <a:gd name="csY3" fmla="*/ 36419228 h 36646118"/>
              <a:gd name="csX4" fmla="*/ 840 w 3567807"/>
              <a:gd name="csY4" fmla="*/ 130910 h 36646118"/>
              <a:gd name="csX0" fmla="*/ 65 w 3567032"/>
              <a:gd name="csY0" fmla="*/ 130910 h 36646118"/>
              <a:gd name="csX1" fmla="*/ 3567032 w 3567032"/>
              <a:gd name="csY1" fmla="*/ 0 h 36646118"/>
              <a:gd name="csX2" fmla="*/ 3549447 w 3567032"/>
              <a:gd name="csY2" fmla="*/ 36646118 h 36646118"/>
              <a:gd name="csX3" fmla="*/ 805520 w 3567032"/>
              <a:gd name="csY3" fmla="*/ 36492678 h 36646118"/>
              <a:gd name="csX4" fmla="*/ 65 w 3567032"/>
              <a:gd name="csY4" fmla="*/ 130910 h 36646118"/>
              <a:gd name="csX0" fmla="*/ 9793 w 2761512"/>
              <a:gd name="csY0" fmla="*/ 20740 h 36646118"/>
              <a:gd name="csX1" fmla="*/ 2761512 w 2761512"/>
              <a:gd name="csY1" fmla="*/ 0 h 36646118"/>
              <a:gd name="csX2" fmla="*/ 2743927 w 2761512"/>
              <a:gd name="csY2" fmla="*/ 36646118 h 36646118"/>
              <a:gd name="csX3" fmla="*/ 0 w 2761512"/>
              <a:gd name="csY3" fmla="*/ 36492678 h 36646118"/>
              <a:gd name="csX4" fmla="*/ 9793 w 2761512"/>
              <a:gd name="csY4" fmla="*/ 20740 h 36646118"/>
              <a:gd name="csX0" fmla="*/ 7510 w 2759229"/>
              <a:gd name="csY0" fmla="*/ 20740 h 36646118"/>
              <a:gd name="csX1" fmla="*/ 2759229 w 2759229"/>
              <a:gd name="csY1" fmla="*/ 0 h 36646118"/>
              <a:gd name="csX2" fmla="*/ 2741644 w 2759229"/>
              <a:gd name="csY2" fmla="*/ 36646118 h 36646118"/>
              <a:gd name="csX3" fmla="*/ 0 w 2759229"/>
              <a:gd name="csY3" fmla="*/ 36615276 h 36646118"/>
              <a:gd name="csX4" fmla="*/ 7510 w 2759229"/>
              <a:gd name="csY4" fmla="*/ 20740 h 36646118"/>
              <a:gd name="csX0" fmla="*/ 7510 w 2759229"/>
              <a:gd name="csY0" fmla="*/ 20740 h 36646118"/>
              <a:gd name="csX1" fmla="*/ 2759229 w 2759229"/>
              <a:gd name="csY1" fmla="*/ 0 h 36646118"/>
              <a:gd name="csX2" fmla="*/ 2741644 w 2759229"/>
              <a:gd name="csY2" fmla="*/ 36646118 h 36646118"/>
              <a:gd name="csX3" fmla="*/ 0 w 2759229"/>
              <a:gd name="csY3" fmla="*/ 36615276 h 36646118"/>
              <a:gd name="csX4" fmla="*/ 7510 w 2759229"/>
              <a:gd name="csY4" fmla="*/ 20740 h 36646118"/>
            </a:gdLst>
            <a:ahLst/>
            <a:cxnLst>
              <a:cxn ang="0">
                <a:pos x="csX0" y="csY0"/>
              </a:cxn>
              <a:cxn ang="0">
                <a:pos x="csX1" y="csY1"/>
              </a:cxn>
              <a:cxn ang="0">
                <a:pos x="csX2" y="csY2"/>
              </a:cxn>
              <a:cxn ang="0">
                <a:pos x="csX3" y="csY3"/>
              </a:cxn>
              <a:cxn ang="0">
                <a:pos x="csX4" y="csY4"/>
              </a:cxn>
            </a:cxnLst>
            <a:rect l="l" t="t" r="r" b="b"/>
            <a:pathLst>
              <a:path w="2759229" h="36646118">
                <a:moveTo>
                  <a:pt x="7510" y="20740"/>
                </a:moveTo>
                <a:lnTo>
                  <a:pt x="2759229" y="0"/>
                </a:lnTo>
                <a:cubicBezTo>
                  <a:pt x="2753367" y="12215373"/>
                  <a:pt x="2747506" y="24430745"/>
                  <a:pt x="2741644" y="36646118"/>
                </a:cubicBezTo>
                <a:cubicBezTo>
                  <a:pt x="1827002" y="36594971"/>
                  <a:pt x="914642" y="36632213"/>
                  <a:pt x="0" y="36615276"/>
                </a:cubicBezTo>
                <a:cubicBezTo>
                  <a:pt x="8467" y="25646460"/>
                  <a:pt x="-957" y="10989556"/>
                  <a:pt x="7510" y="20740"/>
                </a:cubicBezTo>
                <a:close/>
              </a:path>
            </a:pathLst>
          </a:custGeom>
          <a:noFill/>
          <a:ln w="19050">
            <a:solidFill>
              <a:schemeClr val="tx1"/>
            </a:solidFill>
          </a:ln>
        </p:spPr>
        <p:txBody>
          <a:bodyPr wrap="square" rtlCol="0">
            <a:spAutoFit/>
          </a:bodyPr>
          <a:lstStyle/>
          <a:p>
            <a:pPr marL="460375" indent="-460375" algn="ctr">
              <a:lnSpc>
                <a:spcPct val="150000"/>
              </a:lnSpc>
            </a:pPr>
            <a:r>
              <a:rPr lang="en-US" sz="2400" b="1" u="sng" dirty="0">
                <a:latin typeface="Arial" panose="020B0604020202020204" pitchFamily="34" charset="0"/>
                <a:cs typeface="Arial" panose="020B0604020202020204" pitchFamily="34" charset="0"/>
              </a:rPr>
              <a:t>REFERENCES</a:t>
            </a:r>
            <a:endParaRPr lang="en-US" sz="2800" b="1" u="sng"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Borries, C., Gordon, A. D., &amp; Koenig, A. (2013). Beware of Primate Life History Data: A Plea for Data Standards and a Repository. PLOS ONE, 8(6), e67200. </a:t>
            </a:r>
          </a:p>
          <a:p>
            <a:pPr marL="460375" indent="-460375">
              <a:buFont typeface="+mj-lt"/>
              <a:buAutoNum type="arabicPeriod"/>
            </a:pPr>
            <a:r>
              <a:rPr lang="en-US" dirty="0">
                <a:latin typeface="Arial" panose="020B0604020202020204" pitchFamily="34" charset="0"/>
                <a:cs typeface="Arial" panose="020B0604020202020204" pitchFamily="34" charset="0"/>
              </a:rPr>
              <a:t>Ernest, S.K.M. (2003), LIFE HISTORY CHARACTERISTICS OF PLACENTAL NONVOLANT MAMMALS. Ecology, 84: 3402-3402. </a:t>
            </a:r>
          </a:p>
          <a:p>
            <a:pPr marL="460375" indent="-460375">
              <a:buFont typeface="+mj-lt"/>
              <a:buAutoNum type="arabicPeriod"/>
            </a:pPr>
            <a:r>
              <a:rPr lang="en-US" dirty="0">
                <a:latin typeface="Arial" panose="020B0604020202020204" pitchFamily="34" charset="0"/>
                <a:cs typeface="Arial" panose="020B0604020202020204" pitchFamily="34" charset="0"/>
              </a:rPr>
              <a:t>de Magalhães JP, Costa J. A database of vertebrate longevity records and their relation to other life-history traits. J Evol Biol. 2009 Aug;22(8):1770-4. </a:t>
            </a:r>
          </a:p>
          <a:p>
            <a:pPr marL="460375" indent="-460375">
              <a:buFont typeface="+mj-lt"/>
              <a:buAutoNum type="arabicPeriod"/>
            </a:pPr>
            <a:r>
              <a:rPr lang="en-US" dirty="0">
                <a:latin typeface="Arial" panose="020B0604020202020204" pitchFamily="34" charset="0"/>
                <a:cs typeface="Arial" panose="020B0604020202020204" pitchFamily="34" charset="0"/>
              </a:rPr>
              <a:t>de Magalhães, J. P., Abidi, Z., Dos Santos, G. A., et al. (2024) "Human Ageing Genomic Resources: updates on key databases in ageing research." Nucleic Acids Research 52(D1):D900-D908.</a:t>
            </a:r>
          </a:p>
          <a:p>
            <a:pPr marL="460375" indent="-460375">
              <a:buFont typeface="+mj-lt"/>
              <a:buAutoNum type="arabicPeriod"/>
            </a:pPr>
            <a:r>
              <a:rPr lang="en-US" dirty="0">
                <a:latin typeface="Arial" panose="020B0604020202020204" pitchFamily="34" charset="0"/>
                <a:cs typeface="Arial" panose="020B0604020202020204" pitchFamily="34" charset="0"/>
              </a:rPr>
              <a:t>Harvey, P. H., &amp; Clutton-Brock, T. H. (1985). Life History Variation in Primates. Evolution, 39(3), 559–581. </a:t>
            </a:r>
          </a:p>
          <a:p>
            <a:pPr marL="460375" indent="-460375">
              <a:buFont typeface="+mj-lt"/>
              <a:buAutoNum type="arabicPeriod"/>
            </a:pPr>
            <a:r>
              <a:rPr lang="en-US" dirty="0">
                <a:latin typeface="Arial" panose="020B0604020202020204" pitchFamily="34" charset="0"/>
                <a:cs typeface="Arial" panose="020B0604020202020204" pitchFamily="34" charset="0"/>
              </a:rPr>
              <a:t>Mittermeier, R. (2025). 2024-2025 Report of the Primate Specialist Group. In: IUCN SSC and Secretariat. Species: Annual Report of the IUCN Species Survival Commission and Secretariat 2024-2025. Gland, Switzerland: IUCN. 12 pp.</a:t>
            </a:r>
          </a:p>
          <a:p>
            <a:pPr marL="460375" indent="-460375">
              <a:buFont typeface="+mj-lt"/>
              <a:buAutoNum type="arabicPeriod"/>
            </a:pPr>
            <a:r>
              <a:rPr lang="en-US" dirty="0">
                <a:latin typeface="Arial" panose="020B0604020202020204" pitchFamily="34" charset="0"/>
                <a:cs typeface="Arial" panose="020B0604020202020204" pitchFamily="34" charset="0"/>
              </a:rPr>
              <a:t>Jones, K. E., Bielby, J., Cardillo, M., et al. (2009). </a:t>
            </a:r>
            <a:r>
              <a:rPr lang="en-US" dirty="0" err="1">
                <a:latin typeface="Arial" panose="020B0604020202020204" pitchFamily="34" charset="0"/>
                <a:cs typeface="Arial" panose="020B0604020202020204" pitchFamily="34" charset="0"/>
              </a:rPr>
              <a:t>PanTHERIA</a:t>
            </a:r>
            <a:r>
              <a:rPr lang="en-US" dirty="0">
                <a:latin typeface="Arial" panose="020B0604020202020204" pitchFamily="34" charset="0"/>
                <a:cs typeface="Arial" panose="020B0604020202020204" pitchFamily="34" charset="0"/>
              </a:rPr>
              <a:t>: A species-level database of life history, ecology, and geography of extant and recently extinct mammals. Ecology, 90(9), 2648–2648. </a:t>
            </a:r>
          </a:p>
          <a:p>
            <a:pPr marL="460375" indent="-460375">
              <a:buFont typeface="+mj-lt"/>
              <a:buAutoNum type="arabicPeriod"/>
            </a:pPr>
            <a:r>
              <a:rPr lang="en-US" dirty="0">
                <a:latin typeface="Arial" panose="020B0604020202020204" pitchFamily="34" charset="0"/>
                <a:cs typeface="Arial" panose="020B0604020202020204" pitchFamily="34" charset="0"/>
              </a:rPr>
              <a:t>Kappeler, P. M., Pereira, M. E., &amp; Schaik, C. P. v. (2003). Primate life histories and socioecology. In P. M. Kappeler &amp; M. E. Pereira (Eds.), </a:t>
            </a:r>
            <a:r>
              <a:rPr lang="en-US" i="1" dirty="0">
                <a:latin typeface="Arial" panose="020B0604020202020204" pitchFamily="34" charset="0"/>
                <a:cs typeface="Arial" panose="020B0604020202020204" pitchFamily="34" charset="0"/>
              </a:rPr>
              <a:t>Primate life histories and socioecology</a:t>
            </a:r>
            <a:r>
              <a:rPr lang="en-US" dirty="0">
                <a:latin typeface="Arial" panose="020B0604020202020204" pitchFamily="34" charset="0"/>
                <a:cs typeface="Arial" panose="020B0604020202020204" pitchFamily="34" charset="0"/>
              </a:rPr>
              <a:t> (pp. 1–20). The University of Chicago Press.</a:t>
            </a:r>
          </a:p>
          <a:p>
            <a:pPr marL="460375" indent="-460375">
              <a:buFont typeface="+mj-lt"/>
              <a:buAutoNum type="arabicPeriod"/>
            </a:pPr>
            <a:r>
              <a:rPr lang="en-US" dirty="0">
                <a:latin typeface="Arial" panose="020B0604020202020204" pitchFamily="34" charset="0"/>
                <a:cs typeface="Arial" panose="020B0604020202020204" pitchFamily="34" charset="0"/>
              </a:rPr>
              <a:t>Myhrvold, N.P., Baldridge, E., Chan, B., et al. (2015), An amniote life-history database to perform comparative analyses with birds, mammals, and reptiles. Ecology, 96: 3109-3109.</a:t>
            </a:r>
          </a:p>
          <a:p>
            <a:pPr marL="460375" indent="-460375">
              <a:buFont typeface="+mj-lt"/>
              <a:buAutoNum type="arabicPeriod"/>
            </a:pPr>
            <a:r>
              <a:rPr lang="en-US" dirty="0">
                <a:latin typeface="Arial" panose="020B0604020202020204" pitchFamily="34" charset="0"/>
                <a:cs typeface="Arial" panose="020B0604020202020204" pitchFamily="34" charset="0"/>
              </a:rPr>
              <a:t>Stearns, S. C. (1989). Trade-Offs in Life-History Evolution. Functional Ecology, 3(3), 259.</a:t>
            </a:r>
          </a:p>
          <a:p>
            <a:pPr marL="460375" indent="-460375">
              <a:buFont typeface="+mj-lt"/>
              <a:buAutoNum type="arabicPeriod"/>
            </a:pPr>
            <a:r>
              <a:rPr lang="en-US" dirty="0">
                <a:latin typeface="Arial" panose="020B0604020202020204" pitchFamily="34" charset="0"/>
                <a:cs typeface="Arial" panose="020B0604020202020204" pitchFamily="34" charset="0"/>
              </a:rPr>
              <a:t>Stott, I., Salguero-Gómez, R., Jones, O. R., et al. (2024). Life histories are not just fast or slow. </a:t>
            </a:r>
            <a:r>
              <a:rPr lang="en-US" i="1" dirty="0">
                <a:latin typeface="Arial" panose="020B0604020202020204" pitchFamily="34" charset="0"/>
                <a:cs typeface="Arial" panose="020B0604020202020204" pitchFamily="34" charset="0"/>
              </a:rPr>
              <a:t>Trends in Ecology &amp; Evolution</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39</a:t>
            </a:r>
            <a:r>
              <a:rPr lang="en-US" dirty="0">
                <a:latin typeface="Arial" panose="020B0604020202020204" pitchFamily="34" charset="0"/>
                <a:cs typeface="Arial" panose="020B0604020202020204" pitchFamily="34" charset="0"/>
              </a:rPr>
              <a:t>(9), 830–840. </a:t>
            </a:r>
          </a:p>
          <a:p>
            <a:pPr marL="460375" indent="-460375">
              <a:buFont typeface="+mj-lt"/>
              <a:buAutoNum type="arabicPeriod"/>
            </a:pPr>
            <a:r>
              <a:rPr lang="en-US" dirty="0" err="1">
                <a:latin typeface="Arial" panose="020B0604020202020204" pitchFamily="34" charset="0"/>
                <a:cs typeface="Arial" panose="020B0604020202020204" pitchFamily="34" charset="0"/>
              </a:rPr>
              <a:t>Strier</a:t>
            </a:r>
            <a:r>
              <a:rPr lang="en-US" dirty="0">
                <a:latin typeface="Arial" panose="020B0604020202020204" pitchFamily="34" charset="0"/>
                <a:cs typeface="Arial" panose="020B0604020202020204" pitchFamily="34" charset="0"/>
              </a:rPr>
              <a:t> KB, Altmann J, Brockman DK, et al. (2010) The Primate Life History Database: A unique shared ecological data resource. Methods </a:t>
            </a:r>
            <a:r>
              <a:rPr lang="en-US" dirty="0" err="1">
                <a:latin typeface="Arial" panose="020B0604020202020204" pitchFamily="34" charset="0"/>
                <a:cs typeface="Arial" panose="020B0604020202020204" pitchFamily="34" charset="0"/>
              </a:rPr>
              <a:t>Ecol</a:t>
            </a:r>
            <a:r>
              <a:rPr lang="en-US" dirty="0">
                <a:latin typeface="Arial" panose="020B0604020202020204" pitchFamily="34" charset="0"/>
                <a:cs typeface="Arial" panose="020B0604020202020204" pitchFamily="34" charset="0"/>
              </a:rPr>
              <a:t> Evol., 1(2):199-211.</a:t>
            </a:r>
          </a:p>
        </p:txBody>
      </p:sp>
      <p:sp>
        <p:nvSpPr>
          <p:cNvPr id="13" name="TextBox 12">
            <a:extLst>
              <a:ext uri="{FF2B5EF4-FFF2-40B4-BE49-F238E27FC236}">
                <a16:creationId xmlns:a16="http://schemas.microsoft.com/office/drawing/2014/main" id="{73A4B056-3450-05C8-6E30-61A6201AB91E}"/>
              </a:ext>
            </a:extLst>
          </p:cNvPr>
          <p:cNvSpPr txBox="1"/>
          <p:nvPr/>
        </p:nvSpPr>
        <p:spPr>
          <a:xfrm>
            <a:off x="4892224" y="743804"/>
            <a:ext cx="32855890" cy="4292650"/>
          </a:xfrm>
          <a:prstGeom prst="rect">
            <a:avLst/>
          </a:prstGeom>
          <a:noFill/>
          <a:ln w="19050">
            <a:solidFill>
              <a:schemeClr val="tx1"/>
            </a:solidFill>
          </a:ln>
        </p:spPr>
        <p:txBody>
          <a:bodyPr wrap="square" rtlCol="0">
            <a:spAutoFit/>
          </a:bodyPr>
          <a:lstStyle/>
          <a:p>
            <a:pPr marL="457200" algn="ctr">
              <a:lnSpc>
                <a:spcPct val="150000"/>
              </a:lnSpc>
              <a:tabLst>
                <a:tab pos="342900" algn="l"/>
                <a:tab pos="33947100" algn="l"/>
              </a:tabLst>
            </a:pPr>
            <a:r>
              <a:rPr lang="en-US" sz="9600" b="1" dirty="0">
                <a:ln w="6350">
                  <a:noFill/>
                </a:ln>
                <a:latin typeface="Arial" panose="020B0604020202020204" pitchFamily="34" charset="0"/>
                <a:cs typeface="Arial" panose="020B0604020202020204" pitchFamily="34" charset="0"/>
              </a:rPr>
              <a:t>An investigation of primate life-history database quality</a:t>
            </a:r>
          </a:p>
          <a:p>
            <a:pPr marL="457200" algn="ctr">
              <a:lnSpc>
                <a:spcPct val="150000"/>
              </a:lnSpc>
              <a:tabLst>
                <a:tab pos="342900" algn="l"/>
                <a:tab pos="33947100" algn="l"/>
              </a:tabLst>
            </a:pPr>
            <a:r>
              <a:rPr lang="en-US" sz="4800" dirty="0">
                <a:latin typeface="Arial" panose="020B0604020202020204" pitchFamily="34" charset="0"/>
                <a:cs typeface="Arial" panose="020B0604020202020204" pitchFamily="34" charset="0"/>
              </a:rPr>
              <a:t>G. L. Gentry Miller</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Nicole Merullo</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Carolyn Hodges-Simeon</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Benjamin J Finkel</a:t>
            </a:r>
            <a:r>
              <a:rPr lang="en-US" sz="4800" baseline="30000" dirty="0">
                <a:latin typeface="Arial" panose="020B0604020202020204" pitchFamily="34" charset="0"/>
                <a:cs typeface="Arial" panose="020B0604020202020204" pitchFamily="34" charset="0"/>
              </a:rPr>
              <a:t>2</a:t>
            </a:r>
          </a:p>
          <a:p>
            <a:pPr marL="457200" algn="ctr">
              <a:lnSpc>
                <a:spcPct val="150000"/>
              </a:lnSpc>
              <a:tabLst>
                <a:tab pos="342900" algn="l"/>
                <a:tab pos="33947100" algn="l"/>
              </a:tabLst>
            </a:pPr>
            <a:r>
              <a:rPr lang="en-US" sz="4200" i="1" baseline="30000" dirty="0">
                <a:latin typeface="Arial" panose="020B0604020202020204" pitchFamily="34" charset="0"/>
                <a:cs typeface="Arial" panose="020B0604020202020204" pitchFamily="34" charset="0"/>
              </a:rPr>
              <a:t>1</a:t>
            </a:r>
            <a:r>
              <a:rPr lang="en-US" sz="4200" i="1" dirty="0">
                <a:latin typeface="Arial" panose="020B0604020202020204" pitchFamily="34" charset="0"/>
                <a:cs typeface="Arial" panose="020B0604020202020204" pitchFamily="34" charset="0"/>
              </a:rPr>
              <a:t> Department of Anthropology, Boston University, </a:t>
            </a:r>
            <a:r>
              <a:rPr lang="en-US" sz="4200" i="1" baseline="30000" dirty="0">
                <a:latin typeface="Arial" panose="020B0604020202020204" pitchFamily="34" charset="0"/>
                <a:cs typeface="Arial" panose="020B0604020202020204" pitchFamily="34" charset="0"/>
              </a:rPr>
              <a:t>2</a:t>
            </a:r>
            <a:r>
              <a:rPr lang="en-US" sz="4200" i="1" dirty="0">
                <a:latin typeface="Arial" panose="020B0604020202020204" pitchFamily="34" charset="0"/>
                <a:cs typeface="Arial" panose="020B0604020202020204" pitchFamily="34" charset="0"/>
              </a:rPr>
              <a:t> &lt;Department of Anthropology&gt;, Dartmouth College</a:t>
            </a:r>
            <a:endParaRPr lang="en-US" sz="4200" i="1" baseline="300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DE606C51-76EA-3BA2-671D-EB28B6F34AB3}"/>
              </a:ext>
            </a:extLst>
          </p:cNvPr>
          <p:cNvSpPr txBox="1"/>
          <p:nvPr/>
        </p:nvSpPr>
        <p:spPr>
          <a:xfrm>
            <a:off x="29305206" y="5466463"/>
            <a:ext cx="8488295" cy="22080083"/>
          </a:xfrm>
          <a:custGeom>
            <a:avLst/>
            <a:gdLst>
              <a:gd name="csX0" fmla="*/ 0 w 3881535"/>
              <a:gd name="csY0" fmla="*/ 0 h 18072847"/>
              <a:gd name="csX1" fmla="*/ 3881535 w 3881535"/>
              <a:gd name="csY1" fmla="*/ 0 h 18072847"/>
              <a:gd name="csX2" fmla="*/ 3881535 w 3881535"/>
              <a:gd name="csY2" fmla="*/ 18072847 h 18072847"/>
              <a:gd name="csX3" fmla="*/ 0 w 3881535"/>
              <a:gd name="csY3" fmla="*/ 18072847 h 18072847"/>
              <a:gd name="csX4" fmla="*/ 0 w 3881535"/>
              <a:gd name="csY4" fmla="*/ 0 h 18072847"/>
              <a:gd name="csX0" fmla="*/ 0 w 3881535"/>
              <a:gd name="csY0" fmla="*/ 0 h 29172648"/>
              <a:gd name="csX1" fmla="*/ 3881535 w 3881535"/>
              <a:gd name="csY1" fmla="*/ 0 h 29172648"/>
              <a:gd name="csX2" fmla="*/ 3652935 w 3881535"/>
              <a:gd name="csY2" fmla="*/ 29172648 h 29172648"/>
              <a:gd name="csX3" fmla="*/ 0 w 3881535"/>
              <a:gd name="csY3" fmla="*/ 18072847 h 29172648"/>
              <a:gd name="csX4" fmla="*/ 0 w 3881535"/>
              <a:gd name="csY4" fmla="*/ 0 h 29172648"/>
              <a:gd name="csX0" fmla="*/ 0 w 4008535"/>
              <a:gd name="csY0" fmla="*/ 0 h 32957248"/>
              <a:gd name="csX1" fmla="*/ 3881535 w 4008535"/>
              <a:gd name="csY1" fmla="*/ 0 h 32957248"/>
              <a:gd name="csX2" fmla="*/ 4008535 w 4008535"/>
              <a:gd name="csY2" fmla="*/ 32957248 h 32957248"/>
              <a:gd name="csX3" fmla="*/ 0 w 4008535"/>
              <a:gd name="csY3" fmla="*/ 18072847 h 32957248"/>
              <a:gd name="csX4" fmla="*/ 0 w 4008535"/>
              <a:gd name="csY4" fmla="*/ 0 h 32957248"/>
              <a:gd name="csX0" fmla="*/ 25400 w 4033935"/>
              <a:gd name="csY0" fmla="*/ 0 h 32957248"/>
              <a:gd name="csX1" fmla="*/ 3906935 w 4033935"/>
              <a:gd name="csY1" fmla="*/ 0 h 32957248"/>
              <a:gd name="csX2" fmla="*/ 4033935 w 4033935"/>
              <a:gd name="csY2" fmla="*/ 32957248 h 32957248"/>
              <a:gd name="csX3" fmla="*/ 0 w 4033935"/>
              <a:gd name="csY3" fmla="*/ 32906448 h 32957248"/>
              <a:gd name="csX4" fmla="*/ 25400 w 4033935"/>
              <a:gd name="csY4" fmla="*/ 0 h 32957248"/>
              <a:gd name="csX0" fmla="*/ 25400 w 4033935"/>
              <a:gd name="csY0" fmla="*/ 5486400 h 38443648"/>
              <a:gd name="csX1" fmla="*/ 3957735 w 4033935"/>
              <a:gd name="csY1" fmla="*/ 0 h 38443648"/>
              <a:gd name="csX2" fmla="*/ 4033935 w 4033935"/>
              <a:gd name="csY2" fmla="*/ 38443648 h 38443648"/>
              <a:gd name="csX3" fmla="*/ 0 w 4033935"/>
              <a:gd name="csY3" fmla="*/ 38392848 h 38443648"/>
              <a:gd name="csX4" fmla="*/ 25400 w 4033935"/>
              <a:gd name="csY4" fmla="*/ 5486400 h 38443648"/>
              <a:gd name="csX0" fmla="*/ 101600 w 4033935"/>
              <a:gd name="csY0" fmla="*/ 0 h 38469048"/>
              <a:gd name="csX1" fmla="*/ 3957735 w 4033935"/>
              <a:gd name="csY1" fmla="*/ 25400 h 38469048"/>
              <a:gd name="csX2" fmla="*/ 4033935 w 4033935"/>
              <a:gd name="csY2" fmla="*/ 38469048 h 38469048"/>
              <a:gd name="csX3" fmla="*/ 0 w 4033935"/>
              <a:gd name="csY3" fmla="*/ 38418248 h 38469048"/>
              <a:gd name="csX4" fmla="*/ 101600 w 4033935"/>
              <a:gd name="csY4" fmla="*/ 0 h 38469048"/>
              <a:gd name="csX0" fmla="*/ 101600 w 4033935"/>
              <a:gd name="csY0" fmla="*/ 130910 h 38599958"/>
              <a:gd name="csX1" fmla="*/ 3746720 w 4033935"/>
              <a:gd name="csY1" fmla="*/ 0 h 38599958"/>
              <a:gd name="csX2" fmla="*/ 4033935 w 4033935"/>
              <a:gd name="csY2" fmla="*/ 38599958 h 38599958"/>
              <a:gd name="csX3" fmla="*/ 0 w 4033935"/>
              <a:gd name="csY3" fmla="*/ 38549158 h 38599958"/>
              <a:gd name="csX4" fmla="*/ 101600 w 4033935"/>
              <a:gd name="csY4" fmla="*/ 130910 h 38599958"/>
              <a:gd name="csX0" fmla="*/ 101600 w 3746720"/>
              <a:gd name="csY0" fmla="*/ 130910 h 38549158"/>
              <a:gd name="csX1" fmla="*/ 3746720 w 3746720"/>
              <a:gd name="csY1" fmla="*/ 0 h 38549158"/>
              <a:gd name="csX2" fmla="*/ 3650982 w 3746720"/>
              <a:gd name="csY2" fmla="*/ 36646118 h 38549158"/>
              <a:gd name="csX3" fmla="*/ 0 w 3746720"/>
              <a:gd name="csY3" fmla="*/ 38549158 h 38549158"/>
              <a:gd name="csX4" fmla="*/ 101600 w 3746720"/>
              <a:gd name="csY4" fmla="*/ 130910 h 38549158"/>
              <a:gd name="csX0" fmla="*/ 101600 w 3668567"/>
              <a:gd name="csY0" fmla="*/ 130910 h 38549158"/>
              <a:gd name="csX1" fmla="*/ 3668567 w 3668567"/>
              <a:gd name="csY1" fmla="*/ 0 h 38549158"/>
              <a:gd name="csX2" fmla="*/ 3650982 w 3668567"/>
              <a:gd name="csY2" fmla="*/ 36646118 h 38549158"/>
              <a:gd name="csX3" fmla="*/ 0 w 3668567"/>
              <a:gd name="csY3" fmla="*/ 38549158 h 38549158"/>
              <a:gd name="csX4" fmla="*/ 101600 w 3668567"/>
              <a:gd name="csY4" fmla="*/ 130910 h 38549158"/>
              <a:gd name="csX0" fmla="*/ 53861 w 3620828"/>
              <a:gd name="csY0" fmla="*/ 130910 h 36646118"/>
              <a:gd name="csX1" fmla="*/ 3620828 w 3620828"/>
              <a:gd name="csY1" fmla="*/ 0 h 36646118"/>
              <a:gd name="csX2" fmla="*/ 3603243 w 3620828"/>
              <a:gd name="csY2" fmla="*/ 36646118 h 36646118"/>
              <a:gd name="csX3" fmla="*/ 0 w 3620828"/>
              <a:gd name="csY3" fmla="*/ 36309058 h 36646118"/>
              <a:gd name="csX4" fmla="*/ 53861 w 3620828"/>
              <a:gd name="csY4" fmla="*/ 130910 h 36646118"/>
              <a:gd name="csX0" fmla="*/ 840 w 3567807"/>
              <a:gd name="csY0" fmla="*/ 130910 h 36646118"/>
              <a:gd name="csX1" fmla="*/ 3567807 w 3567807"/>
              <a:gd name="csY1" fmla="*/ 0 h 36646118"/>
              <a:gd name="csX2" fmla="*/ 3550222 w 3567807"/>
              <a:gd name="csY2" fmla="*/ 36646118 h 36646118"/>
              <a:gd name="csX3" fmla="*/ 42459 w 3567807"/>
              <a:gd name="csY3" fmla="*/ 36419228 h 36646118"/>
              <a:gd name="csX4" fmla="*/ 840 w 3567807"/>
              <a:gd name="csY4" fmla="*/ 130910 h 36646118"/>
              <a:gd name="csX0" fmla="*/ 65 w 3567032"/>
              <a:gd name="csY0" fmla="*/ 130910 h 36646118"/>
              <a:gd name="csX1" fmla="*/ 3567032 w 3567032"/>
              <a:gd name="csY1" fmla="*/ 0 h 36646118"/>
              <a:gd name="csX2" fmla="*/ 3549447 w 3567032"/>
              <a:gd name="csY2" fmla="*/ 36646118 h 36646118"/>
              <a:gd name="csX3" fmla="*/ 805520 w 3567032"/>
              <a:gd name="csY3" fmla="*/ 36492678 h 36646118"/>
              <a:gd name="csX4" fmla="*/ 65 w 3567032"/>
              <a:gd name="csY4" fmla="*/ 130910 h 36646118"/>
              <a:gd name="csX0" fmla="*/ 9793 w 2761512"/>
              <a:gd name="csY0" fmla="*/ 20740 h 36646118"/>
              <a:gd name="csX1" fmla="*/ 2761512 w 2761512"/>
              <a:gd name="csY1" fmla="*/ 0 h 36646118"/>
              <a:gd name="csX2" fmla="*/ 2743927 w 2761512"/>
              <a:gd name="csY2" fmla="*/ 36646118 h 36646118"/>
              <a:gd name="csX3" fmla="*/ 0 w 2761512"/>
              <a:gd name="csY3" fmla="*/ 36492678 h 36646118"/>
              <a:gd name="csX4" fmla="*/ 9793 w 2761512"/>
              <a:gd name="csY4" fmla="*/ 20740 h 36646118"/>
            </a:gdLst>
            <a:ahLst/>
            <a:cxnLst>
              <a:cxn ang="0">
                <a:pos x="csX0" y="csY0"/>
              </a:cxn>
              <a:cxn ang="0">
                <a:pos x="csX1" y="csY1"/>
              </a:cxn>
              <a:cxn ang="0">
                <a:pos x="csX2" y="csY2"/>
              </a:cxn>
              <a:cxn ang="0">
                <a:pos x="csX3" y="csY3"/>
              </a:cxn>
              <a:cxn ang="0">
                <a:pos x="csX4" y="csY4"/>
              </a:cxn>
            </a:cxnLst>
            <a:rect l="l" t="t" r="r" b="b"/>
            <a:pathLst>
              <a:path w="2761512" h="36646118">
                <a:moveTo>
                  <a:pt x="9793" y="20740"/>
                </a:moveTo>
                <a:lnTo>
                  <a:pt x="2761512" y="0"/>
                </a:lnTo>
                <a:cubicBezTo>
                  <a:pt x="2755650" y="12215373"/>
                  <a:pt x="2749789" y="24430745"/>
                  <a:pt x="2743927" y="36646118"/>
                </a:cubicBezTo>
                <a:lnTo>
                  <a:pt x="0" y="36492678"/>
                </a:lnTo>
                <a:cubicBezTo>
                  <a:pt x="8467" y="25523862"/>
                  <a:pt x="1326" y="10989556"/>
                  <a:pt x="9793" y="20740"/>
                </a:cubicBezTo>
                <a:close/>
              </a:path>
            </a:pathLst>
          </a:custGeom>
          <a:solidFill>
            <a:schemeClr val="bg1"/>
          </a:solidFill>
          <a:ln w="38100">
            <a:solidFill>
              <a:schemeClr val="tx1"/>
            </a:solidFill>
          </a:ln>
        </p:spPr>
        <p:txBody>
          <a:bodyPr wrap="square" rtlCol="0">
            <a:spAutoFit/>
          </a:bodyPr>
          <a:lstStyle/>
          <a:p>
            <a:pPr algn="ctr">
              <a:lnSpc>
                <a:spcPct val="150000"/>
              </a:lnSpc>
            </a:pPr>
            <a:r>
              <a:rPr lang="en-US" sz="6000" b="1" u="sng" spc="300" dirty="0">
                <a:latin typeface="Arial" panose="020B0604020202020204" pitchFamily="34" charset="0"/>
                <a:cs typeface="Arial" panose="020B0604020202020204" pitchFamily="34" charset="0"/>
              </a:rPr>
              <a:t>METHODS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selected datasets based on those used in [1] and through literature review, choosing [3,4] and [9] because they contain a large range of primary data.</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generated descriptive statistics of the data (i.e. n species, n variables, etc.) to compare their structures and find common variables.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selected seven key LH traits commonly studied in primates and shared across all or most of our datasets.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compared these datasets using three metrics:</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The presence of values for key traits:</a:t>
            </a:r>
          </a:p>
          <a:p>
            <a:pPr marL="1371600" lvl="2"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For each database, we quantified the proportion of values equivalent to “NA” for all available key traits for each species.</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Taxonomic representation and biases:</a:t>
            </a:r>
          </a:p>
          <a:p>
            <a:pPr marL="1371600" lvl="2"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quantified the relative proportions of primate species at the family level and compared each database to examine biases in species coverage.</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Metadata accessibility and content:</a:t>
            </a:r>
          </a:p>
          <a:p>
            <a:pPr marL="1371600" lvl="2"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designed a rubric to objectively score the metadata availability, accessibility, and content of each dataset.</a:t>
            </a:r>
          </a:p>
          <a:p>
            <a:pPr marL="1371600" lvl="2"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quantified the proportion of variables described by the authors and evaluated the detail of description based on the presence of variable units, statistic type, and citation.</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Additionally, we attempted to validate the division of age of sexual maturity across species into sex classes by comparison to the dimorphism rates of body mass.</a:t>
            </a:r>
          </a:p>
        </p:txBody>
      </p:sp>
      <p:sp>
        <p:nvSpPr>
          <p:cNvPr id="2" name="TextBox 1">
            <a:extLst>
              <a:ext uri="{FF2B5EF4-FFF2-40B4-BE49-F238E27FC236}">
                <a16:creationId xmlns:a16="http://schemas.microsoft.com/office/drawing/2014/main" id="{49990ABF-3927-BA45-C861-577BCE70BBEB}"/>
              </a:ext>
            </a:extLst>
          </p:cNvPr>
          <p:cNvSpPr txBox="1">
            <a:spLocks/>
          </p:cNvSpPr>
          <p:nvPr/>
        </p:nvSpPr>
        <p:spPr>
          <a:xfrm>
            <a:off x="4892224" y="5485289"/>
            <a:ext cx="8488295" cy="20756880"/>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6000" b="1" u="sng" spc="300" dirty="0">
                <a:latin typeface="Arial" panose="020B0604020202020204" pitchFamily="34" charset="0"/>
                <a:cs typeface="Arial" panose="020B0604020202020204" pitchFamily="34" charset="0"/>
              </a:rPr>
              <a:t>INTRODUCTION</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Life history (LH) theory provides us with a lexicon of variables that characterize the timing and durations of growth and reproduction to maximize fitness. [5, 10]</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Quantifying life history traits requires abundant, high-quality, longitudinal data to observe and infer population-level rates. [5, 11]</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Life history strategies are defined by covariation [11], complicating investigations when some traits are unrecorded for a focal species.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Researchers face consistent methodological challenges in collating LH data for inter-species comparisons [1, 5, 11, 12], such as:</a:t>
            </a:r>
            <a:r>
              <a:rPr lang="en-US" sz="2800" strike="sngStrike"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 </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Access to a substantial taxonomic range</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Differences in variable definitions and units </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Discrepancies in data quality</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Choosing appropriate variables for their study</a:t>
            </a:r>
          </a:p>
        </p:txBody>
      </p:sp>
      <p:sp>
        <p:nvSpPr>
          <p:cNvPr id="3" name="TextBox 2">
            <a:extLst>
              <a:ext uri="{FF2B5EF4-FFF2-40B4-BE49-F238E27FC236}">
                <a16:creationId xmlns:a16="http://schemas.microsoft.com/office/drawing/2014/main" id="{D530FF74-573D-9BB9-2173-A600E69DB60E}"/>
              </a:ext>
            </a:extLst>
          </p:cNvPr>
          <p:cNvSpPr txBox="1"/>
          <p:nvPr/>
        </p:nvSpPr>
        <p:spPr>
          <a:xfrm>
            <a:off x="5632418" y="18023770"/>
            <a:ext cx="7007905" cy="7878503"/>
          </a:xfrm>
          <a:prstGeom prst="rect">
            <a:avLst/>
          </a:prstGeom>
          <a:noFill/>
          <a:ln>
            <a:solidFill>
              <a:schemeClr val="tx1"/>
            </a:solidFill>
          </a:ln>
        </p:spPr>
        <p:txBody>
          <a:bodyPr wrap="square" rtlCol="0">
            <a:spAutoFit/>
          </a:bodyPr>
          <a:lstStyle/>
          <a:p>
            <a:pPr algn="ctr">
              <a:lnSpc>
                <a:spcPct val="150000"/>
              </a:lnSpc>
            </a:pPr>
            <a:r>
              <a:rPr lang="en-US" sz="6000" b="1" u="sng" spc="300" dirty="0">
                <a:latin typeface="Arial" panose="020B0604020202020204" pitchFamily="34" charset="0"/>
                <a:cs typeface="Arial" panose="020B0604020202020204" pitchFamily="34" charset="0"/>
              </a:rPr>
              <a:t>OBJECTIVES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examine the primate LH characteristics of the Ernest [2], </a:t>
            </a:r>
            <a:r>
              <a:rPr lang="en-US" sz="2800" dirty="0" err="1">
                <a:latin typeface="Arial" panose="020B0604020202020204" pitchFamily="34" charset="0"/>
                <a:cs typeface="Arial" panose="020B0604020202020204" pitchFamily="34" charset="0"/>
              </a:rPr>
              <a:t>AnAge</a:t>
            </a:r>
            <a:r>
              <a:rPr lang="en-US" sz="2800" dirty="0">
                <a:latin typeface="Arial" panose="020B0604020202020204" pitchFamily="34" charset="0"/>
                <a:cs typeface="Arial" panose="020B0604020202020204" pitchFamily="34" charset="0"/>
              </a:rPr>
              <a:t> [3, 4], </a:t>
            </a:r>
            <a:r>
              <a:rPr lang="en-US" sz="2800" dirty="0" err="1">
                <a:latin typeface="Arial" panose="020B0604020202020204" pitchFamily="34" charset="0"/>
                <a:cs typeface="Arial" panose="020B0604020202020204" pitchFamily="34" charset="0"/>
              </a:rPr>
              <a:t>PanTHERIA</a:t>
            </a:r>
            <a:r>
              <a:rPr lang="en-US" sz="2800" dirty="0">
                <a:latin typeface="Arial" panose="020B0604020202020204" pitchFamily="34" charset="0"/>
                <a:cs typeface="Arial" panose="020B0604020202020204" pitchFamily="34" charset="0"/>
              </a:rPr>
              <a:t> [7],  Kappeler &amp; Pereira [8], and Amniotes [9] databases.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address consistency and usage issues for researchers who want to employ life history data</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offer recommendations for best practices when using collated primate LH data</a:t>
            </a:r>
          </a:p>
        </p:txBody>
      </p:sp>
      <p:sp>
        <p:nvSpPr>
          <p:cNvPr id="4" name="TextBox 3">
            <a:extLst>
              <a:ext uri="{FF2B5EF4-FFF2-40B4-BE49-F238E27FC236}">
                <a16:creationId xmlns:a16="http://schemas.microsoft.com/office/drawing/2014/main" id="{0620BADA-1FC1-3AFA-FD99-029D6F36C677}"/>
              </a:ext>
            </a:extLst>
          </p:cNvPr>
          <p:cNvSpPr txBox="1"/>
          <p:nvPr/>
        </p:nvSpPr>
        <p:spPr>
          <a:xfrm>
            <a:off x="13802438" y="30591639"/>
            <a:ext cx="7931966" cy="6654194"/>
          </a:xfrm>
          <a:prstGeom prst="rect">
            <a:avLst/>
          </a:prstGeom>
          <a:noFill/>
          <a:ln>
            <a:solidFill>
              <a:schemeClr val="tx1"/>
            </a:solidFill>
          </a:ln>
        </p:spPr>
        <p:txBody>
          <a:bodyPr wrap="square" rtlCol="0">
            <a:spAutoFit/>
          </a:bodyPr>
          <a:lstStyle/>
          <a:p>
            <a:pPr>
              <a:lnSpc>
                <a:spcPct val="150000"/>
              </a:lnSpc>
            </a:pPr>
            <a:r>
              <a:rPr lang="en-US" sz="4400" b="1" u="sng" dirty="0">
                <a:latin typeface="Arial" panose="020B0604020202020204" pitchFamily="34" charset="0"/>
                <a:cs typeface="Arial" panose="020B0604020202020204" pitchFamily="34" charset="0"/>
              </a:rPr>
              <a:t>&lt; Variable Definitions Table(s)&gt;</a:t>
            </a:r>
            <a:endParaRPr lang="en-US" sz="4400"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HOW TO CONVERT THIS PAGE INTO ONE READABLE TABLE?</a:t>
            </a:r>
          </a:p>
          <a:p>
            <a:pPr>
              <a:lnSpc>
                <a:spcPct val="150000"/>
              </a:lnSpc>
            </a:pPr>
            <a:r>
              <a:rPr lang="en-US" dirty="0">
                <a:latin typeface="Arial" panose="020B0604020202020204" pitchFamily="34" charset="0"/>
                <a:cs typeface="Arial" panose="020B0604020202020204" pitchFamily="34" charset="0"/>
                <a:hlinkClick r:id="rId3"/>
              </a:rPr>
              <a:t>https://bygentry.github.io/LHDB-PCA/Variable-Definitions.html</a:t>
            </a: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remove notes column</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include unit discrepancies (</a:t>
            </a:r>
            <a:r>
              <a:rPr lang="en-US" dirty="0" err="1">
                <a:latin typeface="Arial" panose="020B0604020202020204" pitchFamily="34" charset="0"/>
                <a:cs typeface="Arial" panose="020B0604020202020204" pitchFamily="34" charset="0"/>
              </a:rPr>
              <a:t>mo</a:t>
            </a:r>
            <a:r>
              <a:rPr lang="en-US" dirty="0">
                <a:latin typeface="Arial" panose="020B0604020202020204" pitchFamily="34" charset="0"/>
                <a:cs typeface="Arial" panose="020B0604020202020204" pitchFamily="34" charset="0"/>
              </a:rPr>
              <a:t> vs days, grams vs kg, etc.)  to illustrate influence of researchers personal choices and callback </a:t>
            </a:r>
            <a:r>
              <a:rPr lang="en-US" dirty="0" err="1">
                <a:latin typeface="Arial" panose="020B0604020202020204" pitchFamily="34" charset="0"/>
                <a:cs typeface="Arial" panose="020B0604020202020204" pitchFamily="34" charset="0"/>
              </a:rPr>
              <a:t>borries</a:t>
            </a:r>
            <a:r>
              <a:rPr lang="en-US" dirty="0">
                <a:latin typeface="Arial" panose="020B0604020202020204" pitchFamily="34" charset="0"/>
                <a:cs typeface="Arial" panose="020B0604020202020204" pitchFamily="34" charset="0"/>
              </a:rPr>
              <a:t> statement </a:t>
            </a:r>
          </a:p>
          <a:p>
            <a:pPr marL="742950" lvl="1"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“one would assume that researchers have long since agreed upon life history definitions and are using </a:t>
            </a:r>
            <a:r>
              <a:rPr lang="en-US" b="1" u="sng" dirty="0">
                <a:latin typeface="Arial" panose="020B0604020202020204" pitchFamily="34" charset="0"/>
                <a:cs typeface="Arial" panose="020B0604020202020204" pitchFamily="34" charset="0"/>
              </a:rPr>
              <a:t>reliable</a:t>
            </a:r>
            <a:r>
              <a:rPr lang="en-US" dirty="0">
                <a:latin typeface="Arial" panose="020B0604020202020204" pitchFamily="34" charset="0"/>
                <a:cs typeface="Arial" panose="020B0604020202020204" pitchFamily="34" charset="0"/>
              </a:rPr>
              <a:t> and </a:t>
            </a:r>
            <a:r>
              <a:rPr lang="en-US" b="1" u="sng" dirty="0">
                <a:latin typeface="Arial" panose="020B0604020202020204" pitchFamily="34" charset="0"/>
                <a:cs typeface="Arial" panose="020B0604020202020204" pitchFamily="34" charset="0"/>
              </a:rPr>
              <a:t>accurate data </a:t>
            </a:r>
            <a:r>
              <a:rPr lang="en-US" dirty="0">
                <a:latin typeface="Arial" panose="020B0604020202020204" pitchFamily="34" charset="0"/>
                <a:cs typeface="Arial" panose="020B0604020202020204" pitchFamily="34" charset="0"/>
              </a:rPr>
              <a:t>stored </a:t>
            </a:r>
            <a:r>
              <a:rPr lang="en-US" b="1" u="sng" dirty="0">
                <a:latin typeface="Arial" panose="020B0604020202020204" pitchFamily="34" charset="0"/>
                <a:cs typeface="Arial" panose="020B0604020202020204" pitchFamily="34" charset="0"/>
              </a:rPr>
              <a:t>in</a:t>
            </a:r>
            <a:r>
              <a:rPr lang="en-US" dirty="0">
                <a:latin typeface="Arial" panose="020B0604020202020204" pitchFamily="34" charset="0"/>
                <a:cs typeface="Arial" panose="020B0604020202020204" pitchFamily="34" charset="0"/>
              </a:rPr>
              <a:t> </a:t>
            </a:r>
            <a:r>
              <a:rPr lang="en-US" b="1" u="sng" dirty="0">
                <a:latin typeface="Arial" panose="020B0604020202020204" pitchFamily="34" charset="0"/>
                <a:cs typeface="Arial" panose="020B0604020202020204" pitchFamily="34" charset="0"/>
              </a:rPr>
              <a:t>standardized repositories”</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is the best way to have 7 small 5x3 tables (one for each key LH trait) with the 3 fields being source, unit, description?</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highlight that no database reports  both ASM and AFR</a:t>
            </a:r>
          </a:p>
        </p:txBody>
      </p:sp>
      <p:sp>
        <p:nvSpPr>
          <p:cNvPr id="7" name="TextBox 6">
            <a:extLst>
              <a:ext uri="{FF2B5EF4-FFF2-40B4-BE49-F238E27FC236}">
                <a16:creationId xmlns:a16="http://schemas.microsoft.com/office/drawing/2014/main" id="{44E99FFA-8C44-4A71-F567-29D2A6F969CE}"/>
              </a:ext>
            </a:extLst>
          </p:cNvPr>
          <p:cNvSpPr txBox="1"/>
          <p:nvPr/>
        </p:nvSpPr>
        <p:spPr>
          <a:xfrm>
            <a:off x="16689390" y="22118398"/>
            <a:ext cx="8272139" cy="7104317"/>
          </a:xfrm>
          <a:prstGeom prst="rect">
            <a:avLst/>
          </a:prstGeom>
          <a:noFill/>
          <a:ln>
            <a:solidFill>
              <a:schemeClr val="tx1"/>
            </a:solidFill>
          </a:ln>
        </p:spPr>
        <p:txBody>
          <a:bodyPr wrap="square" rtlCol="0">
            <a:spAutoFit/>
          </a:bodyPr>
          <a:lstStyle/>
          <a:p>
            <a:pPr algn="ctr">
              <a:lnSpc>
                <a:spcPct val="150000"/>
              </a:lnSpc>
            </a:pPr>
            <a:r>
              <a:rPr lang="en-US" sz="4400" b="1" u="sng" dirty="0">
                <a:latin typeface="Arial" panose="020B0604020202020204" pitchFamily="34" charset="0"/>
                <a:cs typeface="Arial" panose="020B0604020202020204" pitchFamily="34" charset="0"/>
              </a:rPr>
              <a:t>Table with descriptive stats for databases</a:t>
            </a:r>
            <a:endParaRPr lang="en-US" sz="4400" dirty="0">
              <a:latin typeface="Arial" panose="020B0604020202020204" pitchFamily="34" charset="0"/>
              <a:cs typeface="Arial" panose="020B0604020202020204" pitchFamily="34" charset="0"/>
            </a:endParaRPr>
          </a:p>
          <a:p>
            <a:pPr marL="571500" indent="-571500">
              <a:lnSpc>
                <a:spcPct val="150000"/>
              </a:lnSpc>
              <a:buFont typeface="Arial" panose="020B0604020202020204" pitchFamily="34" charset="0"/>
              <a:buChar char="•"/>
            </a:pPr>
            <a:r>
              <a:rPr lang="en-US" sz="4400" dirty="0">
                <a:latin typeface="Arial" panose="020B0604020202020204" pitchFamily="34" charset="0"/>
                <a:cs typeface="Arial" panose="020B0604020202020204" pitchFamily="34" charset="0"/>
              </a:rPr>
              <a:t>scores from table below</a:t>
            </a:r>
          </a:p>
          <a:p>
            <a:pPr marL="571500" indent="-571500">
              <a:lnSpc>
                <a:spcPct val="150000"/>
              </a:lnSpc>
              <a:buFont typeface="Arial" panose="020B0604020202020204" pitchFamily="34" charset="0"/>
              <a:buChar char="•"/>
            </a:pPr>
            <a:r>
              <a:rPr lang="en-US" sz="4400" dirty="0">
                <a:latin typeface="Arial" panose="020B0604020202020204" pitchFamily="34" charset="0"/>
                <a:cs typeface="Arial" panose="020B0604020202020204" pitchFamily="34" charset="0"/>
              </a:rPr>
              <a:t>n primate variables</a:t>
            </a:r>
          </a:p>
          <a:p>
            <a:pPr marL="571500" indent="-571500">
              <a:lnSpc>
                <a:spcPct val="150000"/>
              </a:lnSpc>
              <a:buFont typeface="Arial" panose="020B0604020202020204" pitchFamily="34" charset="0"/>
              <a:buChar char="•"/>
            </a:pPr>
            <a:r>
              <a:rPr lang="en-US" sz="4400" dirty="0">
                <a:latin typeface="Arial" panose="020B0604020202020204" pitchFamily="34" charset="0"/>
                <a:cs typeface="Arial" panose="020B0604020202020204" pitchFamily="34" charset="0"/>
              </a:rPr>
              <a:t>p missing values for key traits</a:t>
            </a:r>
          </a:p>
          <a:p>
            <a:pPr marL="571500" indent="-571500">
              <a:lnSpc>
                <a:spcPct val="150000"/>
              </a:lnSpc>
              <a:buFont typeface="Arial" panose="020B0604020202020204" pitchFamily="34" charset="0"/>
              <a:buChar char="•"/>
            </a:pPr>
            <a:r>
              <a:rPr lang="en-US" sz="4400" dirty="0">
                <a:latin typeface="Arial" panose="020B0604020202020204" pitchFamily="34" charset="0"/>
                <a:cs typeface="Arial" panose="020B0604020202020204" pitchFamily="34" charset="0"/>
              </a:rPr>
              <a:t>n species</a:t>
            </a:r>
          </a:p>
          <a:p>
            <a:pPr marL="571500" indent="-571500">
              <a:lnSpc>
                <a:spcPct val="150000"/>
              </a:lnSpc>
              <a:buFont typeface="Arial" panose="020B0604020202020204" pitchFamily="34" charset="0"/>
              <a:buChar char="•"/>
            </a:pPr>
            <a:r>
              <a:rPr lang="en-US" sz="4400" dirty="0">
                <a:latin typeface="Arial" panose="020B0604020202020204" pitchFamily="34" charset="0"/>
                <a:cs typeface="Arial" panose="020B0604020202020204" pitchFamily="34" charset="0"/>
              </a:rPr>
              <a:t>etc.</a:t>
            </a:r>
          </a:p>
        </p:txBody>
      </p:sp>
      <p:pic>
        <p:nvPicPr>
          <p:cNvPr id="8" name="Picture 7" descr="Unleashing the Power of the Dartmouth Student Mobile App: A Game-Changer  for Campus Life">
            <a:extLst>
              <a:ext uri="{FF2B5EF4-FFF2-40B4-BE49-F238E27FC236}">
                <a16:creationId xmlns:a16="http://schemas.microsoft.com/office/drawing/2014/main" id="{F435002B-F534-E6FF-FBC6-B602EC4F2876}"/>
              </a:ext>
            </a:extLst>
          </p:cNvPr>
          <p:cNvPicPr>
            <a:picLocks noChangeAspect="1"/>
          </p:cNvPicPr>
          <p:nvPr/>
        </p:nvPicPr>
        <p:blipFill>
          <a:blip r:embed="rId4"/>
          <a:stretch>
            <a:fillRect/>
          </a:stretch>
        </p:blipFill>
        <p:spPr>
          <a:xfrm>
            <a:off x="1165021" y="3118858"/>
            <a:ext cx="2310304" cy="1862886"/>
          </a:xfrm>
          <a:prstGeom prst="rect">
            <a:avLst/>
          </a:prstGeom>
        </p:spPr>
      </p:pic>
      <p:pic>
        <p:nvPicPr>
          <p:cNvPr id="9" name="Picture 8" descr="Boston University Logo (BU | 01) - PNG Logo Vector Brand Downloads (SVG,  EPS)">
            <a:extLst>
              <a:ext uri="{FF2B5EF4-FFF2-40B4-BE49-F238E27FC236}">
                <a16:creationId xmlns:a16="http://schemas.microsoft.com/office/drawing/2014/main" id="{66327D06-2B37-B6FF-2092-AEBD08BB5E7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821" t="5245" r="9855" b="5017"/>
          <a:stretch>
            <a:fillRect/>
          </a:stretch>
        </p:blipFill>
        <p:spPr bwMode="auto">
          <a:xfrm>
            <a:off x="1165021" y="689094"/>
            <a:ext cx="2310304" cy="161314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B30E7401-8F1B-C119-06FD-2BC3B6E95159}"/>
              </a:ext>
            </a:extLst>
          </p:cNvPr>
          <p:cNvPicPr>
            <a:picLocks noChangeAspect="1"/>
          </p:cNvPicPr>
          <p:nvPr/>
        </p:nvPicPr>
        <p:blipFill>
          <a:blip r:embed="rId6"/>
          <a:srcRect t="576" r="632" b="531"/>
          <a:stretch>
            <a:fillRect/>
          </a:stretch>
        </p:blipFill>
        <p:spPr>
          <a:xfrm>
            <a:off x="13694799" y="5485290"/>
            <a:ext cx="15343254" cy="12843927"/>
          </a:xfrm>
          <a:prstGeom prst="rect">
            <a:avLst/>
          </a:prstGeom>
          <a:ln w="38100">
            <a:solidFill>
              <a:schemeClr val="tx1"/>
            </a:solidFill>
          </a:ln>
        </p:spPr>
      </p:pic>
      <p:sp>
        <p:nvSpPr>
          <p:cNvPr id="36" name="TextBox 35">
            <a:extLst>
              <a:ext uri="{FF2B5EF4-FFF2-40B4-BE49-F238E27FC236}">
                <a16:creationId xmlns:a16="http://schemas.microsoft.com/office/drawing/2014/main" id="{B0C006A3-0555-EF52-B967-80EF11C2D561}"/>
              </a:ext>
            </a:extLst>
          </p:cNvPr>
          <p:cNvSpPr txBox="1"/>
          <p:nvPr/>
        </p:nvSpPr>
        <p:spPr>
          <a:xfrm>
            <a:off x="13694799" y="18329217"/>
            <a:ext cx="15343254" cy="1969193"/>
          </a:xfrm>
          <a:prstGeom prst="rect">
            <a:avLst/>
          </a:prstGeom>
          <a:noFill/>
          <a:ln>
            <a:noFill/>
          </a:ln>
        </p:spPr>
        <p:txBody>
          <a:bodyPr wrap="square" rtlCol="0">
            <a:spAutoFit/>
          </a:bodyPr>
          <a:lstStyle/>
          <a:p>
            <a:pPr>
              <a:lnSpc>
                <a:spcPct val="150000"/>
              </a:lnSpc>
            </a:pPr>
            <a:r>
              <a:rPr lang="en-US" sz="2800" b="1" dirty="0">
                <a:latin typeface="Arial" panose="020B0604020202020204" pitchFamily="34" charset="0"/>
                <a:cs typeface="Arial" panose="020B0604020202020204" pitchFamily="34" charset="0"/>
              </a:rPr>
              <a:t>Figure 1. </a:t>
            </a:r>
            <a:r>
              <a:rPr lang="en-US" sz="2800" dirty="0">
                <a:latin typeface="Arial" panose="020B0604020202020204" pitchFamily="34" charset="0"/>
                <a:cs typeface="Arial" panose="020B0604020202020204" pitchFamily="34" charset="0"/>
              </a:rPr>
              <a:t>Heat map of missing values for key life history traits across all five databases. Low heat (yellow) signifies few missing values while high heat (red) signifies many missing values. Grey indicates that the trait was not recorded in a particular source.</a:t>
            </a:r>
            <a:r>
              <a:rPr lang="en-US" sz="2800" b="1" dirty="0">
                <a:latin typeface="Arial" panose="020B0604020202020204" pitchFamily="34" charset="0"/>
                <a:cs typeface="Arial" panose="020B0604020202020204" pitchFamily="34" charset="0"/>
              </a:rPr>
              <a:t> </a:t>
            </a:r>
            <a:endParaRPr lang="en-US" sz="2800"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307BDAD4-9051-79C7-FD33-65CAD4462D63}"/>
              </a:ext>
            </a:extLst>
          </p:cNvPr>
          <p:cNvSpPr txBox="1"/>
          <p:nvPr/>
        </p:nvSpPr>
        <p:spPr>
          <a:xfrm>
            <a:off x="29259819" y="27976555"/>
            <a:ext cx="8488295" cy="3831818"/>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6000" b="1" u="sng" spc="300" dirty="0">
                <a:latin typeface="Arial" panose="020B0604020202020204" pitchFamily="34" charset="0"/>
                <a:cs typeface="Arial" panose="020B0604020202020204" pitchFamily="34" charset="0"/>
              </a:rPr>
              <a:t>RESULTS</a:t>
            </a:r>
          </a:p>
          <a:p>
            <a:pPr marL="685800" indent="-685800">
              <a:lnSpc>
                <a:spcPct val="150000"/>
              </a:lnSpc>
              <a:buFont typeface="Wingdings" panose="05000000000000000000" pitchFamily="2" charset="2"/>
              <a:buChar char="v"/>
            </a:pPr>
            <a:endParaRPr lang="en-US" dirty="0">
              <a:latin typeface="Arial" panose="020B0604020202020204" pitchFamily="34" charset="0"/>
              <a:cs typeface="Arial" panose="020B0604020202020204" pitchFamily="34" charset="0"/>
            </a:endParaRPr>
          </a:p>
          <a:p>
            <a:pPr marL="685800" indent="-685800">
              <a:lnSpc>
                <a:spcPct val="150000"/>
              </a:lnSpc>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pPr marL="685800" indent="-685800" algn="ctr">
              <a:lnSpc>
                <a:spcPct val="150000"/>
              </a:lnSpc>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4919C69F-CEBD-2D09-7893-35D33E032D80}"/>
              </a:ext>
            </a:extLst>
          </p:cNvPr>
          <p:cNvSpPr txBox="1"/>
          <p:nvPr/>
        </p:nvSpPr>
        <p:spPr>
          <a:xfrm>
            <a:off x="23355300" y="32718041"/>
            <a:ext cx="14392814" cy="5304016"/>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6000" b="1" u="sng" spc="300" dirty="0">
                <a:latin typeface="Arial" panose="020B0604020202020204" pitchFamily="34" charset="0"/>
                <a:cs typeface="Arial" panose="020B0604020202020204" pitchFamily="34" charset="0"/>
              </a:rPr>
              <a:t>CONCLUSIONS &amp; FUTURE RESEARCH</a:t>
            </a:r>
          </a:p>
          <a:p>
            <a:pPr>
              <a:lnSpc>
                <a:spcPct val="150000"/>
              </a:lnSpc>
            </a:pPr>
            <a:r>
              <a:rPr lang="en-US" dirty="0">
                <a:latin typeface="Arial" panose="020B0604020202020204" pitchFamily="34" charset="0"/>
                <a:cs typeface="Arial" panose="020B0604020202020204" pitchFamily="34" charset="0"/>
              </a:rPr>
              <a:t>L</a:t>
            </a:r>
          </a:p>
          <a:p>
            <a:pPr>
              <a:lnSpc>
                <a:spcPct val="150000"/>
              </a:lnSpc>
            </a:pPr>
            <a:r>
              <a:rPr lang="en-US" dirty="0">
                <a:latin typeface="Arial" panose="020B0604020202020204" pitchFamily="34" charset="0"/>
                <a:cs typeface="Arial" panose="020B0604020202020204" pitchFamily="34" charset="0"/>
              </a:rPr>
              <a:t>L</a:t>
            </a:r>
          </a:p>
          <a:p>
            <a:pPr>
              <a:lnSpc>
                <a:spcPct val="150000"/>
              </a:lnSpc>
            </a:pPr>
            <a:r>
              <a:rPr lang="en-US" dirty="0">
                <a:latin typeface="Arial" panose="020B0604020202020204" pitchFamily="34" charset="0"/>
                <a:cs typeface="Arial" panose="020B0604020202020204" pitchFamily="34" charset="0"/>
              </a:rPr>
              <a:t>L</a:t>
            </a:r>
          </a:p>
          <a:p>
            <a:pPr>
              <a:lnSpc>
                <a:spcPct val="150000"/>
              </a:lnSpc>
            </a:pPr>
            <a:r>
              <a:rPr lang="en-US" dirty="0">
                <a:latin typeface="Arial" panose="020B0604020202020204" pitchFamily="34" charset="0"/>
                <a:cs typeface="Arial" panose="020B0604020202020204" pitchFamily="34" charset="0"/>
              </a:rPr>
              <a:t>L</a:t>
            </a:r>
          </a:p>
          <a:p>
            <a:pPr>
              <a:lnSpc>
                <a:spcPct val="150000"/>
              </a:lnSpc>
            </a:pPr>
            <a:r>
              <a:rPr lang="en-US" dirty="0">
                <a:latin typeface="Arial" panose="020B0604020202020204" pitchFamily="34" charset="0"/>
                <a:cs typeface="Arial" panose="020B0604020202020204" pitchFamily="34" charset="0"/>
              </a:rPr>
              <a:t>L</a:t>
            </a:r>
          </a:p>
          <a:p>
            <a:pPr>
              <a:lnSpc>
                <a:spcPct val="150000"/>
              </a:lnSpc>
            </a:pPr>
            <a:r>
              <a:rPr lang="en-US" dirty="0">
                <a:latin typeface="Arial" panose="020B0604020202020204" pitchFamily="34" charset="0"/>
                <a:cs typeface="Arial" panose="020B0604020202020204" pitchFamily="34" charset="0"/>
              </a:rPr>
              <a:t>L</a:t>
            </a:r>
          </a:p>
        </p:txBody>
      </p:sp>
      <p:sp>
        <p:nvSpPr>
          <p:cNvPr id="40" name="TextBox 39">
            <a:extLst>
              <a:ext uri="{FF2B5EF4-FFF2-40B4-BE49-F238E27FC236}">
                <a16:creationId xmlns:a16="http://schemas.microsoft.com/office/drawing/2014/main" id="{D8C5C630-D635-5B1C-8E3B-D13CA61E00A6}"/>
              </a:ext>
            </a:extLst>
          </p:cNvPr>
          <p:cNvSpPr txBox="1"/>
          <p:nvPr/>
        </p:nvSpPr>
        <p:spPr>
          <a:xfrm>
            <a:off x="286410" y="24652261"/>
            <a:ext cx="3931921" cy="593047"/>
          </a:xfrm>
          <a:prstGeom prst="rect">
            <a:avLst/>
          </a:prstGeom>
          <a:noFill/>
          <a:ln w="38100">
            <a:solidFill>
              <a:schemeClr val="tx1"/>
            </a:solidFill>
          </a:ln>
        </p:spPr>
        <p:txBody>
          <a:bodyPr wrap="square" rtlCol="0">
            <a:spAutoFit/>
          </a:bodyPr>
          <a:lstStyle/>
          <a:p>
            <a:pPr algn="ctr">
              <a:lnSpc>
                <a:spcPct val="150000"/>
              </a:lnSpc>
            </a:pPr>
            <a:r>
              <a:rPr lang="en-US" sz="2400" b="1" u="sng" dirty="0">
                <a:latin typeface="Arial" panose="020B0604020202020204" pitchFamily="34" charset="0"/>
                <a:cs typeface="Arial" panose="020B0604020202020204" pitchFamily="34" charset="0"/>
              </a:rPr>
              <a:t>ACKNOWLEDGEMENTS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73548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6462</TotalTime>
  <Words>1132</Words>
  <Application>Microsoft Office PowerPoint</Application>
  <PresentationFormat>Custom</PresentationFormat>
  <Paragraphs>68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Gentry Miller</dc:creator>
  <cp:lastModifiedBy>Gentry Miller</cp:lastModifiedBy>
  <cp:revision>21</cp:revision>
  <dcterms:created xsi:type="dcterms:W3CDTF">2026-02-18T13:57:43Z</dcterms:created>
  <dcterms:modified xsi:type="dcterms:W3CDTF">2026-03-15T00:31:10Z</dcterms:modified>
</cp:coreProperties>
</file>